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bookmarkIdSeed="8">
  <p:sldMasterIdLst>
    <p:sldMasterId id="2147483675" r:id="rId1"/>
  </p:sldMasterIdLst>
  <p:notesMasterIdLst>
    <p:notesMasterId r:id="rId39"/>
  </p:notesMasterIdLst>
  <p:sldIdLst>
    <p:sldId id="256" r:id="rId2"/>
    <p:sldId id="257" r:id="rId3"/>
    <p:sldId id="304" r:id="rId4"/>
    <p:sldId id="258" r:id="rId5"/>
    <p:sldId id="259" r:id="rId6"/>
    <p:sldId id="268" r:id="rId7"/>
    <p:sldId id="305" r:id="rId8"/>
    <p:sldId id="306" r:id="rId9"/>
    <p:sldId id="311" r:id="rId10"/>
    <p:sldId id="307" r:id="rId11"/>
    <p:sldId id="308" r:id="rId12"/>
    <p:sldId id="312" r:id="rId13"/>
    <p:sldId id="313" r:id="rId14"/>
    <p:sldId id="314" r:id="rId15"/>
    <p:sldId id="315" r:id="rId16"/>
    <p:sldId id="316" r:id="rId17"/>
    <p:sldId id="309" r:id="rId18"/>
    <p:sldId id="317" r:id="rId19"/>
    <p:sldId id="310" r:id="rId20"/>
    <p:sldId id="318" r:id="rId21"/>
    <p:sldId id="320" r:id="rId22"/>
    <p:sldId id="334" r:id="rId23"/>
    <p:sldId id="321" r:id="rId24"/>
    <p:sldId id="335" r:id="rId25"/>
    <p:sldId id="322" r:id="rId26"/>
    <p:sldId id="336" r:id="rId27"/>
    <p:sldId id="323" r:id="rId28"/>
    <p:sldId id="324" r:id="rId29"/>
    <p:sldId id="325" r:id="rId30"/>
    <p:sldId id="326" r:id="rId31"/>
    <p:sldId id="327" r:id="rId32"/>
    <p:sldId id="328" r:id="rId33"/>
    <p:sldId id="329" r:id="rId34"/>
    <p:sldId id="330" r:id="rId35"/>
    <p:sldId id="279" r:id="rId36"/>
    <p:sldId id="262" r:id="rId37"/>
    <p:sldId id="319" r:id="rId38"/>
  </p:sldIdLst>
  <p:sldSz cx="9144000" cy="5143500" type="screen16x9"/>
  <p:notesSz cx="6858000" cy="9144000"/>
  <p:embeddedFontLst>
    <p:embeddedFont>
      <p:font typeface="Audiowide" panose="020B0604020202020204" charset="0"/>
      <p:regular r:id="rId40"/>
    </p:embeddedFont>
    <p:embeddedFont>
      <p:font typeface="Karla"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D39478E-FE93-4580-9B40-B0A813745C6C}">
  <a:tblStyle styleId="{7D39478E-FE93-4580-9B40-B0A813745C6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134" autoAdjust="0"/>
  </p:normalViewPr>
  <p:slideViewPr>
    <p:cSldViewPr snapToGrid="0">
      <p:cViewPr>
        <p:scale>
          <a:sx n="100" d="100"/>
          <a:sy n="100" d="100"/>
        </p:scale>
        <p:origin x="946" y="259"/>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121caab1d1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121caab1d1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dffe5a3af5_0_10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dffe5a3af5_0_10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a:extLst>
            <a:ext uri="{FF2B5EF4-FFF2-40B4-BE49-F238E27FC236}">
              <a16:creationId xmlns:a16="http://schemas.microsoft.com/office/drawing/2014/main" id="{DCB2C0BD-6E48-7FB9-056F-43E2FFE90CA8}"/>
            </a:ext>
          </a:extLst>
        </p:cNvPr>
        <p:cNvGrpSpPr/>
        <p:nvPr/>
      </p:nvGrpSpPr>
      <p:grpSpPr>
        <a:xfrm>
          <a:off x="0" y="0"/>
          <a:ext cx="0" cy="0"/>
          <a:chOff x="0" y="0"/>
          <a:chExt cx="0" cy="0"/>
        </a:xfrm>
      </p:grpSpPr>
      <p:sp>
        <p:nvSpPr>
          <p:cNvPr id="348" name="Google Shape;348;gddd26cc8a4_0_442:notes">
            <a:extLst>
              <a:ext uri="{FF2B5EF4-FFF2-40B4-BE49-F238E27FC236}">
                <a16:creationId xmlns:a16="http://schemas.microsoft.com/office/drawing/2014/main" id="{33E3569A-9E15-7141-B9EB-BEEF2BC842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ddd26cc8a4_0_442:notes">
            <a:extLst>
              <a:ext uri="{FF2B5EF4-FFF2-40B4-BE49-F238E27FC236}">
                <a16:creationId xmlns:a16="http://schemas.microsoft.com/office/drawing/2014/main" id="{53828EB7-69CF-AB45-525F-398BD47E43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4807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ddd26cc8a4_0_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ddd26cc8a4_0_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12420fcadb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cc9050bdf8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12DED204-0684-E028-EF7D-F810FF6F3509}"/>
            </a:ext>
          </a:extLst>
        </p:cNvPr>
        <p:cNvGrpSpPr/>
        <p:nvPr/>
      </p:nvGrpSpPr>
      <p:grpSpPr>
        <a:xfrm>
          <a:off x="0" y="0"/>
          <a:ext cx="0" cy="0"/>
          <a:chOff x="0" y="0"/>
          <a:chExt cx="0" cy="0"/>
        </a:xfrm>
      </p:grpSpPr>
      <p:sp>
        <p:nvSpPr>
          <p:cNvPr id="393" name="Google Shape;393;g12420fcadbf_0_17:notes">
            <a:extLst>
              <a:ext uri="{FF2B5EF4-FFF2-40B4-BE49-F238E27FC236}">
                <a16:creationId xmlns:a16="http://schemas.microsoft.com/office/drawing/2014/main" id="{82ACF72A-2906-DC01-FD37-D89731AD06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a:extLst>
              <a:ext uri="{FF2B5EF4-FFF2-40B4-BE49-F238E27FC236}">
                <a16:creationId xmlns:a16="http://schemas.microsoft.com/office/drawing/2014/main" id="{A23F64AE-11DA-BF5F-43EC-935F85D74F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0029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BAD5583B-D3B2-CB7E-7BB6-DF2146997E7C}"/>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BB120AC2-7652-BEBB-809B-2DE0EE07B8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7EB760D4-B799-17F3-0656-3F0CAC80DA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4266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FDA8C4DB-61A8-2ECA-514F-F57A9E4BD2EB}"/>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BDDD0254-446C-A9C1-8BE4-27E9264EF1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DF49DAD4-B814-B2BE-5EC2-76A0AEA174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6556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DBF67BFC-625D-5D63-551D-AC24E2D3460D}"/>
            </a:ext>
          </a:extLst>
        </p:cNvPr>
        <p:cNvGrpSpPr/>
        <p:nvPr/>
      </p:nvGrpSpPr>
      <p:grpSpPr>
        <a:xfrm>
          <a:off x="0" y="0"/>
          <a:ext cx="0" cy="0"/>
          <a:chOff x="0" y="0"/>
          <a:chExt cx="0" cy="0"/>
        </a:xfrm>
      </p:grpSpPr>
      <p:sp>
        <p:nvSpPr>
          <p:cNvPr id="393" name="Google Shape;393;g12420fcadbf_0_17:notes">
            <a:extLst>
              <a:ext uri="{FF2B5EF4-FFF2-40B4-BE49-F238E27FC236}">
                <a16:creationId xmlns:a16="http://schemas.microsoft.com/office/drawing/2014/main" id="{8B1519D0-F12F-275C-CC11-0390096FF6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a:extLst>
              <a:ext uri="{FF2B5EF4-FFF2-40B4-BE49-F238E27FC236}">
                <a16:creationId xmlns:a16="http://schemas.microsoft.com/office/drawing/2014/main" id="{98BB953D-724F-F30F-200D-3D64A0A91F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7583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5AEEC3A3-178B-7803-5A76-F1F289D8D1B2}"/>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BB5C38CD-9241-87B2-6717-9555BB4353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7DF26D37-CF5F-269A-BD37-382695DD81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6762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7BF05DE1-2376-AF38-8AA9-20A1CD893428}"/>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DB7DEE39-950A-2134-B41F-B7E886D974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2C5E2E27-387C-76F7-6FAE-E41D27ADB3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4602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CDB5E83D-E607-5C66-7A9C-4B9CDD95DFFA}"/>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CC533CB4-BCFD-E19C-6528-22EB6CB166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4F90565A-EC10-2988-CFA0-8BE4539040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70243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7DA758A6-E571-4368-83DC-3FAE418D6BC4}"/>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C3E51605-354D-F39A-E87D-C8B6763B6E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934A4B3B-17D9-5D70-7A7D-7ECA65ECC7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30975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941EF287-87F5-974C-79E2-21E053368EBB}"/>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5E09642C-C025-CC6A-DDEE-14BCE1C3A3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97F249F0-5AFD-B349-6177-BFC901D5E7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89248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83F9E52A-B9D3-9D34-92E1-3F9B95F9F9D1}"/>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0660C561-EB80-B226-B3D7-782A2EF248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E2A6ECC8-14B2-E492-5E81-7C4879E515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71215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6B0F5720-B2A2-E7D5-E4CA-CA403D95F25A}"/>
            </a:ext>
          </a:extLst>
        </p:cNvPr>
        <p:cNvGrpSpPr/>
        <p:nvPr/>
      </p:nvGrpSpPr>
      <p:grpSpPr>
        <a:xfrm>
          <a:off x="0" y="0"/>
          <a:ext cx="0" cy="0"/>
          <a:chOff x="0" y="0"/>
          <a:chExt cx="0" cy="0"/>
        </a:xfrm>
      </p:grpSpPr>
      <p:sp>
        <p:nvSpPr>
          <p:cNvPr id="393" name="Google Shape;393;g12420fcadbf_0_17:notes">
            <a:extLst>
              <a:ext uri="{FF2B5EF4-FFF2-40B4-BE49-F238E27FC236}">
                <a16:creationId xmlns:a16="http://schemas.microsoft.com/office/drawing/2014/main" id="{0FB6A5E6-4662-3AEC-5339-4FD4C2B21C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a:extLst>
              <a:ext uri="{FF2B5EF4-FFF2-40B4-BE49-F238E27FC236}">
                <a16:creationId xmlns:a16="http://schemas.microsoft.com/office/drawing/2014/main" id="{B0A1D5D8-CEFA-477A-AF49-423381AFC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14809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98654AFC-6022-5039-61B9-24DB6307064F}"/>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CA8EA998-2E07-9887-CAC5-C942543BD6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4873BA01-6828-F601-2DAB-1C06D5A448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48164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AD212138-7FCB-C03B-C452-C48E55CAE6C5}"/>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474389E0-B0D6-4A0B-B908-8D6B0B0D92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087EAD55-5278-0F4E-2028-643BFFF55A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13397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62008FA5-ABAB-689F-2922-26866A077422}"/>
            </a:ext>
          </a:extLst>
        </p:cNvPr>
        <p:cNvGrpSpPr/>
        <p:nvPr/>
      </p:nvGrpSpPr>
      <p:grpSpPr>
        <a:xfrm>
          <a:off x="0" y="0"/>
          <a:ext cx="0" cy="0"/>
          <a:chOff x="0" y="0"/>
          <a:chExt cx="0" cy="0"/>
        </a:xfrm>
      </p:grpSpPr>
      <p:sp>
        <p:nvSpPr>
          <p:cNvPr id="393" name="Google Shape;393;g12420fcadbf_0_17:notes">
            <a:extLst>
              <a:ext uri="{FF2B5EF4-FFF2-40B4-BE49-F238E27FC236}">
                <a16:creationId xmlns:a16="http://schemas.microsoft.com/office/drawing/2014/main" id="{8E3FC94F-BD73-BEBE-0B1A-88EAF3BB9F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a:extLst>
              <a:ext uri="{FF2B5EF4-FFF2-40B4-BE49-F238E27FC236}">
                <a16:creationId xmlns:a16="http://schemas.microsoft.com/office/drawing/2014/main" id="{D5C8CEED-93F9-3083-2C61-B31131D04D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31878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A9CA7A25-11E2-3C89-BD1D-3AA421654AEE}"/>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31167AD1-D916-6293-1AAD-EEF1CDF895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C042FEA3-6A95-7C86-77A0-88A5457FC8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72090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403FF2A2-8D73-8F59-FEEB-72E87954173A}"/>
            </a:ext>
          </a:extLst>
        </p:cNvPr>
        <p:cNvGrpSpPr/>
        <p:nvPr/>
      </p:nvGrpSpPr>
      <p:grpSpPr>
        <a:xfrm>
          <a:off x="0" y="0"/>
          <a:ext cx="0" cy="0"/>
          <a:chOff x="0" y="0"/>
          <a:chExt cx="0" cy="0"/>
        </a:xfrm>
      </p:grpSpPr>
      <p:sp>
        <p:nvSpPr>
          <p:cNvPr id="393" name="Google Shape;393;g12420fcadbf_0_17:notes">
            <a:extLst>
              <a:ext uri="{FF2B5EF4-FFF2-40B4-BE49-F238E27FC236}">
                <a16:creationId xmlns:a16="http://schemas.microsoft.com/office/drawing/2014/main" id="{A3826239-86ED-086F-82BE-388C84F165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a:extLst>
              <a:ext uri="{FF2B5EF4-FFF2-40B4-BE49-F238E27FC236}">
                <a16:creationId xmlns:a16="http://schemas.microsoft.com/office/drawing/2014/main" id="{C8072B45-89F7-2417-CF69-3F7AC255A0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17193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377F61DA-70D2-260F-3E58-034E8EA0D830}"/>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71AC812E-FF67-27E7-DBE1-B3E4941775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00EC9A5D-5D3A-D6AB-7E2B-AA078CE5AD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5121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4D5DF024-1D3D-636F-E271-C776B131AD32}"/>
            </a:ext>
          </a:extLst>
        </p:cNvPr>
        <p:cNvGrpSpPr/>
        <p:nvPr/>
      </p:nvGrpSpPr>
      <p:grpSpPr>
        <a:xfrm>
          <a:off x="0" y="0"/>
          <a:ext cx="0" cy="0"/>
          <a:chOff x="0" y="0"/>
          <a:chExt cx="0" cy="0"/>
        </a:xfrm>
      </p:grpSpPr>
      <p:sp>
        <p:nvSpPr>
          <p:cNvPr id="393" name="Google Shape;393;g12420fcadbf_0_17:notes">
            <a:extLst>
              <a:ext uri="{FF2B5EF4-FFF2-40B4-BE49-F238E27FC236}">
                <a16:creationId xmlns:a16="http://schemas.microsoft.com/office/drawing/2014/main" id="{7C4A1096-2BB8-4F51-2FF3-4ABE543F42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a:extLst>
              <a:ext uri="{FF2B5EF4-FFF2-40B4-BE49-F238E27FC236}">
                <a16:creationId xmlns:a16="http://schemas.microsoft.com/office/drawing/2014/main" id="{8B6D23B2-79AE-C1AF-DF33-C48104611D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80531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617AB129-0D7E-860E-130A-A595919AE848}"/>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7BE8A475-D298-BBCF-CD40-FC439580EE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BEDEB071-FC35-BB04-8B31-8D16E5F152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5401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569AC248-C7BA-5E78-1CD7-C86978E60F13}"/>
            </a:ext>
          </a:extLst>
        </p:cNvPr>
        <p:cNvGrpSpPr/>
        <p:nvPr/>
      </p:nvGrpSpPr>
      <p:grpSpPr>
        <a:xfrm>
          <a:off x="0" y="0"/>
          <a:ext cx="0" cy="0"/>
          <a:chOff x="0" y="0"/>
          <a:chExt cx="0" cy="0"/>
        </a:xfrm>
      </p:grpSpPr>
      <p:sp>
        <p:nvSpPr>
          <p:cNvPr id="393" name="Google Shape;393;g12420fcadbf_0_17:notes">
            <a:extLst>
              <a:ext uri="{FF2B5EF4-FFF2-40B4-BE49-F238E27FC236}">
                <a16:creationId xmlns:a16="http://schemas.microsoft.com/office/drawing/2014/main" id="{7BC5D262-D279-92A8-42EF-87E84D1B35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a:extLst>
              <a:ext uri="{FF2B5EF4-FFF2-40B4-BE49-F238E27FC236}">
                <a16:creationId xmlns:a16="http://schemas.microsoft.com/office/drawing/2014/main" id="{1B76EA30-1513-C989-86A8-6386DA1639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49358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A367F3D9-2E00-D7E8-DEF5-34C7010C537A}"/>
            </a:ext>
          </a:extLst>
        </p:cNvPr>
        <p:cNvGrpSpPr/>
        <p:nvPr/>
      </p:nvGrpSpPr>
      <p:grpSpPr>
        <a:xfrm>
          <a:off x="0" y="0"/>
          <a:ext cx="0" cy="0"/>
          <a:chOff x="0" y="0"/>
          <a:chExt cx="0" cy="0"/>
        </a:xfrm>
      </p:grpSpPr>
      <p:sp>
        <p:nvSpPr>
          <p:cNvPr id="393" name="Google Shape;393;g12420fcadbf_0_17:notes">
            <a:extLst>
              <a:ext uri="{FF2B5EF4-FFF2-40B4-BE49-F238E27FC236}">
                <a16:creationId xmlns:a16="http://schemas.microsoft.com/office/drawing/2014/main" id="{9727C08E-5DA5-DE96-90D6-0DE7BAE5AD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a:extLst>
              <a:ext uri="{FF2B5EF4-FFF2-40B4-BE49-F238E27FC236}">
                <a16:creationId xmlns:a16="http://schemas.microsoft.com/office/drawing/2014/main" id="{44F374F2-766B-FA29-1239-15A53DF363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87967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CFA3391B-33DE-1858-FD85-BB0A93CD8610}"/>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585FE8CB-EBD5-8791-ED1D-E1DFB77659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828AA3B7-17EE-BD76-7EA2-3661B6FD81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90301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A110A611-8081-1AA1-6287-59AC043D7EC2}"/>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27D2D7EB-21D0-9E53-9E60-C12EDE7B28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37B1DD92-63FD-F975-CD96-9078C8EB7D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57772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82A88FF8-BCD1-55BC-C6DC-AEE0625BF026}"/>
            </a:ext>
          </a:extLst>
        </p:cNvPr>
        <p:cNvGrpSpPr/>
        <p:nvPr/>
      </p:nvGrpSpPr>
      <p:grpSpPr>
        <a:xfrm>
          <a:off x="0" y="0"/>
          <a:ext cx="0" cy="0"/>
          <a:chOff x="0" y="0"/>
          <a:chExt cx="0" cy="0"/>
        </a:xfrm>
      </p:grpSpPr>
      <p:sp>
        <p:nvSpPr>
          <p:cNvPr id="393" name="Google Shape;393;g12420fcadbf_0_17:notes">
            <a:extLst>
              <a:ext uri="{FF2B5EF4-FFF2-40B4-BE49-F238E27FC236}">
                <a16:creationId xmlns:a16="http://schemas.microsoft.com/office/drawing/2014/main" id="{398AD467-27FD-1284-6075-48319B6357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a:extLst>
              <a:ext uri="{FF2B5EF4-FFF2-40B4-BE49-F238E27FC236}">
                <a16:creationId xmlns:a16="http://schemas.microsoft.com/office/drawing/2014/main" id="{084D8FC9-1395-63DC-A45A-A9DE4BDD5C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75026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8AF1E482-D49F-9F0B-4C24-E7271A9FC9E5}"/>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9E280456-6170-2F1C-767B-17957691E8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9DF03762-4662-5F16-6B09-9527F8B65E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16479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C6A07659-2A48-A902-BA93-C75535CC96C8}"/>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C2002C5D-A957-8DD3-4502-DB3EFBC860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5B19F0E6-8810-BB49-C0CD-B28FE5D9B1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8056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1404F06F-1373-09D5-C98D-BF79C6257F60}"/>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53CD8DBF-CBDA-7A0A-024A-8FA8C35251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5FC2A951-2447-E3B5-3B2C-C2D8308C37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61911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C46EF79D-C42D-1025-E071-8ABC7D8E64BF}"/>
            </a:ext>
          </a:extLst>
        </p:cNvPr>
        <p:cNvGrpSpPr/>
        <p:nvPr/>
      </p:nvGrpSpPr>
      <p:grpSpPr>
        <a:xfrm>
          <a:off x="0" y="0"/>
          <a:ext cx="0" cy="0"/>
          <a:chOff x="0" y="0"/>
          <a:chExt cx="0" cy="0"/>
        </a:xfrm>
      </p:grpSpPr>
      <p:sp>
        <p:nvSpPr>
          <p:cNvPr id="791" name="Google Shape;791;gcc9050bdf8_0_234:notes">
            <a:extLst>
              <a:ext uri="{FF2B5EF4-FFF2-40B4-BE49-F238E27FC236}">
                <a16:creationId xmlns:a16="http://schemas.microsoft.com/office/drawing/2014/main" id="{FA07D95F-168A-6017-B81A-D4A269BEBA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a:extLst>
              <a:ext uri="{FF2B5EF4-FFF2-40B4-BE49-F238E27FC236}">
                <a16:creationId xmlns:a16="http://schemas.microsoft.com/office/drawing/2014/main" id="{3DFB2DB7-9596-AC30-ECD9-062EA3BCBB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6572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4"/>
        <p:cNvGrpSpPr/>
        <p:nvPr/>
      </p:nvGrpSpPr>
      <p:grpSpPr>
        <a:xfrm>
          <a:off x="0" y="0"/>
          <a:ext cx="0" cy="0"/>
          <a:chOff x="0" y="0"/>
          <a:chExt cx="0" cy="0"/>
        </a:xfrm>
      </p:grpSpPr>
      <p:sp>
        <p:nvSpPr>
          <p:cNvPr id="1265" name="Google Shape;1265;gcc9050bdf8_0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6" name="Google Shape;1266;gcc9050bdf8_0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cc9050bdf8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cc9050bdf8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10" name="Google Shape;10;p2"/>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txBox="1">
            <a:spLocks noGrp="1"/>
          </p:cNvSpPr>
          <p:nvPr>
            <p:ph type="ctrTitle"/>
          </p:nvPr>
        </p:nvSpPr>
        <p:spPr>
          <a:xfrm>
            <a:off x="1625850" y="1317528"/>
            <a:ext cx="5892300" cy="2358300"/>
          </a:xfrm>
          <a:prstGeom prst="rect">
            <a:avLst/>
          </a:prstGeom>
          <a:noFill/>
        </p:spPr>
        <p:txBody>
          <a:bodyPr spcFirstLastPara="1" wrap="square" lIns="91425" tIns="91425" rIns="91425" bIns="91425" anchor="ctr" anchorCtr="0">
            <a:noAutofit/>
          </a:bodyPr>
          <a:lstStyle>
            <a:lvl1pPr lvl="0" algn="ctr">
              <a:lnSpc>
                <a:spcPct val="90000"/>
              </a:lnSpc>
              <a:spcBef>
                <a:spcPts val="0"/>
              </a:spcBef>
              <a:spcAft>
                <a:spcPts val="0"/>
              </a:spcAft>
              <a:buSzPts val="5200"/>
              <a:buNone/>
              <a:defRPr sz="4500">
                <a:latin typeface="Audiowide"/>
                <a:ea typeface="Audiowide"/>
                <a:cs typeface="Audiowide"/>
                <a:sym typeface="Audiowid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4" name="Google Shape;14;p2"/>
          <p:cNvSpPr txBox="1">
            <a:spLocks noGrp="1"/>
          </p:cNvSpPr>
          <p:nvPr>
            <p:ph type="subTitle" idx="1"/>
          </p:nvPr>
        </p:nvSpPr>
        <p:spPr>
          <a:xfrm>
            <a:off x="1625850" y="3778500"/>
            <a:ext cx="5892300" cy="473700"/>
          </a:xfrm>
          <a:prstGeom prst="rect">
            <a:avLst/>
          </a:prstGeom>
          <a:noFill/>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15" name="Google Shape;15;p2"/>
          <p:cNvPicPr preferRelativeResize="0"/>
          <p:nvPr/>
        </p:nvPicPr>
        <p:blipFill>
          <a:blip r:embed="rId3">
            <a:alphaModFix amt="75000"/>
          </a:blip>
          <a:stretch>
            <a:fillRect/>
          </a:stretch>
        </p:blipFill>
        <p:spPr>
          <a:xfrm>
            <a:off x="-1011050" y="-447675"/>
            <a:ext cx="5892301" cy="3648150"/>
          </a:xfrm>
          <a:prstGeom prst="rect">
            <a:avLst/>
          </a:prstGeom>
          <a:noFill/>
          <a:ln>
            <a:noFill/>
          </a:ln>
        </p:spPr>
      </p:pic>
      <p:pic>
        <p:nvPicPr>
          <p:cNvPr id="16" name="Google Shape;16;p2"/>
          <p:cNvPicPr preferRelativeResize="0"/>
          <p:nvPr/>
        </p:nvPicPr>
        <p:blipFill>
          <a:blip r:embed="rId3">
            <a:alphaModFix amt="75000"/>
          </a:blip>
          <a:stretch>
            <a:fillRect/>
          </a:stretch>
        </p:blipFill>
        <p:spPr>
          <a:xfrm rot="10800000">
            <a:off x="4261050" y="1962150"/>
            <a:ext cx="5892301" cy="36481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19" name="Google Shape;19;p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txBox="1">
            <a:spLocks noGrp="1"/>
          </p:cNvSpPr>
          <p:nvPr>
            <p:ph type="title"/>
          </p:nvPr>
        </p:nvSpPr>
        <p:spPr>
          <a:xfrm>
            <a:off x="4491888" y="1682463"/>
            <a:ext cx="3312300" cy="11130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700">
                <a:solidFill>
                  <a:schemeClr val="accent1"/>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23" name="Google Shape;23;p3"/>
          <p:cNvSpPr txBox="1">
            <a:spLocks noGrp="1"/>
          </p:cNvSpPr>
          <p:nvPr>
            <p:ph type="subTitle" idx="1"/>
          </p:nvPr>
        </p:nvSpPr>
        <p:spPr>
          <a:xfrm>
            <a:off x="4491888" y="2851113"/>
            <a:ext cx="3312300" cy="60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400"/>
              <a:buNone/>
              <a:defRPr sz="1600">
                <a:solidFill>
                  <a:schemeClr val="lt1"/>
                </a:solidFill>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
        <p:nvSpPr>
          <p:cNvPr id="24" name="Google Shape;24;p3"/>
          <p:cNvSpPr txBox="1">
            <a:spLocks noGrp="1"/>
          </p:cNvSpPr>
          <p:nvPr>
            <p:ph type="title" idx="2" hasCustomPrompt="1"/>
          </p:nvPr>
        </p:nvSpPr>
        <p:spPr>
          <a:xfrm>
            <a:off x="1931113" y="1872250"/>
            <a:ext cx="1728900" cy="1188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6000"/>
              <a:buNone/>
              <a:defRPr sz="82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pic>
        <p:nvPicPr>
          <p:cNvPr id="25" name="Google Shape;25;p3"/>
          <p:cNvPicPr preferRelativeResize="0"/>
          <p:nvPr/>
        </p:nvPicPr>
        <p:blipFill>
          <a:blip r:embed="rId3">
            <a:alphaModFix amt="75000"/>
          </a:blip>
          <a:stretch>
            <a:fillRect/>
          </a:stretch>
        </p:blipFill>
        <p:spPr>
          <a:xfrm>
            <a:off x="-1015800" y="-419100"/>
            <a:ext cx="6190054" cy="3832501"/>
          </a:xfrm>
          <a:prstGeom prst="rect">
            <a:avLst/>
          </a:prstGeom>
          <a:noFill/>
          <a:ln>
            <a:noFill/>
          </a:ln>
        </p:spPr>
      </p:pic>
      <p:pic>
        <p:nvPicPr>
          <p:cNvPr id="26" name="Google Shape;26;p3"/>
          <p:cNvPicPr preferRelativeResize="0"/>
          <p:nvPr/>
        </p:nvPicPr>
        <p:blipFill>
          <a:blip r:embed="rId3">
            <a:alphaModFix amt="75000"/>
          </a:blip>
          <a:stretch>
            <a:fillRect/>
          </a:stretch>
        </p:blipFill>
        <p:spPr>
          <a:xfrm rot="10800000">
            <a:off x="4352926" y="1967775"/>
            <a:ext cx="5790899" cy="35853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
        <p:cNvGrpSpPr/>
        <p:nvPr/>
      </p:nvGrpSpPr>
      <p:grpSpPr>
        <a:xfrm>
          <a:off x="0" y="0"/>
          <a:ext cx="0" cy="0"/>
          <a:chOff x="0" y="0"/>
          <a:chExt cx="0" cy="0"/>
        </a:xfrm>
      </p:grpSpPr>
      <p:pic>
        <p:nvPicPr>
          <p:cNvPr id="28" name="Google Shape;28;p4"/>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29" name="Google Shape;29;p4"/>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txBox="1">
            <a:spLocks noGrp="1"/>
          </p:cNvSpPr>
          <p:nvPr>
            <p:ph type="body" idx="1"/>
          </p:nvPr>
        </p:nvSpPr>
        <p:spPr>
          <a:xfrm>
            <a:off x="720000" y="1168463"/>
            <a:ext cx="7704000" cy="5727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AutoNum type="arabicPeriod"/>
              <a:defRPr sz="1200"/>
            </a:lvl1pPr>
            <a:lvl2pPr marL="914400" lvl="1" indent="-317500">
              <a:spcBef>
                <a:spcPts val="0"/>
              </a:spcBef>
              <a:spcAft>
                <a:spcPts val="0"/>
              </a:spcAft>
              <a:buSzPts val="1400"/>
              <a:buAutoNum type="alphaLcPeriod"/>
              <a:defRPr/>
            </a:lvl2pPr>
            <a:lvl3pPr marL="1371600" lvl="2" indent="-317500">
              <a:spcBef>
                <a:spcPts val="0"/>
              </a:spcBef>
              <a:spcAft>
                <a:spcPts val="0"/>
              </a:spcAft>
              <a:buSzPts val="1400"/>
              <a:buAutoNum type="romanLcPeriod"/>
              <a:defRPr/>
            </a:lvl3pPr>
            <a:lvl4pPr marL="1828800" lvl="3" indent="-317500">
              <a:spcBef>
                <a:spcPts val="0"/>
              </a:spcBef>
              <a:spcAft>
                <a:spcPts val="0"/>
              </a:spcAft>
              <a:buSzPts val="1400"/>
              <a:buAutoNum type="arabicPeriod"/>
              <a:defRPr/>
            </a:lvl4pPr>
            <a:lvl5pPr marL="2286000" lvl="4" indent="-317500">
              <a:spcBef>
                <a:spcPts val="0"/>
              </a:spcBef>
              <a:spcAft>
                <a:spcPts val="0"/>
              </a:spcAft>
              <a:buSzPts val="1400"/>
              <a:buAutoNum type="alphaLcPeriod"/>
              <a:defRPr/>
            </a:lvl5pPr>
            <a:lvl6pPr marL="2743200" lvl="5" indent="-317500">
              <a:spcBef>
                <a:spcPts val="0"/>
              </a:spcBef>
              <a:spcAft>
                <a:spcPts val="0"/>
              </a:spcAft>
              <a:buSzPts val="1400"/>
              <a:buAutoNum type="romanLcPeriod"/>
              <a:defRPr/>
            </a:lvl6pPr>
            <a:lvl7pPr marL="3200400" lvl="6" indent="-317500">
              <a:spcBef>
                <a:spcPts val="0"/>
              </a:spcBef>
              <a:spcAft>
                <a:spcPts val="0"/>
              </a:spcAft>
              <a:buSzPts val="1400"/>
              <a:buAutoNum type="arabicPeriod"/>
              <a:defRPr/>
            </a:lvl7pPr>
            <a:lvl8pPr marL="3657600" lvl="7" indent="-317500">
              <a:spcBef>
                <a:spcPts val="0"/>
              </a:spcBef>
              <a:spcAft>
                <a:spcPts val="0"/>
              </a:spcAft>
              <a:buSzPts val="1400"/>
              <a:buAutoNum type="alphaLcPeriod"/>
              <a:defRPr/>
            </a:lvl8pPr>
            <a:lvl9pPr marL="4114800" lvl="8" indent="-317500">
              <a:spcBef>
                <a:spcPts val="0"/>
              </a:spcBef>
              <a:spcAft>
                <a:spcPts val="0"/>
              </a:spcAft>
              <a:buSzPts val="1400"/>
              <a:buAutoNum type="romanLcPeriod"/>
              <a:defRPr/>
            </a:lvl9pPr>
          </a:lstStyle>
          <a:p>
            <a:endParaRPr/>
          </a:p>
        </p:txBody>
      </p:sp>
      <p:pic>
        <p:nvPicPr>
          <p:cNvPr id="33" name="Google Shape;33;p4"/>
          <p:cNvPicPr preferRelativeResize="0"/>
          <p:nvPr/>
        </p:nvPicPr>
        <p:blipFill>
          <a:blip r:embed="rId3">
            <a:alphaModFix amt="75000"/>
          </a:blip>
          <a:stretch>
            <a:fillRect/>
          </a:stretch>
        </p:blipFill>
        <p:spPr>
          <a:xfrm>
            <a:off x="-825300" y="-371475"/>
            <a:ext cx="4857272" cy="3007325"/>
          </a:xfrm>
          <a:prstGeom prst="rect">
            <a:avLst/>
          </a:prstGeom>
          <a:noFill/>
          <a:ln>
            <a:noFill/>
          </a:ln>
        </p:spPr>
      </p:pic>
      <p:pic>
        <p:nvPicPr>
          <p:cNvPr id="34" name="Google Shape;34;p4"/>
          <p:cNvPicPr preferRelativeResize="0"/>
          <p:nvPr/>
        </p:nvPicPr>
        <p:blipFill>
          <a:blip r:embed="rId3">
            <a:alphaModFix amt="75000"/>
          </a:blip>
          <a:stretch>
            <a:fillRect/>
          </a:stretch>
        </p:blipFill>
        <p:spPr>
          <a:xfrm rot="10800000">
            <a:off x="5048253" y="2398274"/>
            <a:ext cx="5095572" cy="3154876"/>
          </a:xfrm>
          <a:prstGeom prst="rect">
            <a:avLst/>
          </a:prstGeom>
          <a:noFill/>
          <a:ln>
            <a:noFill/>
          </a:ln>
        </p:spPr>
      </p:pic>
      <p:sp>
        <p:nvSpPr>
          <p:cNvPr id="35" name="Google Shape;35;p4"/>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_11">
    <p:spTree>
      <p:nvGrpSpPr>
        <p:cNvPr id="1" name="Shape 96"/>
        <p:cNvGrpSpPr/>
        <p:nvPr/>
      </p:nvGrpSpPr>
      <p:grpSpPr>
        <a:xfrm>
          <a:off x="0" y="0"/>
          <a:ext cx="0" cy="0"/>
          <a:chOff x="0" y="0"/>
          <a:chExt cx="0" cy="0"/>
        </a:xfrm>
      </p:grpSpPr>
      <p:pic>
        <p:nvPicPr>
          <p:cNvPr id="97" name="Google Shape;97;p13"/>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98" name="Google Shape;98;p1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3"/>
          <p:cNvSpPr txBox="1">
            <a:spLocks noGrp="1"/>
          </p:cNvSpPr>
          <p:nvPr>
            <p:ph type="title"/>
          </p:nvPr>
        </p:nvSpPr>
        <p:spPr>
          <a:xfrm>
            <a:off x="713224" y="1835250"/>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2" name="Google Shape;102;p13"/>
          <p:cNvSpPr txBox="1">
            <a:spLocks noGrp="1"/>
          </p:cNvSpPr>
          <p:nvPr>
            <p:ph type="subTitle" idx="1"/>
          </p:nvPr>
        </p:nvSpPr>
        <p:spPr>
          <a:xfrm>
            <a:off x="713224"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 name="Google Shape;103;p13"/>
          <p:cNvSpPr txBox="1">
            <a:spLocks noGrp="1"/>
          </p:cNvSpPr>
          <p:nvPr>
            <p:ph type="title" idx="2"/>
          </p:nvPr>
        </p:nvSpPr>
        <p:spPr>
          <a:xfrm>
            <a:off x="713224" y="3680488"/>
            <a:ext cx="2305500" cy="527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4" name="Google Shape;104;p13"/>
          <p:cNvSpPr txBox="1">
            <a:spLocks noGrp="1"/>
          </p:cNvSpPr>
          <p:nvPr>
            <p:ph type="subTitle" idx="3"/>
          </p:nvPr>
        </p:nvSpPr>
        <p:spPr>
          <a:xfrm>
            <a:off x="713224" y="4114613"/>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 name="Google Shape;105;p13"/>
          <p:cNvSpPr txBox="1">
            <a:spLocks noGrp="1"/>
          </p:cNvSpPr>
          <p:nvPr>
            <p:ph type="title" idx="4"/>
          </p:nvPr>
        </p:nvSpPr>
        <p:spPr>
          <a:xfrm>
            <a:off x="3419251" y="3680488"/>
            <a:ext cx="2305500" cy="527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6" name="Google Shape;106;p13"/>
          <p:cNvSpPr txBox="1">
            <a:spLocks noGrp="1"/>
          </p:cNvSpPr>
          <p:nvPr>
            <p:ph type="subTitle" idx="5"/>
          </p:nvPr>
        </p:nvSpPr>
        <p:spPr>
          <a:xfrm>
            <a:off x="3419251" y="4114613"/>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 name="Google Shape;107;p13"/>
          <p:cNvSpPr txBox="1">
            <a:spLocks noGrp="1"/>
          </p:cNvSpPr>
          <p:nvPr>
            <p:ph type="title" idx="6"/>
          </p:nvPr>
        </p:nvSpPr>
        <p:spPr>
          <a:xfrm>
            <a:off x="3419251" y="1835250"/>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8" name="Google Shape;108;p13"/>
          <p:cNvSpPr txBox="1">
            <a:spLocks noGrp="1"/>
          </p:cNvSpPr>
          <p:nvPr>
            <p:ph type="subTitle" idx="7"/>
          </p:nvPr>
        </p:nvSpPr>
        <p:spPr>
          <a:xfrm>
            <a:off x="3419251"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9" name="Google Shape;109;p13"/>
          <p:cNvSpPr txBox="1">
            <a:spLocks noGrp="1"/>
          </p:cNvSpPr>
          <p:nvPr>
            <p:ph type="title" idx="8" hasCustomPrompt="1"/>
          </p:nvPr>
        </p:nvSpPr>
        <p:spPr>
          <a:xfrm>
            <a:off x="1415374" y="134477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a:spLocks noGrp="1"/>
          </p:cNvSpPr>
          <p:nvPr>
            <p:ph type="title" idx="9" hasCustomPrompt="1"/>
          </p:nvPr>
        </p:nvSpPr>
        <p:spPr>
          <a:xfrm>
            <a:off x="4121401" y="319002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title" idx="13" hasCustomPrompt="1"/>
          </p:nvPr>
        </p:nvSpPr>
        <p:spPr>
          <a:xfrm>
            <a:off x="1415374" y="319002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 name="Google Shape;112;p13"/>
          <p:cNvSpPr txBox="1">
            <a:spLocks noGrp="1"/>
          </p:cNvSpPr>
          <p:nvPr>
            <p:ph type="title" idx="14" hasCustomPrompt="1"/>
          </p:nvPr>
        </p:nvSpPr>
        <p:spPr>
          <a:xfrm>
            <a:off x="4121401" y="134477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title" idx="15"/>
          </p:nvPr>
        </p:nvSpPr>
        <p:spPr>
          <a:xfrm>
            <a:off x="6125276" y="3680488"/>
            <a:ext cx="2305500" cy="527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4" name="Google Shape;114;p13"/>
          <p:cNvSpPr txBox="1">
            <a:spLocks noGrp="1"/>
          </p:cNvSpPr>
          <p:nvPr>
            <p:ph type="subTitle" idx="16"/>
          </p:nvPr>
        </p:nvSpPr>
        <p:spPr>
          <a:xfrm>
            <a:off x="6125276" y="4114613"/>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5" name="Google Shape;115;p13"/>
          <p:cNvSpPr txBox="1">
            <a:spLocks noGrp="1"/>
          </p:cNvSpPr>
          <p:nvPr>
            <p:ph type="title" idx="17"/>
          </p:nvPr>
        </p:nvSpPr>
        <p:spPr>
          <a:xfrm>
            <a:off x="6125276" y="1835250"/>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6" name="Google Shape;116;p13"/>
          <p:cNvSpPr txBox="1">
            <a:spLocks noGrp="1"/>
          </p:cNvSpPr>
          <p:nvPr>
            <p:ph type="subTitle" idx="18"/>
          </p:nvPr>
        </p:nvSpPr>
        <p:spPr>
          <a:xfrm>
            <a:off x="6125276"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 name="Google Shape;117;p13"/>
          <p:cNvSpPr txBox="1">
            <a:spLocks noGrp="1"/>
          </p:cNvSpPr>
          <p:nvPr>
            <p:ph type="title" idx="19" hasCustomPrompt="1"/>
          </p:nvPr>
        </p:nvSpPr>
        <p:spPr>
          <a:xfrm>
            <a:off x="6827426" y="319002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8" name="Google Shape;118;p13"/>
          <p:cNvSpPr txBox="1">
            <a:spLocks noGrp="1"/>
          </p:cNvSpPr>
          <p:nvPr>
            <p:ph type="title" idx="20" hasCustomPrompt="1"/>
          </p:nvPr>
        </p:nvSpPr>
        <p:spPr>
          <a:xfrm>
            <a:off x="6827426" y="134477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pic>
        <p:nvPicPr>
          <p:cNvPr id="119" name="Google Shape;119;p13"/>
          <p:cNvPicPr preferRelativeResize="0"/>
          <p:nvPr/>
        </p:nvPicPr>
        <p:blipFill>
          <a:blip r:embed="rId3">
            <a:alphaModFix amt="75000"/>
          </a:blip>
          <a:stretch>
            <a:fillRect/>
          </a:stretch>
        </p:blipFill>
        <p:spPr>
          <a:xfrm rot="-5400000">
            <a:off x="-1377750" y="2269750"/>
            <a:ext cx="4857272" cy="3007325"/>
          </a:xfrm>
          <a:prstGeom prst="rect">
            <a:avLst/>
          </a:prstGeom>
          <a:noFill/>
          <a:ln>
            <a:noFill/>
          </a:ln>
        </p:spPr>
      </p:pic>
      <p:pic>
        <p:nvPicPr>
          <p:cNvPr id="120" name="Google Shape;120;p13"/>
          <p:cNvPicPr preferRelativeResize="0"/>
          <p:nvPr/>
        </p:nvPicPr>
        <p:blipFill>
          <a:blip r:embed="rId3">
            <a:alphaModFix amt="75000"/>
          </a:blip>
          <a:stretch>
            <a:fillRect/>
          </a:stretch>
        </p:blipFill>
        <p:spPr>
          <a:xfrm rot="5400000">
            <a:off x="5366340" y="82974"/>
            <a:ext cx="5095572" cy="3154876"/>
          </a:xfrm>
          <a:prstGeom prst="rect">
            <a:avLst/>
          </a:prstGeom>
          <a:noFill/>
          <a:ln>
            <a:noFill/>
          </a:ln>
        </p:spPr>
      </p:pic>
      <p:sp>
        <p:nvSpPr>
          <p:cNvPr id="121" name="Google Shape;121;p13"/>
          <p:cNvSpPr txBox="1">
            <a:spLocks noGrp="1"/>
          </p:cNvSpPr>
          <p:nvPr>
            <p:ph type="title" idx="21"/>
          </p:nvPr>
        </p:nvSpPr>
        <p:spPr>
          <a:xfrm>
            <a:off x="718150" y="540000"/>
            <a:ext cx="7705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122"/>
        <p:cNvGrpSpPr/>
        <p:nvPr/>
      </p:nvGrpSpPr>
      <p:grpSpPr>
        <a:xfrm>
          <a:off x="0" y="0"/>
          <a:ext cx="0" cy="0"/>
          <a:chOff x="0" y="0"/>
          <a:chExt cx="0" cy="0"/>
        </a:xfrm>
      </p:grpSpPr>
      <p:pic>
        <p:nvPicPr>
          <p:cNvPr id="123" name="Google Shape;123;p14"/>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124" name="Google Shape;124;p14"/>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4"/>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4"/>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4"/>
          <p:cNvSpPr txBox="1">
            <a:spLocks noGrp="1"/>
          </p:cNvSpPr>
          <p:nvPr>
            <p:ph type="title"/>
          </p:nvPr>
        </p:nvSpPr>
        <p:spPr>
          <a:xfrm>
            <a:off x="1486024" y="3068248"/>
            <a:ext cx="6172200" cy="446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500"/>
              <a:buNone/>
              <a:defRPr sz="2200">
                <a:solidFill>
                  <a:schemeClr val="accent1"/>
                </a:solidFill>
              </a:defRPr>
            </a:lvl1pPr>
            <a:lvl2pPr lvl="1" algn="ctr" rtl="0">
              <a:spcBef>
                <a:spcPts val="0"/>
              </a:spcBef>
              <a:spcAft>
                <a:spcPts val="0"/>
              </a:spcAft>
              <a:buClr>
                <a:schemeClr val="lt1"/>
              </a:buClr>
              <a:buSzPts val="3000"/>
              <a:buNone/>
              <a:defRPr sz="3000">
                <a:solidFill>
                  <a:schemeClr val="lt1"/>
                </a:solidFill>
              </a:defRPr>
            </a:lvl2pPr>
            <a:lvl3pPr lvl="2" algn="ctr" rtl="0">
              <a:spcBef>
                <a:spcPts val="0"/>
              </a:spcBef>
              <a:spcAft>
                <a:spcPts val="0"/>
              </a:spcAft>
              <a:buClr>
                <a:schemeClr val="lt1"/>
              </a:buClr>
              <a:buSzPts val="3000"/>
              <a:buNone/>
              <a:defRPr sz="3000">
                <a:solidFill>
                  <a:schemeClr val="lt1"/>
                </a:solidFill>
              </a:defRPr>
            </a:lvl3pPr>
            <a:lvl4pPr lvl="3" algn="ctr" rtl="0">
              <a:spcBef>
                <a:spcPts val="0"/>
              </a:spcBef>
              <a:spcAft>
                <a:spcPts val="0"/>
              </a:spcAft>
              <a:buClr>
                <a:schemeClr val="lt1"/>
              </a:buClr>
              <a:buSzPts val="3000"/>
              <a:buNone/>
              <a:defRPr sz="3000">
                <a:solidFill>
                  <a:schemeClr val="lt1"/>
                </a:solidFill>
              </a:defRPr>
            </a:lvl4pPr>
            <a:lvl5pPr lvl="4" algn="ctr" rtl="0">
              <a:spcBef>
                <a:spcPts val="0"/>
              </a:spcBef>
              <a:spcAft>
                <a:spcPts val="0"/>
              </a:spcAft>
              <a:buClr>
                <a:schemeClr val="lt1"/>
              </a:buClr>
              <a:buSzPts val="3000"/>
              <a:buNone/>
              <a:defRPr sz="3000">
                <a:solidFill>
                  <a:schemeClr val="lt1"/>
                </a:solidFill>
              </a:defRPr>
            </a:lvl5pPr>
            <a:lvl6pPr lvl="5" algn="ctr" rtl="0">
              <a:spcBef>
                <a:spcPts val="0"/>
              </a:spcBef>
              <a:spcAft>
                <a:spcPts val="0"/>
              </a:spcAft>
              <a:buClr>
                <a:schemeClr val="lt1"/>
              </a:buClr>
              <a:buSzPts val="3000"/>
              <a:buNone/>
              <a:defRPr sz="3000">
                <a:solidFill>
                  <a:schemeClr val="lt1"/>
                </a:solidFill>
              </a:defRPr>
            </a:lvl6pPr>
            <a:lvl7pPr lvl="6" algn="ctr" rtl="0">
              <a:spcBef>
                <a:spcPts val="0"/>
              </a:spcBef>
              <a:spcAft>
                <a:spcPts val="0"/>
              </a:spcAft>
              <a:buClr>
                <a:schemeClr val="lt1"/>
              </a:buClr>
              <a:buSzPts val="3000"/>
              <a:buNone/>
              <a:defRPr sz="3000">
                <a:solidFill>
                  <a:schemeClr val="lt1"/>
                </a:solidFill>
              </a:defRPr>
            </a:lvl7pPr>
            <a:lvl8pPr lvl="7" algn="ctr" rtl="0">
              <a:spcBef>
                <a:spcPts val="0"/>
              </a:spcBef>
              <a:spcAft>
                <a:spcPts val="0"/>
              </a:spcAft>
              <a:buClr>
                <a:schemeClr val="lt1"/>
              </a:buClr>
              <a:buSzPts val="3000"/>
              <a:buNone/>
              <a:defRPr sz="3000">
                <a:solidFill>
                  <a:schemeClr val="lt1"/>
                </a:solidFill>
              </a:defRPr>
            </a:lvl8pPr>
            <a:lvl9pPr lvl="8" algn="ctr" rtl="0">
              <a:spcBef>
                <a:spcPts val="0"/>
              </a:spcBef>
              <a:spcAft>
                <a:spcPts val="0"/>
              </a:spcAft>
              <a:buClr>
                <a:schemeClr val="lt1"/>
              </a:buClr>
              <a:buSzPts val="3000"/>
              <a:buNone/>
              <a:defRPr sz="3000">
                <a:solidFill>
                  <a:schemeClr val="lt1"/>
                </a:solidFill>
              </a:defRPr>
            </a:lvl9pPr>
          </a:lstStyle>
          <a:p>
            <a:endParaRPr/>
          </a:p>
        </p:txBody>
      </p:sp>
      <p:sp>
        <p:nvSpPr>
          <p:cNvPr id="128" name="Google Shape;128;p14"/>
          <p:cNvSpPr txBox="1">
            <a:spLocks noGrp="1"/>
          </p:cNvSpPr>
          <p:nvPr>
            <p:ph type="subTitle" idx="1"/>
          </p:nvPr>
        </p:nvSpPr>
        <p:spPr>
          <a:xfrm>
            <a:off x="1485800" y="1628863"/>
            <a:ext cx="6172200" cy="1498200"/>
          </a:xfrm>
          <a:prstGeom prst="rect">
            <a:avLst/>
          </a:prstGeom>
          <a:noFill/>
        </p:spPr>
        <p:txBody>
          <a:bodyPr spcFirstLastPara="1" wrap="square" lIns="91425" tIns="91425" rIns="91425" bIns="91425" anchor="b" anchorCtr="0">
            <a:noAutofit/>
          </a:bodyPr>
          <a:lstStyle>
            <a:lvl1pPr lvl="0" algn="r" rtl="0">
              <a:lnSpc>
                <a:spcPct val="100000"/>
              </a:lnSpc>
              <a:spcBef>
                <a:spcPts val="0"/>
              </a:spcBef>
              <a:spcAft>
                <a:spcPts val="0"/>
              </a:spcAft>
              <a:buClr>
                <a:schemeClr val="lt1"/>
              </a:buClr>
              <a:buSzPts val="2500"/>
              <a:buNone/>
              <a:defRPr sz="2600">
                <a:solidFill>
                  <a:schemeClr val="lt1"/>
                </a:solidFill>
              </a:defRPr>
            </a:lvl1pPr>
            <a:lvl2pPr lvl="1" algn="ctr" rtl="0">
              <a:lnSpc>
                <a:spcPct val="100000"/>
              </a:lnSpc>
              <a:spcBef>
                <a:spcPts val="0"/>
              </a:spcBef>
              <a:spcAft>
                <a:spcPts val="0"/>
              </a:spcAft>
              <a:buClr>
                <a:schemeClr val="lt1"/>
              </a:buClr>
              <a:buSzPts val="2500"/>
              <a:buNone/>
              <a:defRPr sz="2500">
                <a:solidFill>
                  <a:schemeClr val="lt1"/>
                </a:solidFill>
              </a:defRPr>
            </a:lvl2pPr>
            <a:lvl3pPr lvl="2" algn="ctr" rtl="0">
              <a:lnSpc>
                <a:spcPct val="100000"/>
              </a:lnSpc>
              <a:spcBef>
                <a:spcPts val="0"/>
              </a:spcBef>
              <a:spcAft>
                <a:spcPts val="0"/>
              </a:spcAft>
              <a:buClr>
                <a:schemeClr val="lt1"/>
              </a:buClr>
              <a:buSzPts val="2500"/>
              <a:buNone/>
              <a:defRPr sz="2500">
                <a:solidFill>
                  <a:schemeClr val="lt1"/>
                </a:solidFill>
              </a:defRPr>
            </a:lvl3pPr>
            <a:lvl4pPr lvl="3" algn="ctr" rtl="0">
              <a:lnSpc>
                <a:spcPct val="100000"/>
              </a:lnSpc>
              <a:spcBef>
                <a:spcPts val="0"/>
              </a:spcBef>
              <a:spcAft>
                <a:spcPts val="0"/>
              </a:spcAft>
              <a:buClr>
                <a:schemeClr val="lt1"/>
              </a:buClr>
              <a:buSzPts val="2500"/>
              <a:buNone/>
              <a:defRPr sz="2500">
                <a:solidFill>
                  <a:schemeClr val="lt1"/>
                </a:solidFill>
              </a:defRPr>
            </a:lvl4pPr>
            <a:lvl5pPr lvl="4" algn="ctr" rtl="0">
              <a:lnSpc>
                <a:spcPct val="100000"/>
              </a:lnSpc>
              <a:spcBef>
                <a:spcPts val="0"/>
              </a:spcBef>
              <a:spcAft>
                <a:spcPts val="0"/>
              </a:spcAft>
              <a:buClr>
                <a:schemeClr val="lt1"/>
              </a:buClr>
              <a:buSzPts val="2500"/>
              <a:buNone/>
              <a:defRPr sz="2500">
                <a:solidFill>
                  <a:schemeClr val="lt1"/>
                </a:solidFill>
              </a:defRPr>
            </a:lvl5pPr>
            <a:lvl6pPr lvl="5" algn="ctr" rtl="0">
              <a:lnSpc>
                <a:spcPct val="100000"/>
              </a:lnSpc>
              <a:spcBef>
                <a:spcPts val="0"/>
              </a:spcBef>
              <a:spcAft>
                <a:spcPts val="0"/>
              </a:spcAft>
              <a:buClr>
                <a:schemeClr val="lt1"/>
              </a:buClr>
              <a:buSzPts val="2500"/>
              <a:buNone/>
              <a:defRPr sz="2500">
                <a:solidFill>
                  <a:schemeClr val="lt1"/>
                </a:solidFill>
              </a:defRPr>
            </a:lvl6pPr>
            <a:lvl7pPr lvl="6" algn="ctr" rtl="0">
              <a:lnSpc>
                <a:spcPct val="100000"/>
              </a:lnSpc>
              <a:spcBef>
                <a:spcPts val="0"/>
              </a:spcBef>
              <a:spcAft>
                <a:spcPts val="0"/>
              </a:spcAft>
              <a:buClr>
                <a:schemeClr val="lt1"/>
              </a:buClr>
              <a:buSzPts val="2500"/>
              <a:buNone/>
              <a:defRPr sz="2500">
                <a:solidFill>
                  <a:schemeClr val="lt1"/>
                </a:solidFill>
              </a:defRPr>
            </a:lvl7pPr>
            <a:lvl8pPr lvl="7" algn="ctr" rtl="0">
              <a:lnSpc>
                <a:spcPct val="100000"/>
              </a:lnSpc>
              <a:spcBef>
                <a:spcPts val="0"/>
              </a:spcBef>
              <a:spcAft>
                <a:spcPts val="0"/>
              </a:spcAft>
              <a:buClr>
                <a:schemeClr val="lt1"/>
              </a:buClr>
              <a:buSzPts val="2500"/>
              <a:buNone/>
              <a:defRPr sz="2500">
                <a:solidFill>
                  <a:schemeClr val="lt1"/>
                </a:solidFill>
              </a:defRPr>
            </a:lvl8pPr>
            <a:lvl9pPr lvl="8" algn="ctr" rtl="0">
              <a:lnSpc>
                <a:spcPct val="100000"/>
              </a:lnSpc>
              <a:spcBef>
                <a:spcPts val="0"/>
              </a:spcBef>
              <a:spcAft>
                <a:spcPts val="0"/>
              </a:spcAft>
              <a:buClr>
                <a:schemeClr val="lt1"/>
              </a:buClr>
              <a:buSzPts val="2500"/>
              <a:buNone/>
              <a:defRPr sz="2500">
                <a:solidFill>
                  <a:schemeClr val="lt1"/>
                </a:solidFill>
              </a:defRPr>
            </a:lvl9pPr>
          </a:lstStyle>
          <a:p>
            <a:endParaRPr/>
          </a:p>
        </p:txBody>
      </p:sp>
      <p:pic>
        <p:nvPicPr>
          <p:cNvPr id="129" name="Google Shape;129;p14"/>
          <p:cNvPicPr preferRelativeResize="0"/>
          <p:nvPr/>
        </p:nvPicPr>
        <p:blipFill rotWithShape="1">
          <a:blip r:embed="rId3">
            <a:alphaModFix amt="75000"/>
          </a:blip>
          <a:srcRect/>
          <a:stretch/>
        </p:blipFill>
        <p:spPr>
          <a:xfrm>
            <a:off x="-1436100" y="-758750"/>
            <a:ext cx="6816174" cy="4220351"/>
          </a:xfrm>
          <a:prstGeom prst="rect">
            <a:avLst/>
          </a:prstGeom>
          <a:noFill/>
          <a:ln>
            <a:noFill/>
          </a:ln>
        </p:spPr>
      </p:pic>
      <p:pic>
        <p:nvPicPr>
          <p:cNvPr id="130" name="Google Shape;130;p14"/>
          <p:cNvPicPr preferRelativeResize="0"/>
          <p:nvPr/>
        </p:nvPicPr>
        <p:blipFill rotWithShape="1">
          <a:blip r:embed="rId3">
            <a:alphaModFix amt="75000"/>
          </a:blip>
          <a:srcRect l="-60" t="537"/>
          <a:stretch/>
        </p:blipFill>
        <p:spPr>
          <a:xfrm rot="-10799997">
            <a:off x="4648077" y="1876429"/>
            <a:ext cx="5772273" cy="355281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1">
  <p:cSld name="CUSTOM_2_1_1_1">
    <p:spTree>
      <p:nvGrpSpPr>
        <p:cNvPr id="1" name="Shape 140"/>
        <p:cNvGrpSpPr/>
        <p:nvPr/>
      </p:nvGrpSpPr>
      <p:grpSpPr>
        <a:xfrm>
          <a:off x="0" y="0"/>
          <a:ext cx="0" cy="0"/>
          <a:chOff x="0" y="0"/>
          <a:chExt cx="0" cy="0"/>
        </a:xfrm>
      </p:grpSpPr>
      <p:pic>
        <p:nvPicPr>
          <p:cNvPr id="141" name="Google Shape;141;p16"/>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142" name="Google Shape;142;p1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6"/>
          <p:cNvSpPr txBox="1">
            <a:spLocks noGrp="1"/>
          </p:cNvSpPr>
          <p:nvPr>
            <p:ph type="body" idx="1"/>
          </p:nvPr>
        </p:nvSpPr>
        <p:spPr>
          <a:xfrm>
            <a:off x="720000" y="1456400"/>
            <a:ext cx="7704000" cy="2594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dk2"/>
              </a:buClr>
              <a:buSzPts val="1200"/>
              <a:buChar char="●"/>
              <a:defRPr sz="1200" b="1"/>
            </a:lvl1pPr>
            <a:lvl2pPr marL="914400" lvl="1" indent="-317500" rtl="0">
              <a:spcBef>
                <a:spcPts val="0"/>
              </a:spcBef>
              <a:spcAft>
                <a:spcPts val="0"/>
              </a:spcAft>
              <a:buClr>
                <a:schemeClr val="lt1"/>
              </a:buClr>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46" name="Google Shape;146;p16"/>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47" name="Google Shape;147;p16"/>
          <p:cNvPicPr preferRelativeResize="0"/>
          <p:nvPr/>
        </p:nvPicPr>
        <p:blipFill rotWithShape="1">
          <a:blip r:embed="rId3">
            <a:alphaModFix amt="75000"/>
          </a:blip>
          <a:srcRect/>
          <a:stretch/>
        </p:blipFill>
        <p:spPr>
          <a:xfrm rot="5400000">
            <a:off x="5369415" y="-442041"/>
            <a:ext cx="5662423" cy="3506001"/>
          </a:xfrm>
          <a:prstGeom prst="rect">
            <a:avLst/>
          </a:prstGeom>
          <a:noFill/>
          <a:ln>
            <a:noFill/>
          </a:ln>
        </p:spPr>
      </p:pic>
      <p:pic>
        <p:nvPicPr>
          <p:cNvPr id="148" name="Google Shape;148;p16"/>
          <p:cNvPicPr preferRelativeResize="0"/>
          <p:nvPr/>
        </p:nvPicPr>
        <p:blipFill rotWithShape="1">
          <a:blip r:embed="rId3">
            <a:alphaModFix amt="75000"/>
          </a:blip>
          <a:srcRect l="-60" t="537"/>
          <a:stretch/>
        </p:blipFill>
        <p:spPr>
          <a:xfrm rot="-5399997">
            <a:off x="-1828923" y="1781179"/>
            <a:ext cx="5772273" cy="355281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CUSTOM_5">
    <p:spTree>
      <p:nvGrpSpPr>
        <p:cNvPr id="1" name="Shape 202"/>
        <p:cNvGrpSpPr/>
        <p:nvPr/>
      </p:nvGrpSpPr>
      <p:grpSpPr>
        <a:xfrm>
          <a:off x="0" y="0"/>
          <a:ext cx="0" cy="0"/>
          <a:chOff x="0" y="0"/>
          <a:chExt cx="0" cy="0"/>
        </a:xfrm>
      </p:grpSpPr>
      <p:pic>
        <p:nvPicPr>
          <p:cNvPr id="203" name="Google Shape;203;p21"/>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204" name="Google Shape;204;p21"/>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1"/>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1"/>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1"/>
          <p:cNvSpPr txBox="1">
            <a:spLocks noGrp="1"/>
          </p:cNvSpPr>
          <p:nvPr>
            <p:ph type="title"/>
          </p:nvPr>
        </p:nvSpPr>
        <p:spPr>
          <a:xfrm>
            <a:off x="720000" y="1748246"/>
            <a:ext cx="2423100" cy="426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200">
                <a:solidFill>
                  <a:schemeClr val="accent1"/>
                </a:solidFill>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08" name="Google Shape;208;p21"/>
          <p:cNvSpPr txBox="1">
            <a:spLocks noGrp="1"/>
          </p:cNvSpPr>
          <p:nvPr>
            <p:ph type="subTitle" idx="1"/>
          </p:nvPr>
        </p:nvSpPr>
        <p:spPr>
          <a:xfrm>
            <a:off x="720204" y="2019748"/>
            <a:ext cx="2423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 name="Google Shape;209;p21"/>
          <p:cNvSpPr txBox="1">
            <a:spLocks noGrp="1"/>
          </p:cNvSpPr>
          <p:nvPr>
            <p:ph type="title" idx="2"/>
          </p:nvPr>
        </p:nvSpPr>
        <p:spPr>
          <a:xfrm>
            <a:off x="3368276" y="1748246"/>
            <a:ext cx="2423100" cy="426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200">
                <a:solidFill>
                  <a:schemeClr val="accent1"/>
                </a:solidFill>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10" name="Google Shape;210;p21"/>
          <p:cNvSpPr txBox="1">
            <a:spLocks noGrp="1"/>
          </p:cNvSpPr>
          <p:nvPr>
            <p:ph type="subTitle" idx="3"/>
          </p:nvPr>
        </p:nvSpPr>
        <p:spPr>
          <a:xfrm>
            <a:off x="3368275" y="2019748"/>
            <a:ext cx="2423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 name="Google Shape;211;p21"/>
          <p:cNvSpPr txBox="1">
            <a:spLocks noGrp="1"/>
          </p:cNvSpPr>
          <p:nvPr>
            <p:ph type="title" idx="4"/>
          </p:nvPr>
        </p:nvSpPr>
        <p:spPr>
          <a:xfrm>
            <a:off x="720204" y="3237376"/>
            <a:ext cx="2423100" cy="426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200">
                <a:solidFill>
                  <a:schemeClr val="accent1"/>
                </a:solidFill>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12" name="Google Shape;212;p21"/>
          <p:cNvSpPr txBox="1">
            <a:spLocks noGrp="1"/>
          </p:cNvSpPr>
          <p:nvPr>
            <p:ph type="subTitle" idx="5"/>
          </p:nvPr>
        </p:nvSpPr>
        <p:spPr>
          <a:xfrm>
            <a:off x="720204" y="3509446"/>
            <a:ext cx="2423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3" name="Google Shape;213;p21"/>
          <p:cNvSpPr txBox="1">
            <a:spLocks noGrp="1"/>
          </p:cNvSpPr>
          <p:nvPr>
            <p:ph type="title" idx="6"/>
          </p:nvPr>
        </p:nvSpPr>
        <p:spPr>
          <a:xfrm>
            <a:off x="3368276" y="3237376"/>
            <a:ext cx="2423100" cy="426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200">
                <a:solidFill>
                  <a:schemeClr val="accent1"/>
                </a:solidFill>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14" name="Google Shape;214;p21"/>
          <p:cNvSpPr txBox="1">
            <a:spLocks noGrp="1"/>
          </p:cNvSpPr>
          <p:nvPr>
            <p:ph type="subTitle" idx="7"/>
          </p:nvPr>
        </p:nvSpPr>
        <p:spPr>
          <a:xfrm>
            <a:off x="3368275" y="3509446"/>
            <a:ext cx="2423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5" name="Google Shape;215;p21"/>
          <p:cNvSpPr txBox="1">
            <a:spLocks noGrp="1"/>
          </p:cNvSpPr>
          <p:nvPr>
            <p:ph type="title" idx="8"/>
          </p:nvPr>
        </p:nvSpPr>
        <p:spPr>
          <a:xfrm>
            <a:off x="6000876" y="1748246"/>
            <a:ext cx="2423100" cy="426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200">
                <a:solidFill>
                  <a:schemeClr val="accent1"/>
                </a:solidFill>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16" name="Google Shape;216;p21"/>
          <p:cNvSpPr txBox="1">
            <a:spLocks noGrp="1"/>
          </p:cNvSpPr>
          <p:nvPr>
            <p:ph type="subTitle" idx="9"/>
          </p:nvPr>
        </p:nvSpPr>
        <p:spPr>
          <a:xfrm>
            <a:off x="6000875" y="2019748"/>
            <a:ext cx="2423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7" name="Google Shape;217;p21"/>
          <p:cNvSpPr txBox="1">
            <a:spLocks noGrp="1"/>
          </p:cNvSpPr>
          <p:nvPr>
            <p:ph type="title" idx="13"/>
          </p:nvPr>
        </p:nvSpPr>
        <p:spPr>
          <a:xfrm>
            <a:off x="6000876" y="3237376"/>
            <a:ext cx="2423100" cy="426900"/>
          </a:xfrm>
          <a:prstGeom prst="rect">
            <a:avLst/>
          </a:prstGeom>
        </p:spPr>
        <p:txBody>
          <a:bodyPr spcFirstLastPara="1" wrap="square" lIns="91425" tIns="91425" rIns="91425" bIns="91425" anchor="b" anchorCtr="0">
            <a:noAutofit/>
          </a:bodyPr>
          <a:lstStyle>
            <a:lvl1pPr lvl="0" algn="ctr" rtl="0">
              <a:lnSpc>
                <a:spcPct val="132352"/>
              </a:lnSpc>
              <a:spcBef>
                <a:spcPts val="0"/>
              </a:spcBef>
              <a:spcAft>
                <a:spcPts val="0"/>
              </a:spcAft>
              <a:buSzPts val="2000"/>
              <a:buNone/>
              <a:defRPr sz="2200">
                <a:solidFill>
                  <a:schemeClr val="accent1"/>
                </a:solidFill>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18" name="Google Shape;218;p21"/>
          <p:cNvSpPr txBox="1">
            <a:spLocks noGrp="1"/>
          </p:cNvSpPr>
          <p:nvPr>
            <p:ph type="subTitle" idx="14"/>
          </p:nvPr>
        </p:nvSpPr>
        <p:spPr>
          <a:xfrm>
            <a:off x="6000875" y="3509446"/>
            <a:ext cx="2423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9" name="Google Shape;219;p21"/>
          <p:cNvSpPr txBox="1">
            <a:spLocks noGrp="1"/>
          </p:cNvSpPr>
          <p:nvPr>
            <p:ph type="title" idx="15"/>
          </p:nvPr>
        </p:nvSpPr>
        <p:spPr>
          <a:xfrm>
            <a:off x="718150" y="540000"/>
            <a:ext cx="7705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220" name="Google Shape;220;p21"/>
          <p:cNvPicPr preferRelativeResize="0"/>
          <p:nvPr/>
        </p:nvPicPr>
        <p:blipFill rotWithShape="1">
          <a:blip r:embed="rId3">
            <a:alphaModFix amt="75000"/>
          </a:blip>
          <a:srcRect l="23147" t="15754"/>
          <a:stretch/>
        </p:blipFill>
        <p:spPr>
          <a:xfrm rot="5400000">
            <a:off x="5748539" y="489536"/>
            <a:ext cx="4351724" cy="2953549"/>
          </a:xfrm>
          <a:prstGeom prst="rect">
            <a:avLst/>
          </a:prstGeom>
          <a:noFill/>
          <a:ln>
            <a:noFill/>
          </a:ln>
        </p:spPr>
      </p:pic>
      <p:pic>
        <p:nvPicPr>
          <p:cNvPr id="221" name="Google Shape;221;p21"/>
          <p:cNvPicPr preferRelativeResize="0"/>
          <p:nvPr/>
        </p:nvPicPr>
        <p:blipFill rotWithShape="1">
          <a:blip r:embed="rId3">
            <a:alphaModFix amt="75000"/>
          </a:blip>
          <a:srcRect l="19672" t="17471"/>
          <a:stretch/>
        </p:blipFill>
        <p:spPr>
          <a:xfrm rot="-5399996">
            <a:off x="-957325" y="1514479"/>
            <a:ext cx="4633974" cy="294791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18">
    <p:spTree>
      <p:nvGrpSpPr>
        <p:cNvPr id="1" name="Shape 257"/>
        <p:cNvGrpSpPr/>
        <p:nvPr/>
      </p:nvGrpSpPr>
      <p:grpSpPr>
        <a:xfrm>
          <a:off x="0" y="0"/>
          <a:ext cx="0" cy="0"/>
          <a:chOff x="0" y="0"/>
          <a:chExt cx="0" cy="0"/>
        </a:xfrm>
      </p:grpSpPr>
      <p:pic>
        <p:nvPicPr>
          <p:cNvPr id="258" name="Google Shape;258;p25"/>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259" name="Google Shape;259;p25"/>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5"/>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5"/>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2" name="Google Shape;262;p25"/>
          <p:cNvPicPr preferRelativeResize="0"/>
          <p:nvPr/>
        </p:nvPicPr>
        <p:blipFill rotWithShape="1">
          <a:blip r:embed="rId3">
            <a:alphaModFix amt="75000"/>
          </a:blip>
          <a:srcRect l="23664" t="13299"/>
          <a:stretch/>
        </p:blipFill>
        <p:spPr>
          <a:xfrm>
            <a:off x="9525" y="-156200"/>
            <a:ext cx="4171950" cy="2933699"/>
          </a:xfrm>
          <a:prstGeom prst="rect">
            <a:avLst/>
          </a:prstGeom>
          <a:noFill/>
          <a:ln>
            <a:noFill/>
          </a:ln>
        </p:spPr>
      </p:pic>
      <p:pic>
        <p:nvPicPr>
          <p:cNvPr id="263" name="Google Shape;263;p25"/>
          <p:cNvPicPr preferRelativeResize="0"/>
          <p:nvPr/>
        </p:nvPicPr>
        <p:blipFill rotWithShape="1">
          <a:blip r:embed="rId3">
            <a:alphaModFix amt="75000"/>
          </a:blip>
          <a:srcRect l="21334" t="3883"/>
          <a:stretch/>
        </p:blipFill>
        <p:spPr>
          <a:xfrm rot="-10799995">
            <a:off x="5739700" y="2603702"/>
            <a:ext cx="3747200" cy="283507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18_1">
    <p:spTree>
      <p:nvGrpSpPr>
        <p:cNvPr id="1" name="Shape 264"/>
        <p:cNvGrpSpPr/>
        <p:nvPr/>
      </p:nvGrpSpPr>
      <p:grpSpPr>
        <a:xfrm>
          <a:off x="0" y="0"/>
          <a:ext cx="0" cy="0"/>
          <a:chOff x="0" y="0"/>
          <a:chExt cx="0" cy="0"/>
        </a:xfrm>
      </p:grpSpPr>
      <p:pic>
        <p:nvPicPr>
          <p:cNvPr id="265" name="Google Shape;265;p26"/>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266" name="Google Shape;266;p2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9" name="Google Shape;269;p26"/>
          <p:cNvPicPr preferRelativeResize="0"/>
          <p:nvPr/>
        </p:nvPicPr>
        <p:blipFill rotWithShape="1">
          <a:blip r:embed="rId3">
            <a:alphaModFix amt="75000"/>
          </a:blip>
          <a:srcRect l="20356"/>
          <a:stretch/>
        </p:blipFill>
        <p:spPr>
          <a:xfrm rot="5400000">
            <a:off x="4631025" y="510125"/>
            <a:ext cx="5524500" cy="4294700"/>
          </a:xfrm>
          <a:prstGeom prst="rect">
            <a:avLst/>
          </a:prstGeom>
          <a:noFill/>
          <a:ln>
            <a:noFill/>
          </a:ln>
        </p:spPr>
      </p:pic>
      <p:pic>
        <p:nvPicPr>
          <p:cNvPr id="270" name="Google Shape;270;p26"/>
          <p:cNvPicPr preferRelativeResize="0"/>
          <p:nvPr/>
        </p:nvPicPr>
        <p:blipFill rotWithShape="1">
          <a:blip r:embed="rId3">
            <a:alphaModFix amt="75000"/>
          </a:blip>
          <a:srcRect l="16645" t="537"/>
          <a:stretch/>
        </p:blipFill>
        <p:spPr>
          <a:xfrm rot="-5399997">
            <a:off x="-1058539" y="294014"/>
            <a:ext cx="5654502" cy="417781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37000">
              <a:schemeClr val="dk1"/>
            </a:gs>
            <a:gs pos="63000">
              <a:schemeClr val="dk1"/>
            </a:gs>
            <a:gs pos="100000">
              <a:schemeClr val="dk2"/>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82475" y="540000"/>
            <a:ext cx="77040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800"/>
              <a:buFont typeface="Audiowide"/>
              <a:buNone/>
              <a:defRPr sz="2800">
                <a:solidFill>
                  <a:schemeClr val="lt1"/>
                </a:solidFill>
                <a:latin typeface="Audiowide"/>
                <a:ea typeface="Audiowide"/>
                <a:cs typeface="Audiowide"/>
                <a:sym typeface="Audiowide"/>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a:endParaRPr/>
          </a:p>
        </p:txBody>
      </p:sp>
      <p:sp>
        <p:nvSpPr>
          <p:cNvPr id="7" name="Google Shape;7;p1"/>
          <p:cNvSpPr txBox="1">
            <a:spLocks noGrp="1"/>
          </p:cNvSpPr>
          <p:nvPr>
            <p:ph type="body" idx="1"/>
          </p:nvPr>
        </p:nvSpPr>
        <p:spPr>
          <a:xfrm>
            <a:off x="782475"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1pPr>
            <a:lvl2pPr marL="914400" lvl="1"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2pPr>
            <a:lvl3pPr marL="1371600" lvl="2"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3pPr>
            <a:lvl4pPr marL="1828800" lvl="3"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4pPr>
            <a:lvl5pPr marL="2286000" lvl="4"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5pPr>
            <a:lvl6pPr marL="2743200" lvl="5"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6pPr>
            <a:lvl7pPr marL="3200400" lvl="6"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7pPr>
            <a:lvl8pPr marL="3657600" lvl="7"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8pPr>
            <a:lvl9pPr marL="4114800" lvl="8"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8" r:id="rId4"/>
    <p:sldLayoutId id="2147483659" r:id="rId5"/>
    <p:sldLayoutId id="2147483660" r:id="rId6"/>
    <p:sldLayoutId id="2147483662" r:id="rId7"/>
    <p:sldLayoutId id="2147483667" r:id="rId8"/>
    <p:sldLayoutId id="2147483671" r:id="rId9"/>
    <p:sldLayoutId id="214748367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sajjadrasool.medium.com/gemini-vs-chatgpt-vs-grok-vs-deepseek-the-ultimate-ai-showdown-2025-winner-revealed-947fc6723628" TargetMode="External"/><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hyperlink" Target="https://24hstore.vn/cong-nghe/so-sanh-grok-3-va-deepseek-n9244" TargetMode="External"/><Relationship Id="rId5" Type="http://schemas.openxmlformats.org/officeDocument/2006/relationships/hyperlink" Target="https://www.thegioididong.com/game-app/so-sanh-deepseek-va-chatgpt-1574800" TargetMode="External"/><Relationship Id="rId4" Type="http://schemas.openxmlformats.org/officeDocument/2006/relationships/hyperlink" Target="https://www.researchgate.net/publication/389065042_Grok_Gemini_ChatGPT_and_DeepSeek_Comparison_and_Applications_in_Conversational_Artificial_Intelligence"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0"/>
          <p:cNvSpPr/>
          <p:nvPr/>
        </p:nvSpPr>
        <p:spPr>
          <a:xfrm>
            <a:off x="1727250" y="1228150"/>
            <a:ext cx="5689500" cy="24768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0"/>
          <p:cNvSpPr txBox="1">
            <a:spLocks noGrp="1"/>
          </p:cNvSpPr>
          <p:nvPr>
            <p:ph type="ctrTitle"/>
          </p:nvPr>
        </p:nvSpPr>
        <p:spPr>
          <a:xfrm>
            <a:off x="1594910" y="1226261"/>
            <a:ext cx="5840401" cy="23583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b="1" dirty="0">
                <a:solidFill>
                  <a:schemeClr val="bg1"/>
                </a:solidFill>
                <a:latin typeface="+mj-lt"/>
                <a:cs typeface="Times New Roman" panose="02020603050405020304" pitchFamily="18" charset="0"/>
              </a:rPr>
              <a:t>SO SÁNH </a:t>
            </a:r>
            <a:br>
              <a:rPr lang="en" b="1" dirty="0">
                <a:solidFill>
                  <a:schemeClr val="bg1"/>
                </a:solidFill>
                <a:latin typeface="+mj-lt"/>
                <a:cs typeface="Times New Roman" panose="02020603050405020304" pitchFamily="18" charset="0"/>
              </a:rPr>
            </a:br>
            <a:r>
              <a:rPr lang="en" b="1" dirty="0">
                <a:solidFill>
                  <a:schemeClr val="bg1"/>
                </a:solidFill>
                <a:latin typeface="+mj-lt"/>
                <a:cs typeface="Times New Roman" panose="02020603050405020304" pitchFamily="18" charset="0"/>
              </a:rPr>
              <a:t>4 CHATBOT AI </a:t>
            </a:r>
            <a:br>
              <a:rPr lang="en" b="1" dirty="0">
                <a:solidFill>
                  <a:schemeClr val="bg1"/>
                </a:solidFill>
                <a:latin typeface="+mj-lt"/>
                <a:cs typeface="Times New Roman" panose="02020603050405020304" pitchFamily="18" charset="0"/>
              </a:rPr>
            </a:br>
            <a:r>
              <a:rPr lang="en" b="1" dirty="0">
                <a:solidFill>
                  <a:schemeClr val="bg1"/>
                </a:solidFill>
                <a:latin typeface="+mj-lt"/>
                <a:cs typeface="Times New Roman" panose="02020603050405020304" pitchFamily="18" charset="0"/>
              </a:rPr>
              <a:t>PHỔ BIẾN</a:t>
            </a:r>
            <a:endParaRPr b="1" dirty="0">
              <a:solidFill>
                <a:schemeClr val="bg1"/>
              </a:solidFill>
              <a:latin typeface="+mj-lt"/>
              <a:cs typeface="Times New Roman" panose="02020603050405020304" pitchFamily="18" charset="0"/>
            </a:endParaRPr>
          </a:p>
        </p:txBody>
      </p:sp>
      <p:sp>
        <p:nvSpPr>
          <p:cNvPr id="283" name="Google Shape;283;p30"/>
          <p:cNvSpPr txBox="1">
            <a:spLocks noGrp="1"/>
          </p:cNvSpPr>
          <p:nvPr>
            <p:ph type="subTitle" idx="1"/>
          </p:nvPr>
        </p:nvSpPr>
        <p:spPr>
          <a:xfrm>
            <a:off x="1540946" y="3778500"/>
            <a:ext cx="6146092" cy="473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NHÓM 01 – NỀN TẢNG CÔNG NGHỆ SỐ - Th.S Nguyễn Minh Trung</a:t>
            </a:r>
            <a:endParaRPr dirty="0">
              <a:latin typeface="Times New Roman" panose="02020603050405020304" pitchFamily="18" charset="0"/>
              <a:cs typeface="Times New Roman" panose="02020603050405020304" pitchFamily="18" charset="0"/>
            </a:endParaRPr>
          </a:p>
        </p:txBody>
      </p:sp>
      <p:grpSp>
        <p:nvGrpSpPr>
          <p:cNvPr id="284" name="Google Shape;284;p30"/>
          <p:cNvGrpSpPr/>
          <p:nvPr/>
        </p:nvGrpSpPr>
        <p:grpSpPr>
          <a:xfrm>
            <a:off x="1006807" y="487596"/>
            <a:ext cx="288601" cy="1096693"/>
            <a:chOff x="1006700" y="2603975"/>
            <a:chExt cx="55450" cy="210700"/>
          </a:xfrm>
        </p:grpSpPr>
        <p:sp>
          <p:nvSpPr>
            <p:cNvPr id="285" name="Google Shape;285;p30"/>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0"/>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0"/>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0"/>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0"/>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0"/>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 name="Google Shape;291;p30"/>
          <p:cNvGrpSpPr/>
          <p:nvPr/>
        </p:nvGrpSpPr>
        <p:grpSpPr>
          <a:xfrm rot="5400000">
            <a:off x="7769557" y="3906771"/>
            <a:ext cx="288601" cy="1096693"/>
            <a:chOff x="1006700" y="2603975"/>
            <a:chExt cx="55450" cy="210700"/>
          </a:xfrm>
        </p:grpSpPr>
        <p:sp>
          <p:nvSpPr>
            <p:cNvPr id="292" name="Google Shape;292;p30"/>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0"/>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0"/>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0"/>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0"/>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0"/>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 name="Google Shape;298;p30"/>
          <p:cNvGrpSpPr/>
          <p:nvPr/>
        </p:nvGrpSpPr>
        <p:grpSpPr>
          <a:xfrm>
            <a:off x="551124" y="3629702"/>
            <a:ext cx="1178637" cy="1096691"/>
            <a:chOff x="827350" y="3629733"/>
            <a:chExt cx="1431600" cy="1332067"/>
          </a:xfrm>
        </p:grpSpPr>
        <p:sp>
          <p:nvSpPr>
            <p:cNvPr id="299" name="Google Shape;299;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 name="Google Shape;302;p30"/>
          <p:cNvGrpSpPr/>
          <p:nvPr/>
        </p:nvGrpSpPr>
        <p:grpSpPr>
          <a:xfrm>
            <a:off x="322602" y="2902809"/>
            <a:ext cx="781224" cy="726909"/>
            <a:chOff x="827350" y="3629733"/>
            <a:chExt cx="1431600" cy="1332067"/>
          </a:xfrm>
        </p:grpSpPr>
        <p:sp>
          <p:nvSpPr>
            <p:cNvPr id="303" name="Google Shape;303;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 name="Google Shape;306;p30"/>
          <p:cNvGrpSpPr/>
          <p:nvPr/>
        </p:nvGrpSpPr>
        <p:grpSpPr>
          <a:xfrm>
            <a:off x="1816189" y="4394848"/>
            <a:ext cx="356325" cy="331552"/>
            <a:chOff x="827350" y="3629733"/>
            <a:chExt cx="1431600" cy="1332067"/>
          </a:xfrm>
        </p:grpSpPr>
        <p:sp>
          <p:nvSpPr>
            <p:cNvPr id="307" name="Google Shape;307;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 name="Google Shape;310;p30"/>
          <p:cNvGrpSpPr/>
          <p:nvPr/>
        </p:nvGrpSpPr>
        <p:grpSpPr>
          <a:xfrm>
            <a:off x="7466251" y="219713"/>
            <a:ext cx="895180" cy="832942"/>
            <a:chOff x="827350" y="3629733"/>
            <a:chExt cx="1431600" cy="1332067"/>
          </a:xfrm>
        </p:grpSpPr>
        <p:sp>
          <p:nvSpPr>
            <p:cNvPr id="311" name="Google Shape;311;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 name="Google Shape;314;p30"/>
          <p:cNvGrpSpPr/>
          <p:nvPr/>
        </p:nvGrpSpPr>
        <p:grpSpPr>
          <a:xfrm>
            <a:off x="8131283" y="1065715"/>
            <a:ext cx="598982" cy="557337"/>
            <a:chOff x="827350" y="3629733"/>
            <a:chExt cx="1431600" cy="1332067"/>
          </a:xfrm>
        </p:grpSpPr>
        <p:sp>
          <p:nvSpPr>
            <p:cNvPr id="315" name="Google Shape;315;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 name="Google Shape;318;p30"/>
          <p:cNvGrpSpPr/>
          <p:nvPr/>
        </p:nvGrpSpPr>
        <p:grpSpPr>
          <a:xfrm>
            <a:off x="6901231" y="620669"/>
            <a:ext cx="464268" cy="431989"/>
            <a:chOff x="827350" y="3629733"/>
            <a:chExt cx="1431600" cy="1332067"/>
          </a:xfrm>
        </p:grpSpPr>
        <p:sp>
          <p:nvSpPr>
            <p:cNvPr id="319" name="Google Shape;319;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908129FD-B9B4-D0AB-48EA-D5F89FAC76CE}"/>
              </a:ext>
            </a:extLst>
          </p:cNvPr>
          <p:cNvSpPr txBox="1"/>
          <p:nvPr/>
        </p:nvSpPr>
        <p:spPr>
          <a:xfrm>
            <a:off x="1724740" y="804527"/>
            <a:ext cx="5580742" cy="307777"/>
          </a:xfrm>
          <a:prstGeom prst="rect">
            <a:avLst/>
          </a:prstGeom>
          <a:noFill/>
        </p:spPr>
        <p:txBody>
          <a:bodyPr wrap="square">
            <a:spAutoFit/>
          </a:bodyPr>
          <a:lstStyle/>
          <a:p>
            <a:r>
              <a:rPr lang="en-US" b="1" dirty="0">
                <a:solidFill>
                  <a:schemeClr val="bg1"/>
                </a:solidFill>
                <a:latin typeface="Times New Roman" panose="02020603050405020304" pitchFamily="18" charset="0"/>
                <a:cs typeface="Times New Roman" panose="02020603050405020304" pitchFamily="18" charset="0"/>
              </a:rPr>
              <a:t>ĐẠI HỌC CẦN THƠ</a:t>
            </a:r>
            <a:endParaRPr lang="vi-VN"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1"/>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1"/>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chemeClr val="lt1"/>
                </a:solidFill>
                <a:latin typeface="Times New Roman" panose="02020603050405020304" pitchFamily="18" charset="0"/>
                <a:cs typeface="Times New Roman" panose="02020603050405020304" pitchFamily="18" charset="0"/>
              </a:rPr>
              <a:t>GIỚI THIỆU THÀNH VIÊN</a:t>
            </a:r>
            <a:endParaRPr b="1" dirty="0">
              <a:latin typeface="Times New Roman" panose="02020603050405020304" pitchFamily="18" charset="0"/>
              <a:cs typeface="Times New Roman" panose="02020603050405020304" pitchFamily="18" charset="0"/>
            </a:endParaRPr>
          </a:p>
        </p:txBody>
      </p:sp>
      <p:sp>
        <p:nvSpPr>
          <p:cNvPr id="328" name="Google Shape;328;p31"/>
          <p:cNvSpPr txBox="1">
            <a:spLocks noGrp="1"/>
          </p:cNvSpPr>
          <p:nvPr>
            <p:ph type="body" idx="1"/>
          </p:nvPr>
        </p:nvSpPr>
        <p:spPr>
          <a:xfrm>
            <a:off x="720000" y="1335030"/>
            <a:ext cx="7704000" cy="572700"/>
          </a:xfrm>
          <a:prstGeom prst="rect">
            <a:avLst/>
          </a:prstGeom>
        </p:spPr>
        <p:txBody>
          <a:bodyPr spcFirstLastPara="1" wrap="square" lIns="91425" tIns="91425" rIns="91425" bIns="91425" anchor="t" anchorCtr="0">
            <a:noAutofit/>
          </a:bodyPr>
          <a:lstStyle/>
          <a:p>
            <a:pPr marL="0" lvl="0" indent="0" algn="ctr">
              <a:buNone/>
            </a:pPr>
            <a:r>
              <a:rPr lang="en" dirty="0"/>
              <a:t>NHÓM 01 – NỀN TẢNG CÔNG NGHỆ SỐ</a:t>
            </a:r>
            <a:endParaRPr dirty="0">
              <a:solidFill>
                <a:schemeClr val="lt1"/>
              </a:solidFill>
            </a:endParaRPr>
          </a:p>
        </p:txBody>
      </p:sp>
      <p:graphicFrame>
        <p:nvGraphicFramePr>
          <p:cNvPr id="329" name="Google Shape;329;p31"/>
          <p:cNvGraphicFramePr/>
          <p:nvPr>
            <p:extLst>
              <p:ext uri="{D42A27DB-BD31-4B8C-83A1-F6EECF244321}">
                <p14:modId xmlns:p14="http://schemas.microsoft.com/office/powerpoint/2010/main" val="2324149020"/>
              </p:ext>
            </p:extLst>
          </p:nvPr>
        </p:nvGraphicFramePr>
        <p:xfrm>
          <a:off x="720000" y="2067506"/>
          <a:ext cx="7704000" cy="1950570"/>
        </p:xfrm>
        <a:graphic>
          <a:graphicData uri="http://schemas.openxmlformats.org/drawingml/2006/table">
            <a:tbl>
              <a:tblPr>
                <a:noFill/>
                <a:tableStyleId>{7D39478E-FE93-4580-9B40-B0A813745C6C}</a:tableStyleId>
              </a:tblPr>
              <a:tblGrid>
                <a:gridCol w="2451650">
                  <a:extLst>
                    <a:ext uri="{9D8B030D-6E8A-4147-A177-3AD203B41FA5}">
                      <a16:colId xmlns:a16="http://schemas.microsoft.com/office/drawing/2014/main" val="20000"/>
                    </a:ext>
                  </a:extLst>
                </a:gridCol>
                <a:gridCol w="5252350">
                  <a:extLst>
                    <a:ext uri="{9D8B030D-6E8A-4147-A177-3AD203B41FA5}">
                      <a16:colId xmlns:a16="http://schemas.microsoft.com/office/drawing/2014/main" val="20001"/>
                    </a:ext>
                  </a:extLst>
                </a:gridCol>
              </a:tblGrid>
              <a:tr h="352558">
                <a:tc>
                  <a:txBody>
                    <a:bodyPr/>
                    <a:lstStyle/>
                    <a:p>
                      <a:pPr marL="0" lvl="0" indent="0" algn="ctr" rtl="0">
                        <a:spcBef>
                          <a:spcPts val="0"/>
                        </a:spcBef>
                        <a:spcAft>
                          <a:spcPts val="0"/>
                        </a:spcAft>
                        <a:buNone/>
                      </a:pPr>
                      <a:r>
                        <a:rPr lang="en" sz="1100" b="1" dirty="0">
                          <a:solidFill>
                            <a:schemeClr val="accent1"/>
                          </a:solidFill>
                          <a:uFill>
                            <a:noFill/>
                          </a:uFill>
                          <a:latin typeface="Audiowide"/>
                          <a:ea typeface="Audiowide"/>
                          <a:cs typeface="Audiowide"/>
                          <a:sym typeface="Audiowide"/>
                        </a:rPr>
                        <a:t>MÃ SINH VIÊN</a:t>
                      </a:r>
                      <a:endParaRPr sz="1100" b="1" dirty="0">
                        <a:solidFill>
                          <a:schemeClr val="accent1"/>
                        </a:solidFill>
                        <a:latin typeface="Audiowide"/>
                        <a:ea typeface="Audiowide"/>
                        <a:cs typeface="Audiowide"/>
                        <a:sym typeface="Audiowide"/>
                      </a:endParaRPr>
                    </a:p>
                  </a:txBody>
                  <a:tcPr marL="91425" marR="91425" marT="91425" marB="91425">
                    <a:lnL w="9525" cap="flat" cmpd="sng">
                      <a:solidFill>
                        <a:schemeClr val="lt1">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solid"/>
                      <a:round/>
                      <a:headEnd type="none" w="sm" len="sm"/>
                      <a:tailEnd type="none" w="sm" len="sm"/>
                    </a:lnB>
                    <a:solidFill>
                      <a:srgbClr val="10355F">
                        <a:alpha val="59069"/>
                      </a:srgbClr>
                    </a:solidFill>
                  </a:tcPr>
                </a:tc>
                <a:tc>
                  <a:txBody>
                    <a:bodyPr/>
                    <a:lstStyle/>
                    <a:p>
                      <a:pPr marL="0" lvl="0" indent="0" algn="ctr" rtl="0">
                        <a:spcBef>
                          <a:spcPts val="0"/>
                        </a:spcBef>
                        <a:spcAft>
                          <a:spcPts val="1600"/>
                        </a:spcAft>
                        <a:buNone/>
                      </a:pPr>
                      <a:r>
                        <a:rPr lang="en" sz="1200" b="1" dirty="0">
                          <a:solidFill>
                            <a:schemeClr val="lt1"/>
                          </a:solidFill>
                          <a:latin typeface="+mj-lt"/>
                          <a:ea typeface="Karla"/>
                          <a:cs typeface="Karla"/>
                          <a:sym typeface="Karla"/>
                        </a:rPr>
                        <a:t>HỌ VÀ TÊN</a:t>
                      </a:r>
                      <a:endParaRPr sz="1200" b="1" dirty="0">
                        <a:solidFill>
                          <a:schemeClr val="lt1"/>
                        </a:solidFill>
                        <a:latin typeface="+mj-lt"/>
                        <a:ea typeface="Karla"/>
                        <a:cs typeface="Karla"/>
                        <a:sym typeface="Karla"/>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solid"/>
                      <a:round/>
                      <a:headEnd type="none" w="sm" len="sm"/>
                      <a:tailEnd type="none" w="sm" len="sm"/>
                    </a:lnB>
                    <a:solidFill>
                      <a:srgbClr val="10355F">
                        <a:alpha val="59069"/>
                      </a:srgbClr>
                    </a:solidFill>
                  </a:tcPr>
                </a:tc>
                <a:extLst>
                  <a:ext uri="{0D108BD9-81ED-4DB2-BD59-A6C34878D82A}">
                    <a16:rowId xmlns:a16="http://schemas.microsoft.com/office/drawing/2014/main" val="10000"/>
                  </a:ext>
                </a:extLst>
              </a:tr>
              <a:tr h="352558">
                <a:tc>
                  <a:txBody>
                    <a:bodyPr/>
                    <a:lstStyle/>
                    <a:p>
                      <a:pPr marL="0" lvl="0" indent="0" algn="ctr" rtl="0">
                        <a:spcBef>
                          <a:spcPts val="0"/>
                        </a:spcBef>
                        <a:spcAft>
                          <a:spcPts val="0"/>
                        </a:spcAft>
                        <a:buNone/>
                      </a:pPr>
                      <a:r>
                        <a:rPr lang="en" sz="1400" b="1" dirty="0">
                          <a:solidFill>
                            <a:schemeClr val="bg1"/>
                          </a:solidFill>
                          <a:uFill>
                            <a:noFill/>
                          </a:uFill>
                          <a:latin typeface="Audiowide"/>
                          <a:ea typeface="Audiowide"/>
                          <a:cs typeface="Audiowide"/>
                          <a:sym typeface="Audiowide"/>
                        </a:rPr>
                        <a:t>B2508347</a:t>
                      </a:r>
                      <a:endParaRPr sz="1400" b="1" dirty="0">
                        <a:solidFill>
                          <a:schemeClr val="bg1"/>
                        </a:solidFill>
                        <a:latin typeface="Audiowide"/>
                        <a:ea typeface="Audiowide"/>
                        <a:cs typeface="Audiowide"/>
                        <a:sym typeface="Audiowide"/>
                      </a:endParaRPr>
                    </a:p>
                  </a:txBody>
                  <a:tcPr marL="91425" marR="91425" marT="91425" marB="91425">
                    <a:lnL w="9525" cap="flat" cmpd="sng">
                      <a:solidFill>
                        <a:schemeClr val="lt1">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0355F">
                        <a:alpha val="59069"/>
                      </a:srgbClr>
                    </a:solidFill>
                  </a:tcPr>
                </a:tc>
                <a:tc>
                  <a:txBody>
                    <a:bodyPr/>
                    <a:lstStyle/>
                    <a:p>
                      <a:pPr marL="0" marR="0" lvl="0" indent="0" algn="ctr" rtl="0">
                        <a:lnSpc>
                          <a:spcPct val="100000"/>
                        </a:lnSpc>
                        <a:spcBef>
                          <a:spcPts val="0"/>
                        </a:spcBef>
                        <a:spcAft>
                          <a:spcPts val="1600"/>
                        </a:spcAft>
                        <a:buNone/>
                      </a:pPr>
                      <a:r>
                        <a:rPr lang="en" sz="1400" b="1" dirty="0">
                          <a:solidFill>
                            <a:schemeClr val="lt1"/>
                          </a:solidFill>
                          <a:latin typeface="Times New Roman" panose="02020603050405020304" pitchFamily="18" charset="0"/>
                          <a:ea typeface="Karla"/>
                          <a:cs typeface="Times New Roman" panose="02020603050405020304" pitchFamily="18" charset="0"/>
                          <a:sym typeface="Karla"/>
                        </a:rPr>
                        <a:t>Nguyễn Trần Kỳ Anh</a:t>
                      </a:r>
                      <a:endParaRPr sz="1400" b="1" dirty="0">
                        <a:solidFill>
                          <a:schemeClr val="lt1"/>
                        </a:solidFill>
                        <a:latin typeface="Times New Roman" panose="02020603050405020304" pitchFamily="18" charset="0"/>
                        <a:ea typeface="Karla"/>
                        <a:cs typeface="Times New Roman" panose="02020603050405020304" pitchFamily="18" charset="0"/>
                        <a:sym typeface="Karla"/>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0355F">
                        <a:alpha val="59069"/>
                      </a:srgbClr>
                    </a:solidFill>
                  </a:tcPr>
                </a:tc>
                <a:extLst>
                  <a:ext uri="{0D108BD9-81ED-4DB2-BD59-A6C34878D82A}">
                    <a16:rowId xmlns:a16="http://schemas.microsoft.com/office/drawing/2014/main" val="10001"/>
                  </a:ext>
                </a:extLst>
              </a:tr>
              <a:tr h="352558">
                <a:tc>
                  <a:txBody>
                    <a:bodyPr/>
                    <a:lstStyle/>
                    <a:p>
                      <a:pPr marL="0" lvl="0" indent="0" algn="ctr" rtl="0">
                        <a:spcBef>
                          <a:spcPts val="0"/>
                        </a:spcBef>
                        <a:spcAft>
                          <a:spcPts val="0"/>
                        </a:spcAft>
                        <a:buNone/>
                      </a:pPr>
                      <a:r>
                        <a:rPr lang="en" sz="1400" b="1" dirty="0">
                          <a:solidFill>
                            <a:schemeClr val="bg1"/>
                          </a:solidFill>
                          <a:uFill>
                            <a:noFill/>
                          </a:uFill>
                          <a:latin typeface="Audiowide"/>
                          <a:ea typeface="Audiowide"/>
                          <a:cs typeface="Audiowide"/>
                          <a:sym typeface="Audiowide"/>
                        </a:rPr>
                        <a:t>B2508345</a:t>
                      </a:r>
                      <a:endParaRPr sz="1400" b="1" dirty="0">
                        <a:solidFill>
                          <a:schemeClr val="bg1"/>
                        </a:solidFill>
                        <a:latin typeface="Audiowide"/>
                        <a:ea typeface="Audiowide"/>
                        <a:cs typeface="Audiowide"/>
                        <a:sym typeface="Audiowide"/>
                      </a:endParaRPr>
                    </a:p>
                  </a:txBody>
                  <a:tcPr marL="91425" marR="91425" marT="91425" marB="91425">
                    <a:lnL w="9525" cap="flat" cmpd="sng">
                      <a:solidFill>
                        <a:schemeClr val="lt1">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0355F">
                        <a:alpha val="59069"/>
                      </a:srgbClr>
                    </a:solidFill>
                  </a:tcPr>
                </a:tc>
                <a:tc>
                  <a:txBody>
                    <a:bodyPr/>
                    <a:lstStyle/>
                    <a:p>
                      <a:pPr marL="0" lvl="0" indent="0" algn="ctr" rtl="0">
                        <a:spcBef>
                          <a:spcPts val="0"/>
                        </a:spcBef>
                        <a:spcAft>
                          <a:spcPts val="1600"/>
                        </a:spcAft>
                        <a:buNone/>
                      </a:pPr>
                      <a:r>
                        <a:rPr lang="en" sz="1400" b="1" dirty="0">
                          <a:solidFill>
                            <a:schemeClr val="lt1"/>
                          </a:solidFill>
                          <a:latin typeface="Times New Roman" panose="02020603050405020304" pitchFamily="18" charset="0"/>
                          <a:ea typeface="Karla"/>
                          <a:cs typeface="Times New Roman" panose="02020603050405020304" pitchFamily="18" charset="0"/>
                          <a:sym typeface="Karla"/>
                        </a:rPr>
                        <a:t>Lê Ngọc Huỳnh Anh</a:t>
                      </a:r>
                      <a:endParaRPr sz="1400" b="1" dirty="0">
                        <a:solidFill>
                          <a:schemeClr val="lt1"/>
                        </a:solidFill>
                        <a:latin typeface="Times New Roman" panose="02020603050405020304" pitchFamily="18" charset="0"/>
                        <a:ea typeface="Karla"/>
                        <a:cs typeface="Times New Roman" panose="02020603050405020304" pitchFamily="18" charset="0"/>
                        <a:sym typeface="Karla"/>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0355F">
                        <a:alpha val="59069"/>
                      </a:srgbClr>
                    </a:solidFill>
                  </a:tcPr>
                </a:tc>
                <a:extLst>
                  <a:ext uri="{0D108BD9-81ED-4DB2-BD59-A6C34878D82A}">
                    <a16:rowId xmlns:a16="http://schemas.microsoft.com/office/drawing/2014/main" val="10002"/>
                  </a:ext>
                </a:extLst>
              </a:tr>
              <a:tr h="352558">
                <a:tc>
                  <a:txBody>
                    <a:bodyPr/>
                    <a:lstStyle/>
                    <a:p>
                      <a:pPr marL="0" lvl="0" indent="0" algn="ctr" rtl="0">
                        <a:spcBef>
                          <a:spcPts val="0"/>
                        </a:spcBef>
                        <a:spcAft>
                          <a:spcPts val="0"/>
                        </a:spcAft>
                        <a:buNone/>
                      </a:pPr>
                      <a:r>
                        <a:rPr lang="en" sz="1400" b="1" dirty="0">
                          <a:solidFill>
                            <a:schemeClr val="bg1"/>
                          </a:solidFill>
                          <a:uFill>
                            <a:noFill/>
                          </a:uFill>
                          <a:latin typeface="Audiowide"/>
                          <a:ea typeface="Audiowide"/>
                          <a:cs typeface="Audiowide"/>
                          <a:sym typeface="Audiowide"/>
                        </a:rPr>
                        <a:t>B2508346</a:t>
                      </a:r>
                      <a:endParaRPr sz="1400" b="1" dirty="0">
                        <a:solidFill>
                          <a:schemeClr val="bg1"/>
                        </a:solidFill>
                        <a:latin typeface="Audiowide"/>
                        <a:ea typeface="Audiowide"/>
                        <a:cs typeface="Audiowide"/>
                        <a:sym typeface="Audiowide"/>
                      </a:endParaRPr>
                    </a:p>
                  </a:txBody>
                  <a:tcPr marL="91425" marR="91425" marT="91425" marB="91425">
                    <a:lnL w="9525" cap="flat" cmpd="sng">
                      <a:solidFill>
                        <a:schemeClr val="lt1">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0355F">
                        <a:alpha val="59069"/>
                      </a:srgbClr>
                    </a:solidFill>
                  </a:tcPr>
                </a:tc>
                <a:tc>
                  <a:txBody>
                    <a:bodyPr/>
                    <a:lstStyle/>
                    <a:p>
                      <a:pPr marL="0" lvl="0" indent="0" algn="ctr" rtl="0">
                        <a:spcBef>
                          <a:spcPts val="0"/>
                        </a:spcBef>
                        <a:spcAft>
                          <a:spcPts val="1600"/>
                        </a:spcAft>
                        <a:buNone/>
                      </a:pPr>
                      <a:r>
                        <a:rPr lang="en" sz="1400" b="1" dirty="0">
                          <a:solidFill>
                            <a:schemeClr val="lt1"/>
                          </a:solidFill>
                          <a:latin typeface="Times New Roman" panose="02020603050405020304" pitchFamily="18" charset="0"/>
                          <a:ea typeface="Karla"/>
                          <a:cs typeface="Times New Roman" panose="02020603050405020304" pitchFamily="18" charset="0"/>
                          <a:sym typeface="Karla"/>
                        </a:rPr>
                        <a:t>Mai Quốc Anh</a:t>
                      </a:r>
                      <a:endParaRPr sz="1400" b="1" dirty="0">
                        <a:solidFill>
                          <a:schemeClr val="lt1"/>
                        </a:solidFill>
                        <a:latin typeface="Times New Roman" panose="02020603050405020304" pitchFamily="18" charset="0"/>
                        <a:ea typeface="Karla"/>
                        <a:cs typeface="Times New Roman" panose="02020603050405020304" pitchFamily="18" charset="0"/>
                        <a:sym typeface="Karla"/>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0355F">
                        <a:alpha val="59069"/>
                      </a:srgbClr>
                    </a:solidFill>
                  </a:tcPr>
                </a:tc>
                <a:extLst>
                  <a:ext uri="{0D108BD9-81ED-4DB2-BD59-A6C34878D82A}">
                    <a16:rowId xmlns:a16="http://schemas.microsoft.com/office/drawing/2014/main" val="10003"/>
                  </a:ext>
                </a:extLst>
              </a:tr>
              <a:tr h="352558">
                <a:tc>
                  <a:txBody>
                    <a:bodyPr/>
                    <a:lstStyle/>
                    <a:p>
                      <a:pPr marL="0" lvl="0" indent="0" algn="ctr" rtl="0">
                        <a:spcBef>
                          <a:spcPts val="0"/>
                        </a:spcBef>
                        <a:spcAft>
                          <a:spcPts val="0"/>
                        </a:spcAft>
                        <a:buNone/>
                      </a:pPr>
                      <a:r>
                        <a:rPr lang="en" sz="1400" b="1" dirty="0">
                          <a:solidFill>
                            <a:schemeClr val="bg1"/>
                          </a:solidFill>
                          <a:uFill>
                            <a:noFill/>
                          </a:uFill>
                          <a:latin typeface="Audiowide"/>
                          <a:ea typeface="Audiowide"/>
                          <a:cs typeface="Audiowide"/>
                          <a:sym typeface="Audiowide"/>
                        </a:rPr>
                        <a:t>B2508344</a:t>
                      </a:r>
                      <a:endParaRPr sz="1400" b="1" dirty="0">
                        <a:solidFill>
                          <a:schemeClr val="bg1"/>
                        </a:solidFill>
                        <a:latin typeface="Audiowide"/>
                        <a:ea typeface="Audiowide"/>
                        <a:cs typeface="Audiowide"/>
                        <a:sym typeface="Audiowide"/>
                      </a:endParaRPr>
                    </a:p>
                  </a:txBody>
                  <a:tcPr marL="91425" marR="91425" marT="91425" marB="91425">
                    <a:lnL w="9525" cap="flat" cmpd="sng">
                      <a:solidFill>
                        <a:schemeClr val="lt1">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0355F">
                        <a:alpha val="59069"/>
                      </a:srgbClr>
                    </a:solidFill>
                  </a:tcPr>
                </a:tc>
                <a:tc>
                  <a:txBody>
                    <a:bodyPr/>
                    <a:lstStyle/>
                    <a:p>
                      <a:pPr marL="0" lvl="0" indent="0" algn="ctr" rtl="0">
                        <a:spcBef>
                          <a:spcPts val="0"/>
                        </a:spcBef>
                        <a:spcAft>
                          <a:spcPts val="0"/>
                        </a:spcAft>
                        <a:buNone/>
                      </a:pPr>
                      <a:r>
                        <a:rPr lang="en" sz="1400" b="1" dirty="0">
                          <a:solidFill>
                            <a:schemeClr val="lt1"/>
                          </a:solidFill>
                          <a:latin typeface="Times New Roman" panose="02020603050405020304" pitchFamily="18" charset="0"/>
                          <a:ea typeface="Karla"/>
                          <a:cs typeface="Times New Roman" panose="02020603050405020304" pitchFamily="18" charset="0"/>
                          <a:sym typeface="Karla"/>
                        </a:rPr>
                        <a:t>Nguyễn Trương Thành An</a:t>
                      </a:r>
                      <a:endParaRPr sz="1400" b="1" dirty="0">
                        <a:solidFill>
                          <a:schemeClr val="lt1"/>
                        </a:solidFill>
                        <a:latin typeface="Times New Roman" panose="02020603050405020304" pitchFamily="18" charset="0"/>
                        <a:ea typeface="Karla"/>
                        <a:cs typeface="Times New Roman" panose="02020603050405020304" pitchFamily="18" charset="0"/>
                        <a:sym typeface="Karla"/>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0355F">
                        <a:alpha val="59069"/>
                      </a:srgbClr>
                    </a:solidFill>
                  </a:tcPr>
                </a:tc>
                <a:extLst>
                  <a:ext uri="{0D108BD9-81ED-4DB2-BD59-A6C34878D82A}">
                    <a16:rowId xmlns:a16="http://schemas.microsoft.com/office/drawing/2014/main" val="10004"/>
                  </a:ext>
                </a:extLst>
              </a:tr>
            </a:tbl>
          </a:graphicData>
        </a:graphic>
      </p:graphicFrame>
      <p:grpSp>
        <p:nvGrpSpPr>
          <p:cNvPr id="332" name="Google Shape;332;p31"/>
          <p:cNvGrpSpPr/>
          <p:nvPr/>
        </p:nvGrpSpPr>
        <p:grpSpPr>
          <a:xfrm>
            <a:off x="216232" y="3830296"/>
            <a:ext cx="288601" cy="1096693"/>
            <a:chOff x="1006700" y="2603975"/>
            <a:chExt cx="55450" cy="210700"/>
          </a:xfrm>
        </p:grpSpPr>
        <p:sp>
          <p:nvSpPr>
            <p:cNvPr id="333" name="Google Shape;333;p31"/>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1"/>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1"/>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1"/>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1"/>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1"/>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 name="Google Shape;339;p31"/>
          <p:cNvGrpSpPr/>
          <p:nvPr/>
        </p:nvGrpSpPr>
        <p:grpSpPr>
          <a:xfrm>
            <a:off x="8596681" y="736494"/>
            <a:ext cx="464268" cy="431989"/>
            <a:chOff x="827350" y="3629733"/>
            <a:chExt cx="1431600" cy="1332067"/>
          </a:xfrm>
        </p:grpSpPr>
        <p:sp>
          <p:nvSpPr>
            <p:cNvPr id="340" name="Google Shape;340;p31"/>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1"/>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1"/>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3" name="Google Shape;343;p31"/>
          <p:cNvGrpSpPr/>
          <p:nvPr/>
        </p:nvGrpSpPr>
        <p:grpSpPr>
          <a:xfrm>
            <a:off x="8596636" y="178169"/>
            <a:ext cx="356755" cy="331951"/>
            <a:chOff x="827350" y="3629733"/>
            <a:chExt cx="1431600" cy="1332067"/>
          </a:xfrm>
        </p:grpSpPr>
        <p:sp>
          <p:nvSpPr>
            <p:cNvPr id="344" name="Google Shape;344;p31"/>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1"/>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1"/>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0">
          <a:extLst>
            <a:ext uri="{FF2B5EF4-FFF2-40B4-BE49-F238E27FC236}">
              <a16:creationId xmlns:a16="http://schemas.microsoft.com/office/drawing/2014/main" id="{794B8F6F-1B85-97FE-C7A3-A994ED5DA084}"/>
            </a:ext>
          </a:extLst>
        </p:cNvPr>
        <p:cNvGrpSpPr/>
        <p:nvPr/>
      </p:nvGrpSpPr>
      <p:grpSpPr>
        <a:xfrm>
          <a:off x="0" y="0"/>
          <a:ext cx="0" cy="0"/>
          <a:chOff x="0" y="0"/>
          <a:chExt cx="0" cy="0"/>
        </a:xfrm>
      </p:grpSpPr>
      <p:sp>
        <p:nvSpPr>
          <p:cNvPr id="351" name="Google Shape;351;p32">
            <a:extLst>
              <a:ext uri="{FF2B5EF4-FFF2-40B4-BE49-F238E27FC236}">
                <a16:creationId xmlns:a16="http://schemas.microsoft.com/office/drawing/2014/main" id="{0478D0C0-E357-A9B7-BD6A-A814D6725EC1}"/>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2">
            <a:extLst>
              <a:ext uri="{FF2B5EF4-FFF2-40B4-BE49-F238E27FC236}">
                <a16:creationId xmlns:a16="http://schemas.microsoft.com/office/drawing/2014/main" id="{052F39C2-BCC1-B066-A42B-95BD702FF70F}"/>
              </a:ext>
            </a:extLst>
          </p:cNvPr>
          <p:cNvSpPr/>
          <p:nvPr/>
        </p:nvSpPr>
        <p:spPr>
          <a:xfrm>
            <a:off x="1475975" y="1282225"/>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2">
            <a:extLst>
              <a:ext uri="{FF2B5EF4-FFF2-40B4-BE49-F238E27FC236}">
                <a16:creationId xmlns:a16="http://schemas.microsoft.com/office/drawing/2014/main" id="{2330B93B-8801-3C4F-E2D5-263B8172DDC1}"/>
              </a:ext>
            </a:extLst>
          </p:cNvPr>
          <p:cNvSpPr/>
          <p:nvPr/>
        </p:nvSpPr>
        <p:spPr>
          <a:xfrm>
            <a:off x="4182000" y="1282225"/>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2">
            <a:extLst>
              <a:ext uri="{FF2B5EF4-FFF2-40B4-BE49-F238E27FC236}">
                <a16:creationId xmlns:a16="http://schemas.microsoft.com/office/drawing/2014/main" id="{6543594D-0118-07F3-DD28-F044A2416C5F}"/>
              </a:ext>
            </a:extLst>
          </p:cNvPr>
          <p:cNvSpPr/>
          <p:nvPr/>
        </p:nvSpPr>
        <p:spPr>
          <a:xfrm>
            <a:off x="6888025" y="1282225"/>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2">
            <a:extLst>
              <a:ext uri="{FF2B5EF4-FFF2-40B4-BE49-F238E27FC236}">
                <a16:creationId xmlns:a16="http://schemas.microsoft.com/office/drawing/2014/main" id="{B0BFDD79-6665-57E5-6CF5-392F64A3144A}"/>
              </a:ext>
            </a:extLst>
          </p:cNvPr>
          <p:cNvSpPr/>
          <p:nvPr/>
        </p:nvSpPr>
        <p:spPr>
          <a:xfrm>
            <a:off x="1475975" y="3127475"/>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2">
            <a:extLst>
              <a:ext uri="{FF2B5EF4-FFF2-40B4-BE49-F238E27FC236}">
                <a16:creationId xmlns:a16="http://schemas.microsoft.com/office/drawing/2014/main" id="{405F71A7-E49C-8461-596B-AA5BD7950E69}"/>
              </a:ext>
            </a:extLst>
          </p:cNvPr>
          <p:cNvSpPr/>
          <p:nvPr/>
        </p:nvSpPr>
        <p:spPr>
          <a:xfrm>
            <a:off x="4182000" y="3127475"/>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2">
            <a:extLst>
              <a:ext uri="{FF2B5EF4-FFF2-40B4-BE49-F238E27FC236}">
                <a16:creationId xmlns:a16="http://schemas.microsoft.com/office/drawing/2014/main" id="{EFBF29F4-436C-EED0-0BD6-A5FCFFE0D2D4}"/>
              </a:ext>
            </a:extLst>
          </p:cNvPr>
          <p:cNvSpPr/>
          <p:nvPr/>
        </p:nvSpPr>
        <p:spPr>
          <a:xfrm>
            <a:off x="6888025" y="3127475"/>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2">
            <a:extLst>
              <a:ext uri="{FF2B5EF4-FFF2-40B4-BE49-F238E27FC236}">
                <a16:creationId xmlns:a16="http://schemas.microsoft.com/office/drawing/2014/main" id="{401CF68D-EB88-3481-26FB-374766C9E37D}"/>
              </a:ext>
            </a:extLst>
          </p:cNvPr>
          <p:cNvSpPr txBox="1">
            <a:spLocks noGrp="1"/>
          </p:cNvSpPr>
          <p:nvPr>
            <p:ph type="subTitle" idx="5"/>
          </p:nvPr>
        </p:nvSpPr>
        <p:spPr>
          <a:xfrm>
            <a:off x="3419251" y="4114613"/>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en" dirty="0"/>
              <a:t>Dạy học, tạo nội dung, lập trình, …</a:t>
            </a:r>
            <a:endParaRPr dirty="0"/>
          </a:p>
        </p:txBody>
      </p:sp>
      <p:sp>
        <p:nvSpPr>
          <p:cNvPr id="359" name="Google Shape;359;p32">
            <a:extLst>
              <a:ext uri="{FF2B5EF4-FFF2-40B4-BE49-F238E27FC236}">
                <a16:creationId xmlns:a16="http://schemas.microsoft.com/office/drawing/2014/main" id="{21BD13A0-3FAE-BE68-CE48-8C34DE488FF1}"/>
              </a:ext>
            </a:extLst>
          </p:cNvPr>
          <p:cNvSpPr txBox="1">
            <a:spLocks noGrp="1"/>
          </p:cNvSpPr>
          <p:nvPr>
            <p:ph type="subTitle" idx="7"/>
          </p:nvPr>
        </p:nvSpPr>
        <p:spPr>
          <a:xfrm>
            <a:off x="3419251" y="22693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Sự hình thành và phát triển của</a:t>
            </a:r>
            <a:r>
              <a:rPr lang="en-US" dirty="0"/>
              <a:t> </a:t>
            </a:r>
            <a:r>
              <a:rPr lang="en-US" dirty="0" err="1"/>
              <a:t>các</a:t>
            </a:r>
            <a:r>
              <a:rPr lang="en-US" dirty="0"/>
              <a:t> chatbot AI</a:t>
            </a:r>
            <a:endParaRPr dirty="0"/>
          </a:p>
        </p:txBody>
      </p:sp>
      <p:sp>
        <p:nvSpPr>
          <p:cNvPr id="360" name="Google Shape;360;p32">
            <a:extLst>
              <a:ext uri="{FF2B5EF4-FFF2-40B4-BE49-F238E27FC236}">
                <a16:creationId xmlns:a16="http://schemas.microsoft.com/office/drawing/2014/main" id="{BDBFDE12-947D-BEDF-881E-DF28F4A3E3F2}"/>
              </a:ext>
            </a:extLst>
          </p:cNvPr>
          <p:cNvSpPr txBox="1">
            <a:spLocks noGrp="1"/>
          </p:cNvSpPr>
          <p:nvPr>
            <p:ph type="title" idx="21"/>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3200" b="1" dirty="0">
                <a:latin typeface="+mj-lt"/>
              </a:rPr>
              <a:t>NỘI DUNG</a:t>
            </a:r>
            <a:endParaRPr sz="3200" b="1" dirty="0">
              <a:latin typeface="+mj-lt"/>
            </a:endParaRPr>
          </a:p>
        </p:txBody>
      </p:sp>
      <p:sp>
        <p:nvSpPr>
          <p:cNvPr id="361" name="Google Shape;361;p32">
            <a:extLst>
              <a:ext uri="{FF2B5EF4-FFF2-40B4-BE49-F238E27FC236}">
                <a16:creationId xmlns:a16="http://schemas.microsoft.com/office/drawing/2014/main" id="{2DDD6110-A98C-F9D4-4162-D260CE4F8199}"/>
              </a:ext>
            </a:extLst>
          </p:cNvPr>
          <p:cNvSpPr txBox="1">
            <a:spLocks noGrp="1"/>
          </p:cNvSpPr>
          <p:nvPr>
            <p:ph type="title" idx="8"/>
          </p:nvPr>
        </p:nvSpPr>
        <p:spPr>
          <a:xfrm>
            <a:off x="1415374" y="1344775"/>
            <a:ext cx="901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362" name="Google Shape;362;p32">
            <a:extLst>
              <a:ext uri="{FF2B5EF4-FFF2-40B4-BE49-F238E27FC236}">
                <a16:creationId xmlns:a16="http://schemas.microsoft.com/office/drawing/2014/main" id="{0874DB9C-F006-866D-8A14-830447702FFA}"/>
              </a:ext>
            </a:extLst>
          </p:cNvPr>
          <p:cNvSpPr txBox="1">
            <a:spLocks noGrp="1"/>
          </p:cNvSpPr>
          <p:nvPr>
            <p:ph type="title" idx="9"/>
          </p:nvPr>
        </p:nvSpPr>
        <p:spPr>
          <a:xfrm>
            <a:off x="4121401" y="3190025"/>
            <a:ext cx="901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363" name="Google Shape;363;p32">
            <a:extLst>
              <a:ext uri="{FF2B5EF4-FFF2-40B4-BE49-F238E27FC236}">
                <a16:creationId xmlns:a16="http://schemas.microsoft.com/office/drawing/2014/main" id="{9D7C6E7C-C562-3573-F608-97F8F452B634}"/>
              </a:ext>
            </a:extLst>
          </p:cNvPr>
          <p:cNvSpPr txBox="1">
            <a:spLocks noGrp="1"/>
          </p:cNvSpPr>
          <p:nvPr>
            <p:ph type="title" idx="15"/>
          </p:nvPr>
        </p:nvSpPr>
        <p:spPr>
          <a:xfrm>
            <a:off x="6118450" y="3996503"/>
            <a:ext cx="2305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dirty="0">
                <a:latin typeface="+mj-lt"/>
              </a:rPr>
              <a:t>ĐÁNH GIÁ NGUỒN CRAAP</a:t>
            </a:r>
            <a:endParaRPr b="1" dirty="0">
              <a:latin typeface="+mj-lt"/>
            </a:endParaRPr>
          </a:p>
        </p:txBody>
      </p:sp>
      <p:sp>
        <p:nvSpPr>
          <p:cNvPr id="364" name="Google Shape;364;p32">
            <a:extLst>
              <a:ext uri="{FF2B5EF4-FFF2-40B4-BE49-F238E27FC236}">
                <a16:creationId xmlns:a16="http://schemas.microsoft.com/office/drawing/2014/main" id="{83685DD8-EF36-2BDE-27A8-A8FE3A2A237D}"/>
              </a:ext>
            </a:extLst>
          </p:cNvPr>
          <p:cNvSpPr txBox="1">
            <a:spLocks noGrp="1"/>
          </p:cNvSpPr>
          <p:nvPr>
            <p:ph type="title"/>
          </p:nvPr>
        </p:nvSpPr>
        <p:spPr>
          <a:xfrm>
            <a:off x="713224" y="1835250"/>
            <a:ext cx="2305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b="1" dirty="0">
                <a:latin typeface="+mn-lt"/>
              </a:rPr>
              <a:t>Giới thiệu</a:t>
            </a:r>
            <a:endParaRPr b="1" dirty="0">
              <a:latin typeface="+mn-lt"/>
            </a:endParaRPr>
          </a:p>
        </p:txBody>
      </p:sp>
      <p:sp>
        <p:nvSpPr>
          <p:cNvPr id="365" name="Google Shape;365;p32">
            <a:extLst>
              <a:ext uri="{FF2B5EF4-FFF2-40B4-BE49-F238E27FC236}">
                <a16:creationId xmlns:a16="http://schemas.microsoft.com/office/drawing/2014/main" id="{8F52798F-5711-F10A-3D90-5B64A52FEBE4}"/>
              </a:ext>
            </a:extLst>
          </p:cNvPr>
          <p:cNvSpPr txBox="1">
            <a:spLocks noGrp="1"/>
          </p:cNvSpPr>
          <p:nvPr>
            <p:ph type="subTitle" idx="1"/>
          </p:nvPr>
        </p:nvSpPr>
        <p:spPr>
          <a:xfrm>
            <a:off x="713224" y="22693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vi-VN" dirty="0"/>
              <a:t>Mục tiêu và phạm vi nghiên cứu</a:t>
            </a:r>
            <a:endParaRPr dirty="0"/>
          </a:p>
        </p:txBody>
      </p:sp>
      <p:sp>
        <p:nvSpPr>
          <p:cNvPr id="366" name="Google Shape;366;p32">
            <a:extLst>
              <a:ext uri="{FF2B5EF4-FFF2-40B4-BE49-F238E27FC236}">
                <a16:creationId xmlns:a16="http://schemas.microsoft.com/office/drawing/2014/main" id="{B7A2864E-0463-0B6A-2A77-16A2790064E4}"/>
              </a:ext>
            </a:extLst>
          </p:cNvPr>
          <p:cNvSpPr txBox="1">
            <a:spLocks noGrp="1"/>
          </p:cNvSpPr>
          <p:nvPr>
            <p:ph type="title" idx="2"/>
          </p:nvPr>
        </p:nvSpPr>
        <p:spPr>
          <a:xfrm>
            <a:off x="530797" y="3869649"/>
            <a:ext cx="2567005"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b="1" dirty="0">
                <a:latin typeface="+mn-lt"/>
              </a:rPr>
              <a:t>ƯU ĐIỂM VÀ NHƯỢC ĐIỂM</a:t>
            </a:r>
            <a:endParaRPr b="1" dirty="0">
              <a:latin typeface="+mn-lt"/>
            </a:endParaRPr>
          </a:p>
        </p:txBody>
      </p:sp>
      <p:sp>
        <p:nvSpPr>
          <p:cNvPr id="368" name="Google Shape;368;p32">
            <a:extLst>
              <a:ext uri="{FF2B5EF4-FFF2-40B4-BE49-F238E27FC236}">
                <a16:creationId xmlns:a16="http://schemas.microsoft.com/office/drawing/2014/main" id="{4F78DFE4-B058-8690-8AE2-C5E7D2E38266}"/>
              </a:ext>
            </a:extLst>
          </p:cNvPr>
          <p:cNvSpPr txBox="1">
            <a:spLocks noGrp="1"/>
          </p:cNvSpPr>
          <p:nvPr>
            <p:ph type="title" idx="4"/>
          </p:nvPr>
        </p:nvSpPr>
        <p:spPr>
          <a:xfrm>
            <a:off x="3143725" y="3700175"/>
            <a:ext cx="2981549"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dirty="0">
                <a:latin typeface="+mj-lt"/>
              </a:rPr>
              <a:t>ỨNG DỤNG THỰC TẾ</a:t>
            </a:r>
            <a:endParaRPr b="1" dirty="0">
              <a:latin typeface="+mj-lt"/>
            </a:endParaRPr>
          </a:p>
        </p:txBody>
      </p:sp>
      <p:sp>
        <p:nvSpPr>
          <p:cNvPr id="369" name="Google Shape;369;p32">
            <a:extLst>
              <a:ext uri="{FF2B5EF4-FFF2-40B4-BE49-F238E27FC236}">
                <a16:creationId xmlns:a16="http://schemas.microsoft.com/office/drawing/2014/main" id="{AC2D14FD-CB86-D736-3477-091CC32392A8}"/>
              </a:ext>
            </a:extLst>
          </p:cNvPr>
          <p:cNvSpPr txBox="1">
            <a:spLocks noGrp="1"/>
          </p:cNvSpPr>
          <p:nvPr>
            <p:ph type="title" idx="6"/>
          </p:nvPr>
        </p:nvSpPr>
        <p:spPr>
          <a:xfrm>
            <a:off x="3212213" y="1835250"/>
            <a:ext cx="2706023"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b="1" dirty="0">
                <a:latin typeface="+mn-lt"/>
              </a:rPr>
              <a:t>Lịch sử phát triển</a:t>
            </a:r>
            <a:endParaRPr b="1" dirty="0">
              <a:latin typeface="+mn-lt"/>
            </a:endParaRPr>
          </a:p>
        </p:txBody>
      </p:sp>
      <p:sp>
        <p:nvSpPr>
          <p:cNvPr id="370" name="Google Shape;370;p32">
            <a:extLst>
              <a:ext uri="{FF2B5EF4-FFF2-40B4-BE49-F238E27FC236}">
                <a16:creationId xmlns:a16="http://schemas.microsoft.com/office/drawing/2014/main" id="{A4B321AF-170A-3D76-E5B2-B26B5B44A5A4}"/>
              </a:ext>
            </a:extLst>
          </p:cNvPr>
          <p:cNvSpPr txBox="1">
            <a:spLocks noGrp="1"/>
          </p:cNvSpPr>
          <p:nvPr>
            <p:ph type="title" idx="13"/>
          </p:nvPr>
        </p:nvSpPr>
        <p:spPr>
          <a:xfrm>
            <a:off x="1415374" y="3190025"/>
            <a:ext cx="901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371" name="Google Shape;371;p32">
            <a:extLst>
              <a:ext uri="{FF2B5EF4-FFF2-40B4-BE49-F238E27FC236}">
                <a16:creationId xmlns:a16="http://schemas.microsoft.com/office/drawing/2014/main" id="{2299059D-4C3F-152B-3965-DA94FCE539F0}"/>
              </a:ext>
            </a:extLst>
          </p:cNvPr>
          <p:cNvSpPr txBox="1">
            <a:spLocks noGrp="1"/>
          </p:cNvSpPr>
          <p:nvPr>
            <p:ph type="title" idx="14"/>
          </p:nvPr>
        </p:nvSpPr>
        <p:spPr>
          <a:xfrm>
            <a:off x="4121401" y="1344775"/>
            <a:ext cx="901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73" name="Google Shape;373;p32">
            <a:extLst>
              <a:ext uri="{FF2B5EF4-FFF2-40B4-BE49-F238E27FC236}">
                <a16:creationId xmlns:a16="http://schemas.microsoft.com/office/drawing/2014/main" id="{83FFCFBF-601E-F990-F420-3BE4503348A8}"/>
              </a:ext>
            </a:extLst>
          </p:cNvPr>
          <p:cNvSpPr txBox="1">
            <a:spLocks noGrp="1"/>
          </p:cNvSpPr>
          <p:nvPr>
            <p:ph type="title" idx="17"/>
          </p:nvPr>
        </p:nvSpPr>
        <p:spPr>
          <a:xfrm>
            <a:off x="5685976" y="1839604"/>
            <a:ext cx="3180113"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800" b="1" dirty="0">
                <a:latin typeface="+mj-lt"/>
              </a:rPr>
              <a:t>CÁC KHÍA CẠNH CHÍNH</a:t>
            </a:r>
            <a:endParaRPr sz="1800" b="1" dirty="0">
              <a:latin typeface="+mj-lt"/>
            </a:endParaRPr>
          </a:p>
        </p:txBody>
      </p:sp>
      <p:sp>
        <p:nvSpPr>
          <p:cNvPr id="374" name="Google Shape;374;p32">
            <a:extLst>
              <a:ext uri="{FF2B5EF4-FFF2-40B4-BE49-F238E27FC236}">
                <a16:creationId xmlns:a16="http://schemas.microsoft.com/office/drawing/2014/main" id="{75FA999B-DDFF-3F8D-0FB7-7142092D31F0}"/>
              </a:ext>
            </a:extLst>
          </p:cNvPr>
          <p:cNvSpPr txBox="1">
            <a:spLocks noGrp="1"/>
          </p:cNvSpPr>
          <p:nvPr>
            <p:ph type="subTitle" idx="18"/>
          </p:nvPr>
        </p:nvSpPr>
        <p:spPr>
          <a:xfrm>
            <a:off x="6125276" y="22693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en" dirty="0"/>
              <a:t>Tính nổi bật, mô hình kiến trúc, khả năng xử lí,…</a:t>
            </a:r>
            <a:endParaRPr dirty="0"/>
          </a:p>
        </p:txBody>
      </p:sp>
      <p:sp>
        <p:nvSpPr>
          <p:cNvPr id="375" name="Google Shape;375;p32">
            <a:extLst>
              <a:ext uri="{FF2B5EF4-FFF2-40B4-BE49-F238E27FC236}">
                <a16:creationId xmlns:a16="http://schemas.microsoft.com/office/drawing/2014/main" id="{653769B5-53C7-0610-71BB-333A833EB676}"/>
              </a:ext>
            </a:extLst>
          </p:cNvPr>
          <p:cNvSpPr txBox="1">
            <a:spLocks noGrp="1"/>
          </p:cNvSpPr>
          <p:nvPr>
            <p:ph type="title" idx="19"/>
          </p:nvPr>
        </p:nvSpPr>
        <p:spPr>
          <a:xfrm>
            <a:off x="6827426" y="3190025"/>
            <a:ext cx="901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376" name="Google Shape;376;p32">
            <a:extLst>
              <a:ext uri="{FF2B5EF4-FFF2-40B4-BE49-F238E27FC236}">
                <a16:creationId xmlns:a16="http://schemas.microsoft.com/office/drawing/2014/main" id="{A9575A30-8130-9AC4-2111-794F0205D898}"/>
              </a:ext>
            </a:extLst>
          </p:cNvPr>
          <p:cNvSpPr txBox="1">
            <a:spLocks noGrp="1"/>
          </p:cNvSpPr>
          <p:nvPr>
            <p:ph type="title" idx="20"/>
          </p:nvPr>
        </p:nvSpPr>
        <p:spPr>
          <a:xfrm>
            <a:off x="6827426" y="1344775"/>
            <a:ext cx="901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grpSp>
        <p:nvGrpSpPr>
          <p:cNvPr id="377" name="Google Shape;377;p32">
            <a:extLst>
              <a:ext uri="{FF2B5EF4-FFF2-40B4-BE49-F238E27FC236}">
                <a16:creationId xmlns:a16="http://schemas.microsoft.com/office/drawing/2014/main" id="{9AD266B9-7D48-868B-8F57-273ACC4A4FF4}"/>
              </a:ext>
            </a:extLst>
          </p:cNvPr>
          <p:cNvGrpSpPr/>
          <p:nvPr/>
        </p:nvGrpSpPr>
        <p:grpSpPr>
          <a:xfrm rot="5400000">
            <a:off x="8179407" y="4316346"/>
            <a:ext cx="288601" cy="1096693"/>
            <a:chOff x="1006700" y="2603975"/>
            <a:chExt cx="55450" cy="210700"/>
          </a:xfrm>
        </p:grpSpPr>
        <p:sp>
          <p:nvSpPr>
            <p:cNvPr id="378" name="Google Shape;378;p32">
              <a:extLst>
                <a:ext uri="{FF2B5EF4-FFF2-40B4-BE49-F238E27FC236}">
                  <a16:creationId xmlns:a16="http://schemas.microsoft.com/office/drawing/2014/main" id="{FE009E73-3A49-252F-687F-F878246FA7C2}"/>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2">
              <a:extLst>
                <a:ext uri="{FF2B5EF4-FFF2-40B4-BE49-F238E27FC236}">
                  <a16:creationId xmlns:a16="http://schemas.microsoft.com/office/drawing/2014/main" id="{5EDC9E34-6FB3-4543-8FD5-860E55D4D687}"/>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2">
              <a:extLst>
                <a:ext uri="{FF2B5EF4-FFF2-40B4-BE49-F238E27FC236}">
                  <a16:creationId xmlns:a16="http://schemas.microsoft.com/office/drawing/2014/main" id="{9EA080EC-71C7-5E43-842C-34C2A33562E8}"/>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2">
              <a:extLst>
                <a:ext uri="{FF2B5EF4-FFF2-40B4-BE49-F238E27FC236}">
                  <a16:creationId xmlns:a16="http://schemas.microsoft.com/office/drawing/2014/main" id="{805D951A-EC4C-C358-C2C6-9F34B08DED2F}"/>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2">
              <a:extLst>
                <a:ext uri="{FF2B5EF4-FFF2-40B4-BE49-F238E27FC236}">
                  <a16:creationId xmlns:a16="http://schemas.microsoft.com/office/drawing/2014/main" id="{3C7EF636-5358-2F89-8C03-1C06DD546C7B}"/>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2">
              <a:extLst>
                <a:ext uri="{FF2B5EF4-FFF2-40B4-BE49-F238E27FC236}">
                  <a16:creationId xmlns:a16="http://schemas.microsoft.com/office/drawing/2014/main" id="{4E41EB5A-2C9F-B80F-A276-17876B07742D}"/>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 name="Google Shape;384;p32">
            <a:extLst>
              <a:ext uri="{FF2B5EF4-FFF2-40B4-BE49-F238E27FC236}">
                <a16:creationId xmlns:a16="http://schemas.microsoft.com/office/drawing/2014/main" id="{0AFF2333-9804-D652-7033-AE59C3153961}"/>
              </a:ext>
            </a:extLst>
          </p:cNvPr>
          <p:cNvGrpSpPr/>
          <p:nvPr/>
        </p:nvGrpSpPr>
        <p:grpSpPr>
          <a:xfrm>
            <a:off x="57111" y="583985"/>
            <a:ext cx="520959" cy="484739"/>
            <a:chOff x="827350" y="3629733"/>
            <a:chExt cx="1431600" cy="1332067"/>
          </a:xfrm>
        </p:grpSpPr>
        <p:sp>
          <p:nvSpPr>
            <p:cNvPr id="385" name="Google Shape;385;p32">
              <a:extLst>
                <a:ext uri="{FF2B5EF4-FFF2-40B4-BE49-F238E27FC236}">
                  <a16:creationId xmlns:a16="http://schemas.microsoft.com/office/drawing/2014/main" id="{1A86F728-E8B9-E83C-8CAB-BC009FDD060B}"/>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2">
              <a:extLst>
                <a:ext uri="{FF2B5EF4-FFF2-40B4-BE49-F238E27FC236}">
                  <a16:creationId xmlns:a16="http://schemas.microsoft.com/office/drawing/2014/main" id="{C9E6B36B-3381-5DCA-218F-A6D36759E66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2">
              <a:extLst>
                <a:ext uri="{FF2B5EF4-FFF2-40B4-BE49-F238E27FC236}">
                  <a16:creationId xmlns:a16="http://schemas.microsoft.com/office/drawing/2014/main" id="{9951FBBF-D3BC-515C-6D07-7BC90687E4BD}"/>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32">
            <a:extLst>
              <a:ext uri="{FF2B5EF4-FFF2-40B4-BE49-F238E27FC236}">
                <a16:creationId xmlns:a16="http://schemas.microsoft.com/office/drawing/2014/main" id="{63D2CAA3-0D37-8932-A0D2-790F9173B638}"/>
              </a:ext>
            </a:extLst>
          </p:cNvPr>
          <p:cNvGrpSpPr/>
          <p:nvPr/>
        </p:nvGrpSpPr>
        <p:grpSpPr>
          <a:xfrm>
            <a:off x="409461" y="85600"/>
            <a:ext cx="409581" cy="381104"/>
            <a:chOff x="827350" y="3629733"/>
            <a:chExt cx="1431600" cy="1332067"/>
          </a:xfrm>
        </p:grpSpPr>
        <p:sp>
          <p:nvSpPr>
            <p:cNvPr id="389" name="Google Shape;389;p32">
              <a:extLst>
                <a:ext uri="{FF2B5EF4-FFF2-40B4-BE49-F238E27FC236}">
                  <a16:creationId xmlns:a16="http://schemas.microsoft.com/office/drawing/2014/main" id="{0298DA47-BAB6-7E51-492F-283AAAE64E0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2">
              <a:extLst>
                <a:ext uri="{FF2B5EF4-FFF2-40B4-BE49-F238E27FC236}">
                  <a16:creationId xmlns:a16="http://schemas.microsoft.com/office/drawing/2014/main" id="{CFACE539-ED5F-3E47-0B7F-7DEA4FEA929A}"/>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2">
              <a:extLst>
                <a:ext uri="{FF2B5EF4-FFF2-40B4-BE49-F238E27FC236}">
                  <a16:creationId xmlns:a16="http://schemas.microsoft.com/office/drawing/2014/main" id="{B0024AEA-2D35-9A36-AB6C-EBF9B066230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831940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2"/>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2"/>
          <p:cNvSpPr/>
          <p:nvPr/>
        </p:nvSpPr>
        <p:spPr>
          <a:xfrm>
            <a:off x="2699780" y="1997483"/>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2"/>
          <p:cNvSpPr/>
          <p:nvPr/>
        </p:nvSpPr>
        <p:spPr>
          <a:xfrm>
            <a:off x="5880172" y="2018725"/>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2"/>
          <p:cNvSpPr txBox="1">
            <a:spLocks noGrp="1"/>
          </p:cNvSpPr>
          <p:nvPr>
            <p:ph type="title" idx="21"/>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3200" b="1" dirty="0">
                <a:latin typeface="+mj-lt"/>
              </a:rPr>
              <a:t>NỘI DUNG</a:t>
            </a:r>
            <a:endParaRPr sz="3200" b="1" dirty="0">
              <a:latin typeface="+mj-lt"/>
            </a:endParaRPr>
          </a:p>
        </p:txBody>
      </p:sp>
      <p:sp>
        <p:nvSpPr>
          <p:cNvPr id="361" name="Google Shape;361;p32"/>
          <p:cNvSpPr txBox="1">
            <a:spLocks noGrp="1"/>
          </p:cNvSpPr>
          <p:nvPr>
            <p:ph type="title" idx="8"/>
          </p:nvPr>
        </p:nvSpPr>
        <p:spPr>
          <a:xfrm>
            <a:off x="2639179" y="2081275"/>
            <a:ext cx="901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7</a:t>
            </a:r>
            <a:endParaRPr dirty="0"/>
          </a:p>
        </p:txBody>
      </p:sp>
      <p:sp>
        <p:nvSpPr>
          <p:cNvPr id="364" name="Google Shape;364;p32"/>
          <p:cNvSpPr txBox="1">
            <a:spLocks noGrp="1"/>
          </p:cNvSpPr>
          <p:nvPr>
            <p:ph type="title"/>
          </p:nvPr>
        </p:nvSpPr>
        <p:spPr>
          <a:xfrm>
            <a:off x="1603101" y="2835600"/>
            <a:ext cx="2973356"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b="1" dirty="0">
                <a:latin typeface="+mn-lt"/>
              </a:rPr>
              <a:t>YẾU TỐ ĐẠO ĐỨC VÀ BẢO MẬT</a:t>
            </a:r>
            <a:endParaRPr b="1" dirty="0">
              <a:latin typeface="+mn-lt"/>
            </a:endParaRPr>
          </a:p>
        </p:txBody>
      </p:sp>
      <p:sp>
        <p:nvSpPr>
          <p:cNvPr id="369" name="Google Shape;369;p32"/>
          <p:cNvSpPr txBox="1">
            <a:spLocks noGrp="1"/>
          </p:cNvSpPr>
          <p:nvPr>
            <p:ph type="title" idx="6"/>
          </p:nvPr>
        </p:nvSpPr>
        <p:spPr>
          <a:xfrm>
            <a:off x="4910385" y="2571750"/>
            <a:ext cx="2706023"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b="1" dirty="0">
                <a:latin typeface="+mn-lt"/>
              </a:rPr>
              <a:t>KẾT LUẬN</a:t>
            </a:r>
            <a:endParaRPr b="1" dirty="0">
              <a:latin typeface="+mn-lt"/>
            </a:endParaRPr>
          </a:p>
        </p:txBody>
      </p:sp>
      <p:sp>
        <p:nvSpPr>
          <p:cNvPr id="371" name="Google Shape;371;p32"/>
          <p:cNvSpPr txBox="1">
            <a:spLocks noGrp="1"/>
          </p:cNvSpPr>
          <p:nvPr>
            <p:ph type="title" idx="14"/>
          </p:nvPr>
        </p:nvSpPr>
        <p:spPr>
          <a:xfrm>
            <a:off x="5819573" y="2081275"/>
            <a:ext cx="901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8</a:t>
            </a:r>
            <a:endParaRPr dirty="0"/>
          </a:p>
        </p:txBody>
      </p:sp>
      <p:grpSp>
        <p:nvGrpSpPr>
          <p:cNvPr id="377" name="Google Shape;377;p32"/>
          <p:cNvGrpSpPr/>
          <p:nvPr/>
        </p:nvGrpSpPr>
        <p:grpSpPr>
          <a:xfrm rot="5400000">
            <a:off x="8179407" y="4316346"/>
            <a:ext cx="288601" cy="1096693"/>
            <a:chOff x="1006700" y="2603975"/>
            <a:chExt cx="55450" cy="210700"/>
          </a:xfrm>
        </p:grpSpPr>
        <p:sp>
          <p:nvSpPr>
            <p:cNvPr id="378" name="Google Shape;378;p32"/>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2"/>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2"/>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2"/>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2"/>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2"/>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 name="Google Shape;384;p32"/>
          <p:cNvGrpSpPr/>
          <p:nvPr/>
        </p:nvGrpSpPr>
        <p:grpSpPr>
          <a:xfrm>
            <a:off x="57111" y="583985"/>
            <a:ext cx="520959" cy="484739"/>
            <a:chOff x="827350" y="3629733"/>
            <a:chExt cx="1431600" cy="1332067"/>
          </a:xfrm>
        </p:grpSpPr>
        <p:sp>
          <p:nvSpPr>
            <p:cNvPr id="385" name="Google Shape;385;p32"/>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2"/>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2"/>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32"/>
          <p:cNvGrpSpPr/>
          <p:nvPr/>
        </p:nvGrpSpPr>
        <p:grpSpPr>
          <a:xfrm>
            <a:off x="409461" y="85600"/>
            <a:ext cx="409581" cy="381104"/>
            <a:chOff x="827350" y="3629733"/>
            <a:chExt cx="1431600" cy="1332067"/>
          </a:xfrm>
        </p:grpSpPr>
        <p:sp>
          <p:nvSpPr>
            <p:cNvPr id="389" name="Google Shape;389;p32"/>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2"/>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2"/>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33"/>
          <p:cNvSpPr/>
          <p:nvPr/>
        </p:nvSpPr>
        <p:spPr>
          <a:xfrm>
            <a:off x="1339813" y="1228150"/>
            <a:ext cx="2911500" cy="24768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p:cNvSpPr txBox="1">
            <a:spLocks noGrp="1"/>
          </p:cNvSpPr>
          <p:nvPr>
            <p:ph type="title"/>
          </p:nvPr>
        </p:nvSpPr>
        <p:spPr>
          <a:xfrm>
            <a:off x="4491888" y="1682463"/>
            <a:ext cx="3312300" cy="111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1" dirty="0">
                <a:latin typeface="+mj-lt"/>
              </a:rPr>
              <a:t>GIỚI THIỆU</a:t>
            </a:r>
            <a:endParaRPr b="1" dirty="0">
              <a:latin typeface="+mj-lt"/>
            </a:endParaRPr>
          </a:p>
        </p:txBody>
      </p:sp>
      <p:sp>
        <p:nvSpPr>
          <p:cNvPr id="398" name="Google Shape;398;p33"/>
          <p:cNvSpPr txBox="1">
            <a:spLocks noGrp="1"/>
          </p:cNvSpPr>
          <p:nvPr>
            <p:ph type="subTitle" idx="1"/>
          </p:nvPr>
        </p:nvSpPr>
        <p:spPr>
          <a:xfrm>
            <a:off x="4491888" y="2851113"/>
            <a:ext cx="3312300" cy="60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MỤC TIÊU VÀ PHẠM VI NGHIÊN CỨU</a:t>
            </a:r>
            <a:endParaRPr dirty="0"/>
          </a:p>
        </p:txBody>
      </p:sp>
      <p:sp>
        <p:nvSpPr>
          <p:cNvPr id="399" name="Google Shape;399;p33"/>
          <p:cNvSpPr txBox="1">
            <a:spLocks noGrp="1"/>
          </p:cNvSpPr>
          <p:nvPr>
            <p:ph type="title" idx="2"/>
          </p:nvPr>
        </p:nvSpPr>
        <p:spPr>
          <a:xfrm>
            <a:off x="1931113" y="1872250"/>
            <a:ext cx="1728900" cy="118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400" name="Google Shape;400;p33"/>
          <p:cNvGrpSpPr/>
          <p:nvPr/>
        </p:nvGrpSpPr>
        <p:grpSpPr>
          <a:xfrm rot="10800000">
            <a:off x="8057882" y="382596"/>
            <a:ext cx="288601" cy="1096693"/>
            <a:chOff x="1006700" y="2603975"/>
            <a:chExt cx="55450" cy="210700"/>
          </a:xfrm>
        </p:grpSpPr>
        <p:sp>
          <p:nvSpPr>
            <p:cNvPr id="401" name="Google Shape;401;p33"/>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p:cNvGrpSpPr/>
          <p:nvPr/>
        </p:nvGrpSpPr>
        <p:grpSpPr>
          <a:xfrm>
            <a:off x="558602" y="508321"/>
            <a:ext cx="781224" cy="726909"/>
            <a:chOff x="827350" y="3629733"/>
            <a:chExt cx="1431600" cy="1332067"/>
          </a:xfrm>
        </p:grpSpPr>
        <p:sp>
          <p:nvSpPr>
            <p:cNvPr id="408" name="Google Shape;408;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p:cNvGrpSpPr/>
          <p:nvPr/>
        </p:nvGrpSpPr>
        <p:grpSpPr>
          <a:xfrm>
            <a:off x="1387564" y="321673"/>
            <a:ext cx="356325" cy="331552"/>
            <a:chOff x="827350" y="3629733"/>
            <a:chExt cx="1431600" cy="1332067"/>
          </a:xfrm>
        </p:grpSpPr>
        <p:sp>
          <p:nvSpPr>
            <p:cNvPr id="412" name="Google Shape;412;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p:cNvGrpSpPr/>
          <p:nvPr/>
        </p:nvGrpSpPr>
        <p:grpSpPr>
          <a:xfrm>
            <a:off x="7535601" y="3848738"/>
            <a:ext cx="895180" cy="832942"/>
            <a:chOff x="827350" y="3629733"/>
            <a:chExt cx="1431600" cy="1332067"/>
          </a:xfrm>
        </p:grpSpPr>
        <p:sp>
          <p:nvSpPr>
            <p:cNvPr id="416" name="Google Shape;416;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p:cNvGrpSpPr/>
          <p:nvPr/>
        </p:nvGrpSpPr>
        <p:grpSpPr>
          <a:xfrm>
            <a:off x="7902683" y="2980240"/>
            <a:ext cx="598982" cy="557337"/>
            <a:chOff x="827350" y="3629733"/>
            <a:chExt cx="1431600" cy="1332067"/>
          </a:xfrm>
        </p:grpSpPr>
        <p:sp>
          <p:nvSpPr>
            <p:cNvPr id="420" name="Google Shape;420;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p:cNvGrpSpPr/>
          <p:nvPr/>
        </p:nvGrpSpPr>
        <p:grpSpPr>
          <a:xfrm>
            <a:off x="6634531" y="4239131"/>
            <a:ext cx="464268" cy="431989"/>
            <a:chOff x="827350" y="3629733"/>
            <a:chExt cx="1431600" cy="1332067"/>
          </a:xfrm>
        </p:grpSpPr>
        <p:sp>
          <p:nvSpPr>
            <p:cNvPr id="424" name="Google Shape;424;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p:cNvGrpSpPr/>
          <p:nvPr/>
        </p:nvGrpSpPr>
        <p:grpSpPr>
          <a:xfrm rot="5400000">
            <a:off x="962657" y="3906771"/>
            <a:ext cx="288601" cy="1096693"/>
            <a:chOff x="1006700" y="2603975"/>
            <a:chExt cx="55450" cy="210700"/>
          </a:xfrm>
        </p:grpSpPr>
        <p:sp>
          <p:nvSpPr>
            <p:cNvPr id="428" name="Google Shape;428;p33"/>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42"/>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mj-lt"/>
              </a:rPr>
              <a:t>CHƯƠNG 1</a:t>
            </a:r>
            <a:endParaRPr b="1" dirty="0">
              <a:latin typeface="+mj-lt"/>
            </a:endParaRPr>
          </a:p>
        </p:txBody>
      </p:sp>
      <p:sp>
        <p:nvSpPr>
          <p:cNvPr id="796" name="Google Shape;796;p42"/>
          <p:cNvSpPr txBox="1">
            <a:spLocks noGrp="1"/>
          </p:cNvSpPr>
          <p:nvPr>
            <p:ph type="body" idx="1"/>
          </p:nvPr>
        </p:nvSpPr>
        <p:spPr>
          <a:xfrm>
            <a:off x="720000" y="1456400"/>
            <a:ext cx="7704000" cy="2594700"/>
          </a:xfrm>
          <a:prstGeom prst="rect">
            <a:avLst/>
          </a:prstGeom>
        </p:spPr>
        <p:txBody>
          <a:bodyPr spcFirstLastPara="1" wrap="square" lIns="91425" tIns="91425" rIns="91425" bIns="91425" anchor="t" anchorCtr="0">
            <a:noAutofit/>
          </a:bodyPr>
          <a:lstStyle/>
          <a:p>
            <a:pPr lvl="1"/>
            <a:r>
              <a:rPr lang="vi-VN" b="1" dirty="0">
                <a:latin typeface="+mj-lt"/>
              </a:rPr>
              <a:t>Mục tiêu </a:t>
            </a:r>
          </a:p>
          <a:p>
            <a:r>
              <a:rPr lang="vi-VN" dirty="0">
                <a:latin typeface="+mj-lt"/>
              </a:rPr>
              <a:t>Đề tài này tập trung vào việc so sánh bốn hệ thống trí tuệ nhân tạo (AI) nổi bật: ChatGPT (OpenAI), Gemini (Google DeepMind), DeepSeek (Trung Quốc) và Grok (</a:t>
            </a:r>
            <a:r>
              <a:rPr lang="en-US" dirty="0" err="1">
                <a:latin typeface="+mj-lt"/>
              </a:rPr>
              <a:t>xAI</a:t>
            </a:r>
            <a:r>
              <a:rPr lang="vi-VN" dirty="0">
                <a:latin typeface="+mj-lt"/>
              </a:rPr>
              <a:t>của Elon Musk). Mục tiêu chính là làm rõ sự khác biệt về phát triển, tính năng và ứng dụng thực tế, giúp người đọc hiểu rõ hơn về vai trò của các mô hình này trong bối cảnh AI đang phát triển nhanh chóng. </a:t>
            </a:r>
            <a:endParaRPr lang="en-US" dirty="0">
              <a:latin typeface="+mj-lt"/>
            </a:endParaRPr>
          </a:p>
          <a:p>
            <a:pPr lvl="1"/>
            <a:r>
              <a:rPr lang="vi-VN" b="1" dirty="0">
                <a:latin typeface="+mj-lt"/>
              </a:rPr>
              <a:t>Phạm vi</a:t>
            </a:r>
          </a:p>
          <a:p>
            <a:r>
              <a:rPr lang="vi-VN" dirty="0">
                <a:latin typeface="+mj-lt"/>
              </a:rPr>
              <a:t>Phạm vi nghiên cứu giới hạn ở việc so sánh bốn hệ A</a:t>
            </a:r>
            <a:r>
              <a:rPr lang="en-US" dirty="0">
                <a:latin typeface="+mj-lt"/>
              </a:rPr>
              <a:t>I :</a:t>
            </a:r>
            <a:endParaRPr lang="vi-VN" dirty="0">
              <a:latin typeface="+mj-lt"/>
            </a:endParaRPr>
          </a:p>
          <a:p>
            <a:pPr lvl="0"/>
            <a:r>
              <a:rPr lang="vi-VN" dirty="0">
                <a:latin typeface="+mj-lt"/>
              </a:rPr>
              <a:t>Chat GPT (OpenAI)</a:t>
            </a:r>
          </a:p>
          <a:p>
            <a:pPr lvl="0"/>
            <a:r>
              <a:rPr lang="vi-VN" dirty="0">
                <a:latin typeface="+mj-lt"/>
              </a:rPr>
              <a:t>Gemini (Google Deepmind)</a:t>
            </a:r>
          </a:p>
          <a:p>
            <a:pPr lvl="0"/>
            <a:r>
              <a:rPr lang="vi-VN" dirty="0">
                <a:latin typeface="+mj-lt"/>
              </a:rPr>
              <a:t>DeepSeek (công ty DeepSeek)</a:t>
            </a:r>
          </a:p>
          <a:p>
            <a:pPr lvl="0"/>
            <a:r>
              <a:rPr lang="vi-VN" dirty="0">
                <a:latin typeface="+mj-lt"/>
              </a:rPr>
              <a:t>Grok (Elon Musk) </a:t>
            </a:r>
          </a:p>
          <a:p>
            <a:pPr marL="152400" indent="0">
              <a:buNone/>
            </a:pPr>
            <a:r>
              <a:rPr lang="vi-VN" dirty="0">
                <a:latin typeface="+mj-lt"/>
              </a:rPr>
              <a:t>Dựa trên dữ liệu cập nhật đến năm 2025. Các khía cạnh chính bao gồm lịch sử phát triển, tính năng kỹ thuật, ứng dụng thực tế và vấn đề đạo đức, ... </a:t>
            </a:r>
          </a:p>
        </p:txBody>
      </p:sp>
      <p:grpSp>
        <p:nvGrpSpPr>
          <p:cNvPr id="797" name="Google Shape;797;p42"/>
          <p:cNvGrpSpPr/>
          <p:nvPr/>
        </p:nvGrpSpPr>
        <p:grpSpPr>
          <a:xfrm rot="10800000">
            <a:off x="206982" y="423196"/>
            <a:ext cx="288601" cy="1096693"/>
            <a:chOff x="1006700" y="2603975"/>
            <a:chExt cx="55450" cy="210700"/>
          </a:xfrm>
        </p:grpSpPr>
        <p:sp>
          <p:nvSpPr>
            <p:cNvPr id="798" name="Google Shape;798;p42"/>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p:cNvGrpSpPr/>
          <p:nvPr/>
        </p:nvGrpSpPr>
        <p:grpSpPr>
          <a:xfrm>
            <a:off x="7882402" y="3927185"/>
            <a:ext cx="1096749" cy="1020364"/>
            <a:chOff x="827350" y="3629733"/>
            <a:chExt cx="1431600" cy="1332067"/>
          </a:xfrm>
        </p:grpSpPr>
        <p:sp>
          <p:nvSpPr>
            <p:cNvPr id="805" name="Google Shape;805;p42"/>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p:cNvGrpSpPr/>
          <p:nvPr/>
        </p:nvGrpSpPr>
        <p:grpSpPr>
          <a:xfrm>
            <a:off x="7968182" y="3280453"/>
            <a:ext cx="510366" cy="474882"/>
            <a:chOff x="827350" y="3629733"/>
            <a:chExt cx="1431600" cy="1332067"/>
          </a:xfrm>
        </p:grpSpPr>
        <p:sp>
          <p:nvSpPr>
            <p:cNvPr id="809" name="Google Shape;809;p42"/>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p:cNvGrpSpPr/>
          <p:nvPr/>
        </p:nvGrpSpPr>
        <p:grpSpPr>
          <a:xfrm>
            <a:off x="7247377" y="4412793"/>
            <a:ext cx="401134" cy="373245"/>
            <a:chOff x="827350" y="3629733"/>
            <a:chExt cx="1431600" cy="1332067"/>
          </a:xfrm>
        </p:grpSpPr>
        <p:sp>
          <p:nvSpPr>
            <p:cNvPr id="813" name="Google Shape;813;p42"/>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F4771E27-C386-80A9-49FC-416AC6712D8B}"/>
            </a:ext>
          </a:extLst>
        </p:cNvPr>
        <p:cNvGrpSpPr/>
        <p:nvPr/>
      </p:nvGrpSpPr>
      <p:grpSpPr>
        <a:xfrm>
          <a:off x="0" y="0"/>
          <a:ext cx="0" cy="0"/>
          <a:chOff x="0" y="0"/>
          <a:chExt cx="0" cy="0"/>
        </a:xfrm>
      </p:grpSpPr>
      <p:sp>
        <p:nvSpPr>
          <p:cNvPr id="396" name="Google Shape;396;p33">
            <a:extLst>
              <a:ext uri="{FF2B5EF4-FFF2-40B4-BE49-F238E27FC236}">
                <a16:creationId xmlns:a16="http://schemas.microsoft.com/office/drawing/2014/main" id="{03644DC4-99ED-1F53-4E0A-1E9472AB4C95}"/>
              </a:ext>
            </a:extLst>
          </p:cNvPr>
          <p:cNvSpPr/>
          <p:nvPr/>
        </p:nvSpPr>
        <p:spPr>
          <a:xfrm>
            <a:off x="1339813" y="1228150"/>
            <a:ext cx="2911500" cy="24768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a:extLst>
              <a:ext uri="{FF2B5EF4-FFF2-40B4-BE49-F238E27FC236}">
                <a16:creationId xmlns:a16="http://schemas.microsoft.com/office/drawing/2014/main" id="{D03944EF-1E95-5A7F-3C84-9C05DC79897D}"/>
              </a:ext>
            </a:extLst>
          </p:cNvPr>
          <p:cNvSpPr txBox="1">
            <a:spLocks noGrp="1"/>
          </p:cNvSpPr>
          <p:nvPr>
            <p:ph type="title"/>
          </p:nvPr>
        </p:nvSpPr>
        <p:spPr>
          <a:xfrm>
            <a:off x="3868057" y="1558678"/>
            <a:ext cx="4871560" cy="1113000"/>
          </a:xfrm>
          <a:prstGeom prst="rect">
            <a:avLst/>
          </a:prstGeom>
        </p:spPr>
        <p:txBody>
          <a:bodyPr spcFirstLastPara="1" wrap="square" lIns="91425" tIns="91425" rIns="91425" bIns="91425" anchor="b" anchorCtr="0">
            <a:noAutofit/>
          </a:bodyPr>
          <a:lstStyle/>
          <a:p>
            <a:pPr lvl="0" algn="ctr"/>
            <a:r>
              <a:rPr lang="vi-VN" sz="3200" b="1" dirty="0">
                <a:latin typeface="+mn-lt"/>
              </a:rPr>
              <a:t>Lịch sử phát triển</a:t>
            </a:r>
          </a:p>
        </p:txBody>
      </p:sp>
      <p:sp>
        <p:nvSpPr>
          <p:cNvPr id="398" name="Google Shape;398;p33">
            <a:extLst>
              <a:ext uri="{FF2B5EF4-FFF2-40B4-BE49-F238E27FC236}">
                <a16:creationId xmlns:a16="http://schemas.microsoft.com/office/drawing/2014/main" id="{75B1C59E-CA16-5C58-E4D3-FEA4F1B40BF2}"/>
              </a:ext>
            </a:extLst>
          </p:cNvPr>
          <p:cNvSpPr txBox="1">
            <a:spLocks noGrp="1"/>
          </p:cNvSpPr>
          <p:nvPr>
            <p:ph type="subTitle" idx="1"/>
          </p:nvPr>
        </p:nvSpPr>
        <p:spPr>
          <a:xfrm>
            <a:off x="4491888" y="2851113"/>
            <a:ext cx="3312300" cy="609900"/>
          </a:xfrm>
          <a:prstGeom prst="rect">
            <a:avLst/>
          </a:prstGeom>
        </p:spPr>
        <p:txBody>
          <a:bodyPr spcFirstLastPara="1" wrap="square" lIns="91425" tIns="91425" rIns="91425" bIns="91425" anchor="t" anchorCtr="0">
            <a:noAutofit/>
          </a:bodyPr>
          <a:lstStyle/>
          <a:p>
            <a:pPr marL="0" lvl="0" indent="0" algn="ctr"/>
            <a:r>
              <a:rPr lang="vi-VN" dirty="0"/>
              <a:t>Sự hình thành và phát triển của các chatbot AI</a:t>
            </a:r>
          </a:p>
        </p:txBody>
      </p:sp>
      <p:sp>
        <p:nvSpPr>
          <p:cNvPr id="399" name="Google Shape;399;p33">
            <a:extLst>
              <a:ext uri="{FF2B5EF4-FFF2-40B4-BE49-F238E27FC236}">
                <a16:creationId xmlns:a16="http://schemas.microsoft.com/office/drawing/2014/main" id="{C6B75F43-4A51-E756-C5EF-939C4966CF9A}"/>
              </a:ext>
            </a:extLst>
          </p:cNvPr>
          <p:cNvSpPr txBox="1">
            <a:spLocks noGrp="1"/>
          </p:cNvSpPr>
          <p:nvPr>
            <p:ph type="title" idx="2"/>
          </p:nvPr>
        </p:nvSpPr>
        <p:spPr>
          <a:xfrm>
            <a:off x="1931113" y="1872250"/>
            <a:ext cx="1936944" cy="118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400" name="Google Shape;400;p33">
            <a:extLst>
              <a:ext uri="{FF2B5EF4-FFF2-40B4-BE49-F238E27FC236}">
                <a16:creationId xmlns:a16="http://schemas.microsoft.com/office/drawing/2014/main" id="{490CF3E7-43D4-AD08-9762-09F85F2F7D55}"/>
              </a:ext>
            </a:extLst>
          </p:cNvPr>
          <p:cNvGrpSpPr/>
          <p:nvPr/>
        </p:nvGrpSpPr>
        <p:grpSpPr>
          <a:xfrm rot="10800000">
            <a:off x="8057882" y="382596"/>
            <a:ext cx="288601" cy="1096693"/>
            <a:chOff x="1006700" y="2603975"/>
            <a:chExt cx="55450" cy="210700"/>
          </a:xfrm>
        </p:grpSpPr>
        <p:sp>
          <p:nvSpPr>
            <p:cNvPr id="401" name="Google Shape;401;p33">
              <a:extLst>
                <a:ext uri="{FF2B5EF4-FFF2-40B4-BE49-F238E27FC236}">
                  <a16:creationId xmlns:a16="http://schemas.microsoft.com/office/drawing/2014/main" id="{04014C68-CB29-46F6-38C6-96BEA29FB9CB}"/>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a:extLst>
                <a:ext uri="{FF2B5EF4-FFF2-40B4-BE49-F238E27FC236}">
                  <a16:creationId xmlns:a16="http://schemas.microsoft.com/office/drawing/2014/main" id="{9F7C2395-711D-159C-5B59-E32A17DD1658}"/>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a:extLst>
                <a:ext uri="{FF2B5EF4-FFF2-40B4-BE49-F238E27FC236}">
                  <a16:creationId xmlns:a16="http://schemas.microsoft.com/office/drawing/2014/main" id="{BE35EAF3-5C64-4F42-453F-FDCDDEBB9C39}"/>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a:extLst>
                <a:ext uri="{FF2B5EF4-FFF2-40B4-BE49-F238E27FC236}">
                  <a16:creationId xmlns:a16="http://schemas.microsoft.com/office/drawing/2014/main" id="{06956CF9-403C-E3AD-EEF2-09AC50326385}"/>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a:extLst>
                <a:ext uri="{FF2B5EF4-FFF2-40B4-BE49-F238E27FC236}">
                  <a16:creationId xmlns:a16="http://schemas.microsoft.com/office/drawing/2014/main" id="{97D777DA-18F0-6918-A0A0-C7D1AF048F7E}"/>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a:extLst>
                <a:ext uri="{FF2B5EF4-FFF2-40B4-BE49-F238E27FC236}">
                  <a16:creationId xmlns:a16="http://schemas.microsoft.com/office/drawing/2014/main" id="{0D18CB42-A23A-1C0F-DB53-C811B727B62E}"/>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a:extLst>
              <a:ext uri="{FF2B5EF4-FFF2-40B4-BE49-F238E27FC236}">
                <a16:creationId xmlns:a16="http://schemas.microsoft.com/office/drawing/2014/main" id="{B8804D5D-228D-BA2A-3200-A069FC2F7CAE}"/>
              </a:ext>
            </a:extLst>
          </p:cNvPr>
          <p:cNvGrpSpPr/>
          <p:nvPr/>
        </p:nvGrpSpPr>
        <p:grpSpPr>
          <a:xfrm>
            <a:off x="558602" y="508321"/>
            <a:ext cx="781224" cy="726909"/>
            <a:chOff x="827350" y="3629733"/>
            <a:chExt cx="1431600" cy="1332067"/>
          </a:xfrm>
        </p:grpSpPr>
        <p:sp>
          <p:nvSpPr>
            <p:cNvPr id="408" name="Google Shape;408;p33">
              <a:extLst>
                <a:ext uri="{FF2B5EF4-FFF2-40B4-BE49-F238E27FC236}">
                  <a16:creationId xmlns:a16="http://schemas.microsoft.com/office/drawing/2014/main" id="{ADF4FBE5-2DC8-FAFC-00C0-B9CDB82B99E0}"/>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a:extLst>
                <a:ext uri="{FF2B5EF4-FFF2-40B4-BE49-F238E27FC236}">
                  <a16:creationId xmlns:a16="http://schemas.microsoft.com/office/drawing/2014/main" id="{4360FF91-9A57-2245-AA41-82C96DC8649B}"/>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a:extLst>
                <a:ext uri="{FF2B5EF4-FFF2-40B4-BE49-F238E27FC236}">
                  <a16:creationId xmlns:a16="http://schemas.microsoft.com/office/drawing/2014/main" id="{8CE8D1B5-C085-0A9E-B6EC-DCB5606B6C80}"/>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a:extLst>
              <a:ext uri="{FF2B5EF4-FFF2-40B4-BE49-F238E27FC236}">
                <a16:creationId xmlns:a16="http://schemas.microsoft.com/office/drawing/2014/main" id="{7743589C-D89E-3A6F-7AF3-238F4D2E7B14}"/>
              </a:ext>
            </a:extLst>
          </p:cNvPr>
          <p:cNvGrpSpPr/>
          <p:nvPr/>
        </p:nvGrpSpPr>
        <p:grpSpPr>
          <a:xfrm>
            <a:off x="1387564" y="321673"/>
            <a:ext cx="356325" cy="331552"/>
            <a:chOff x="827350" y="3629733"/>
            <a:chExt cx="1431600" cy="1332067"/>
          </a:xfrm>
        </p:grpSpPr>
        <p:sp>
          <p:nvSpPr>
            <p:cNvPr id="412" name="Google Shape;412;p33">
              <a:extLst>
                <a:ext uri="{FF2B5EF4-FFF2-40B4-BE49-F238E27FC236}">
                  <a16:creationId xmlns:a16="http://schemas.microsoft.com/office/drawing/2014/main" id="{882BBDB0-AB09-FD2A-EF37-863F9BD1C053}"/>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F9CE6DB1-D64B-767C-AA9D-7CBC1BB547B7}"/>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DCCD0CFB-FED9-F9F1-D264-B2D78B74294D}"/>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a:extLst>
              <a:ext uri="{FF2B5EF4-FFF2-40B4-BE49-F238E27FC236}">
                <a16:creationId xmlns:a16="http://schemas.microsoft.com/office/drawing/2014/main" id="{BA4C98A2-0A6E-2422-57CD-86B6109DCF8E}"/>
              </a:ext>
            </a:extLst>
          </p:cNvPr>
          <p:cNvGrpSpPr/>
          <p:nvPr/>
        </p:nvGrpSpPr>
        <p:grpSpPr>
          <a:xfrm>
            <a:off x="7535601" y="3848738"/>
            <a:ext cx="895180" cy="832942"/>
            <a:chOff x="827350" y="3629733"/>
            <a:chExt cx="1431600" cy="1332067"/>
          </a:xfrm>
        </p:grpSpPr>
        <p:sp>
          <p:nvSpPr>
            <p:cNvPr id="416" name="Google Shape;416;p33">
              <a:extLst>
                <a:ext uri="{FF2B5EF4-FFF2-40B4-BE49-F238E27FC236}">
                  <a16:creationId xmlns:a16="http://schemas.microsoft.com/office/drawing/2014/main" id="{CEEA8111-8B06-0E9C-C81A-1B935BD99440}"/>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283C8BFA-B116-21CB-C524-F0544503D0CE}"/>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44A61BAF-6D73-E9DD-3321-46F50B28914B}"/>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a:extLst>
              <a:ext uri="{FF2B5EF4-FFF2-40B4-BE49-F238E27FC236}">
                <a16:creationId xmlns:a16="http://schemas.microsoft.com/office/drawing/2014/main" id="{F58CA70E-C2A1-CB7A-1328-BD0490A258D5}"/>
              </a:ext>
            </a:extLst>
          </p:cNvPr>
          <p:cNvGrpSpPr/>
          <p:nvPr/>
        </p:nvGrpSpPr>
        <p:grpSpPr>
          <a:xfrm>
            <a:off x="7902683" y="2980240"/>
            <a:ext cx="598982" cy="557337"/>
            <a:chOff x="827350" y="3629733"/>
            <a:chExt cx="1431600" cy="1332067"/>
          </a:xfrm>
        </p:grpSpPr>
        <p:sp>
          <p:nvSpPr>
            <p:cNvPr id="420" name="Google Shape;420;p33">
              <a:extLst>
                <a:ext uri="{FF2B5EF4-FFF2-40B4-BE49-F238E27FC236}">
                  <a16:creationId xmlns:a16="http://schemas.microsoft.com/office/drawing/2014/main" id="{802269C1-0600-BBF1-5E82-DDEE45A2E23A}"/>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2086ED19-D2EE-B97E-D417-BC2496CE8E7E}"/>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0C1E179F-7BC5-CCDA-FFF2-7A415F46977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a:extLst>
              <a:ext uri="{FF2B5EF4-FFF2-40B4-BE49-F238E27FC236}">
                <a16:creationId xmlns:a16="http://schemas.microsoft.com/office/drawing/2014/main" id="{DA54774F-FAA9-2721-D16C-75556ED14B31}"/>
              </a:ext>
            </a:extLst>
          </p:cNvPr>
          <p:cNvGrpSpPr/>
          <p:nvPr/>
        </p:nvGrpSpPr>
        <p:grpSpPr>
          <a:xfrm>
            <a:off x="6634531" y="4239131"/>
            <a:ext cx="464268" cy="431989"/>
            <a:chOff x="827350" y="3629733"/>
            <a:chExt cx="1431600" cy="1332067"/>
          </a:xfrm>
        </p:grpSpPr>
        <p:sp>
          <p:nvSpPr>
            <p:cNvPr id="424" name="Google Shape;424;p33">
              <a:extLst>
                <a:ext uri="{FF2B5EF4-FFF2-40B4-BE49-F238E27FC236}">
                  <a16:creationId xmlns:a16="http://schemas.microsoft.com/office/drawing/2014/main" id="{14C298D5-5C23-5E5A-2C3D-5519CE23FC42}"/>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9AF78E4C-CD51-EEB9-EFE8-DF870DA6B46C}"/>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897F5DCE-1687-AD02-FA1B-01D457E67839}"/>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a:extLst>
              <a:ext uri="{FF2B5EF4-FFF2-40B4-BE49-F238E27FC236}">
                <a16:creationId xmlns:a16="http://schemas.microsoft.com/office/drawing/2014/main" id="{9FC868F5-5729-B4E2-9FB3-D11A4EAB7EE1}"/>
              </a:ext>
            </a:extLst>
          </p:cNvPr>
          <p:cNvGrpSpPr/>
          <p:nvPr/>
        </p:nvGrpSpPr>
        <p:grpSpPr>
          <a:xfrm rot="5400000">
            <a:off x="962657" y="3906771"/>
            <a:ext cx="288601" cy="1096693"/>
            <a:chOff x="1006700" y="2603975"/>
            <a:chExt cx="55450" cy="210700"/>
          </a:xfrm>
        </p:grpSpPr>
        <p:sp>
          <p:nvSpPr>
            <p:cNvPr id="428" name="Google Shape;428;p33">
              <a:extLst>
                <a:ext uri="{FF2B5EF4-FFF2-40B4-BE49-F238E27FC236}">
                  <a16:creationId xmlns:a16="http://schemas.microsoft.com/office/drawing/2014/main" id="{E8C1CBF2-1B28-863B-6127-B557C4EEE0EE}"/>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CB8A7136-28F2-8591-B563-646FD2CFB7AA}"/>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50041F19-106A-9C3D-572D-A25B753D4F6D}"/>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a:extLst>
                <a:ext uri="{FF2B5EF4-FFF2-40B4-BE49-F238E27FC236}">
                  <a16:creationId xmlns:a16="http://schemas.microsoft.com/office/drawing/2014/main" id="{297B95CF-B8B7-F33C-4CC7-00D5991EB203}"/>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a:extLst>
                <a:ext uri="{FF2B5EF4-FFF2-40B4-BE49-F238E27FC236}">
                  <a16:creationId xmlns:a16="http://schemas.microsoft.com/office/drawing/2014/main" id="{DCC8F3A1-98C2-E741-44AC-BEDAA397B4E1}"/>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a:extLst>
                <a:ext uri="{FF2B5EF4-FFF2-40B4-BE49-F238E27FC236}">
                  <a16:creationId xmlns:a16="http://schemas.microsoft.com/office/drawing/2014/main" id="{736D6107-F138-5751-3302-7AA45D443AF0}"/>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902738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71EF0E32-EECA-5904-8C8E-4AAFE4F4C592}"/>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DD402555-509D-160B-3377-7E0F2C0843BB}"/>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1337DBB8-D232-91C7-0A86-F53BBB5A92A7}"/>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mj-lt"/>
              </a:rPr>
              <a:t>CHƯƠNG 2 : Lịch sử phát triển</a:t>
            </a:r>
            <a:endParaRPr b="1" dirty="0">
              <a:latin typeface="+mj-lt"/>
            </a:endParaRPr>
          </a:p>
        </p:txBody>
      </p:sp>
      <p:sp>
        <p:nvSpPr>
          <p:cNvPr id="796" name="Google Shape;796;p42">
            <a:extLst>
              <a:ext uri="{FF2B5EF4-FFF2-40B4-BE49-F238E27FC236}">
                <a16:creationId xmlns:a16="http://schemas.microsoft.com/office/drawing/2014/main" id="{24741E8B-E927-2A5B-1955-E691ED2D67DA}"/>
              </a:ext>
            </a:extLst>
          </p:cNvPr>
          <p:cNvSpPr txBox="1">
            <a:spLocks noGrp="1"/>
          </p:cNvSpPr>
          <p:nvPr>
            <p:ph type="body" idx="1"/>
          </p:nvPr>
        </p:nvSpPr>
        <p:spPr>
          <a:xfrm>
            <a:off x="713225" y="1231272"/>
            <a:ext cx="7704000" cy="2594700"/>
          </a:xfrm>
          <a:prstGeom prst="rect">
            <a:avLst/>
          </a:prstGeom>
        </p:spPr>
        <p:txBody>
          <a:bodyPr spcFirstLastPara="1" wrap="square" lIns="91425" tIns="91425" rIns="91425" bIns="91425" anchor="t" anchorCtr="0">
            <a:noAutofit/>
          </a:bodyPr>
          <a:lstStyle/>
          <a:p>
            <a:pPr lvl="1"/>
            <a:r>
              <a:rPr lang="vi-VN" b="1" u="sng" dirty="0">
                <a:latin typeface="+mj-lt"/>
              </a:rPr>
              <a:t>Chat GPT</a:t>
            </a:r>
            <a:endParaRPr lang="vi-VN" b="1" dirty="0">
              <a:latin typeface="+mj-lt"/>
            </a:endParaRPr>
          </a:p>
          <a:p>
            <a:pPr lvl="0"/>
            <a:r>
              <a:rPr lang="vi-VN" dirty="0">
                <a:latin typeface="+mj-lt"/>
              </a:rPr>
              <a:t>2018: OpenAI giới thiệu GPT-1, mô hình ngôn ngữ lớn đầu tiên.</a:t>
            </a:r>
          </a:p>
          <a:p>
            <a:pPr lvl="0"/>
            <a:r>
              <a:rPr lang="vi-VN" dirty="0">
                <a:latin typeface="+mj-lt"/>
              </a:rPr>
              <a:t>2019: Ra mắt GPT-2, nổi bật với khả năng tạo văn bản mượt mà hơn.</a:t>
            </a:r>
          </a:p>
          <a:p>
            <a:pPr lvl="0"/>
            <a:r>
              <a:rPr lang="vi-VN" dirty="0">
                <a:latin typeface="+mj-lt"/>
              </a:rPr>
              <a:t>2020: GPT-3 tạo bước nhảy lớn về năng lực hiểu và sinh ngôn ngữ.</a:t>
            </a:r>
          </a:p>
          <a:p>
            <a:pPr lvl="0"/>
            <a:r>
              <a:rPr lang="vi-VN" dirty="0">
                <a:latin typeface="+mj-lt"/>
              </a:rPr>
              <a:t>2022: OpenAI triển khai ChatGPT dựa trên GPT-3.5, tối ưu cho hội thoại.</a:t>
            </a:r>
          </a:p>
          <a:p>
            <a:pPr lvl="0"/>
            <a:r>
              <a:rPr lang="vi-VN" dirty="0">
                <a:latin typeface="+mj-lt"/>
              </a:rPr>
              <a:t>2023: GPT-4 xuất hiện, mạnh hơn, đa phương thức (văn bản + hình ảnh).</a:t>
            </a:r>
          </a:p>
          <a:p>
            <a:pPr lvl="0"/>
            <a:r>
              <a:rPr lang="vi-VN" dirty="0">
                <a:latin typeface="+mj-lt"/>
              </a:rPr>
              <a:t>2024–2025: Ra đời GPT-4.x → GPT 5.1 (mà bạn đang dùng), cải thiện khả năng suy luận, tương tác dài hạn, và an toàn.</a:t>
            </a:r>
          </a:p>
          <a:p>
            <a:pPr lvl="1"/>
            <a:r>
              <a:rPr lang="vi-VN" b="1" u="sng" dirty="0">
                <a:latin typeface="+mj-lt"/>
              </a:rPr>
              <a:t>Gemini</a:t>
            </a:r>
            <a:endParaRPr lang="vi-VN" b="1" dirty="0">
              <a:latin typeface="+mj-lt"/>
            </a:endParaRPr>
          </a:p>
          <a:p>
            <a:pPr lvl="0"/>
            <a:r>
              <a:rPr lang="vi-VN" dirty="0">
                <a:latin typeface="+mj-lt"/>
              </a:rPr>
              <a:t>2023: Google giới thiệu Gemini (Nano, Pro, Ultra) – mô hình AI đa phương thức mới, mạnh hơn Bard.</a:t>
            </a:r>
          </a:p>
          <a:p>
            <a:pPr lvl="0"/>
            <a:r>
              <a:rPr lang="vi-VN" dirty="0">
                <a:latin typeface="+mj-lt"/>
              </a:rPr>
              <a:t>Đầu 2024: Bard được đổi tên thành Gemini để thống nhất thương hiệu AI.</a:t>
            </a:r>
          </a:p>
          <a:p>
            <a:pPr lvl="0"/>
            <a:r>
              <a:rPr lang="vi-VN" dirty="0">
                <a:latin typeface="+mj-lt"/>
              </a:rPr>
              <a:t>2024–2025: Google phát hành các bản nâng cấp Gemini 1.5 → 2.0 → 2.5, cải thiện tốc độ, khả năng suy luận và đa phương thức.</a:t>
            </a:r>
          </a:p>
        </p:txBody>
      </p:sp>
      <p:grpSp>
        <p:nvGrpSpPr>
          <p:cNvPr id="797" name="Google Shape;797;p42">
            <a:extLst>
              <a:ext uri="{FF2B5EF4-FFF2-40B4-BE49-F238E27FC236}">
                <a16:creationId xmlns:a16="http://schemas.microsoft.com/office/drawing/2014/main" id="{27C90514-194A-070A-3DF8-576931FFABA4}"/>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E44E5708-7EE6-A871-8891-D4342F5DD1D9}"/>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E6382FF2-32A3-2619-0276-7FF834CA155B}"/>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0526444E-9C4D-D161-8B15-111C1C4380FA}"/>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EB98DFF4-311F-04D2-61D8-224678A02676}"/>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81A92B00-9134-6DCA-A06D-9D11ECF54023}"/>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7D0D9BA7-1ED6-E43E-EA53-99A4EEF8EE3C}"/>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13036A03-AC35-0DB5-637D-35A8E6B86BB5}"/>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A624AA8D-349B-765D-96F3-550578E316F0}"/>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B6129122-3ABE-FFDF-5FF6-8932AB46EAF0}"/>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B297A64E-C721-DA8C-91A3-3A9748083671}"/>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A49D6EC9-8FE8-94D0-717D-4D79C5E6F892}"/>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F8D630AE-0415-B2FA-C272-40AB037172F1}"/>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30FDAAB8-11E8-4922-9D21-6B48959F88DC}"/>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C82824E6-59D6-80E0-FB2F-31FF89DFD470}"/>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D2B6053C-5B75-2F46-A38F-AD0B52845E07}"/>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415532A2-B6E2-548E-D6EC-35F316E28285}"/>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16AE8E29-84D1-A713-086E-32EA1B17917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B12629D4-968D-884A-74B4-08ED4226F053}"/>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524501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31E6580B-F375-D08A-1494-38CD750006DC}"/>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FA293A45-02D9-5A6F-5B3D-3517C5464F66}"/>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12963D3C-AC4C-8946-704F-712A20D08E9F}"/>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mj-lt"/>
              </a:rPr>
              <a:t>CHƯƠNG 2 : Lịch sử phát triển</a:t>
            </a:r>
            <a:endParaRPr b="1" dirty="0">
              <a:latin typeface="+mj-lt"/>
            </a:endParaRPr>
          </a:p>
        </p:txBody>
      </p:sp>
      <p:sp>
        <p:nvSpPr>
          <p:cNvPr id="796" name="Google Shape;796;p42">
            <a:extLst>
              <a:ext uri="{FF2B5EF4-FFF2-40B4-BE49-F238E27FC236}">
                <a16:creationId xmlns:a16="http://schemas.microsoft.com/office/drawing/2014/main" id="{9FC51C9C-372A-D09A-891E-E00D407937CD}"/>
              </a:ext>
            </a:extLst>
          </p:cNvPr>
          <p:cNvSpPr txBox="1">
            <a:spLocks noGrp="1"/>
          </p:cNvSpPr>
          <p:nvPr>
            <p:ph type="body" idx="1"/>
          </p:nvPr>
        </p:nvSpPr>
        <p:spPr>
          <a:xfrm>
            <a:off x="720000" y="1456400"/>
            <a:ext cx="7704000" cy="2594700"/>
          </a:xfrm>
          <a:prstGeom prst="rect">
            <a:avLst/>
          </a:prstGeom>
        </p:spPr>
        <p:txBody>
          <a:bodyPr spcFirstLastPara="1" wrap="square" lIns="91425" tIns="91425" rIns="91425" bIns="91425" anchor="t" anchorCtr="0">
            <a:noAutofit/>
          </a:bodyPr>
          <a:lstStyle/>
          <a:p>
            <a:pPr lvl="1"/>
            <a:r>
              <a:rPr lang="vi-VN" b="1" u="sng" dirty="0"/>
              <a:t>DeepSeek</a:t>
            </a:r>
            <a:r>
              <a:rPr lang="vi-VN" b="1" dirty="0"/>
              <a:t> </a:t>
            </a:r>
          </a:p>
          <a:p>
            <a:pPr lvl="0"/>
            <a:r>
              <a:rPr lang="vi-VN" dirty="0"/>
              <a:t>2023: DeepSeek xuất hiện với mô hình DeepSeek LLM đầu tiên.</a:t>
            </a:r>
          </a:p>
          <a:p>
            <a:pPr lvl="0"/>
            <a:r>
              <a:rPr lang="vi-VN" dirty="0"/>
              <a:t>2024: Ra mắt DeepSeek-V2, tập trung tối ưu chi phí huấn luyện và hiệu năng.</a:t>
            </a:r>
          </a:p>
          <a:p>
            <a:pPr lvl="0"/>
            <a:r>
              <a:rPr lang="vi-VN" dirty="0"/>
              <a:t>2025: Giới thiệu DeepSeek-R1 và các bản nâng cấp hướng đến khả năng suy luận mạnh với chi phí thấp.</a:t>
            </a:r>
            <a:endParaRPr lang="en-US" dirty="0"/>
          </a:p>
          <a:p>
            <a:pPr marL="152400" lvl="0" indent="0">
              <a:buNone/>
            </a:pPr>
            <a:endParaRPr lang="en-US" dirty="0"/>
          </a:p>
          <a:p>
            <a:pPr marL="152400" lvl="0" indent="0">
              <a:buNone/>
            </a:pPr>
            <a:endParaRPr lang="vi-VN" dirty="0"/>
          </a:p>
          <a:p>
            <a:pPr lvl="1"/>
            <a:r>
              <a:rPr lang="vi-VN" b="1" u="sng" dirty="0"/>
              <a:t>Grok</a:t>
            </a:r>
            <a:r>
              <a:rPr lang="vi-VN" b="1" dirty="0"/>
              <a:t> </a:t>
            </a:r>
          </a:p>
          <a:p>
            <a:r>
              <a:rPr lang="vi-VN" dirty="0"/>
              <a:t>Tháng 11/2023: Grok được ra mắt lần đầu, tích hợp vào X (trước là Twitter).</a:t>
            </a:r>
          </a:p>
          <a:p>
            <a:r>
              <a:rPr lang="vi-VN" dirty="0"/>
              <a:t>Tháng 3/2024: xAI phát hành chính thức Grok‑1 — phiên bản đầu tiên của mô hình.</a:t>
            </a:r>
          </a:p>
          <a:p>
            <a:r>
              <a:rPr lang="vi-VN" dirty="0"/>
              <a:t>Tháng 8/2024: Ra mắt Grok‑2, với khả năng cải thiện về chat, suy luận và bổ sung tính năng tạo ảnh/kết hợp hình ảnh. Tháng 2/2025: Công bố Grok‑3 — với cải tiến mạnh về khả năng suy luận, xử lý toán-lý, hiểu biết về thế giới,... nhằm cạnh tranh với các AI hàng đầu.</a:t>
            </a:r>
          </a:p>
        </p:txBody>
      </p:sp>
      <p:grpSp>
        <p:nvGrpSpPr>
          <p:cNvPr id="797" name="Google Shape;797;p42">
            <a:extLst>
              <a:ext uri="{FF2B5EF4-FFF2-40B4-BE49-F238E27FC236}">
                <a16:creationId xmlns:a16="http://schemas.microsoft.com/office/drawing/2014/main" id="{80DA3F8B-7492-363F-7D12-B17F6A50F21B}"/>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0AA8263F-BFFD-CBF2-83EF-DDCB377D63A9}"/>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D6734D44-46D8-AFAA-F9C9-FAA84DABA95C}"/>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12417726-7A06-22DB-05D9-6D209E5839C3}"/>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EA8A3A50-A98D-65C3-BBA6-37BCE974BB4E}"/>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B5FCE336-465B-B26B-9DF3-00E736CF2F63}"/>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BE738FA7-094F-0338-06D6-3B7F0A8BA0BB}"/>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DD518F8D-8740-E6BF-8F6D-A0F49A6AF47E}"/>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10F10F54-4A7E-CC29-6C8B-D2C4E790A349}"/>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04928CA8-46EE-04CF-C59F-ED5938E69456}"/>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39386A46-7096-869B-82C0-3694BE78555D}"/>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0B7AB2AD-4A16-978C-5D14-EB23C7B4D77A}"/>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33E07A41-C6BE-8F2C-63B5-B30FE44C561E}"/>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17789E0E-33C3-C096-4C4B-1775EA1FD853}"/>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02D2F7F0-F678-7773-9DD7-790352DBAC8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09CF9EF7-7E67-5373-FDD9-82499C02230B}"/>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C340EC2D-2E2C-AB4D-C0D9-6A4A81B5A362}"/>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4CF62B51-CF35-8D25-B465-185B7EADEEA8}"/>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5B5702E3-0CB4-D3E0-D168-165BA508E756}"/>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536715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C438B1D0-070F-08ED-25EA-FD48653406CB}"/>
            </a:ext>
          </a:extLst>
        </p:cNvPr>
        <p:cNvGrpSpPr/>
        <p:nvPr/>
      </p:nvGrpSpPr>
      <p:grpSpPr>
        <a:xfrm>
          <a:off x="0" y="0"/>
          <a:ext cx="0" cy="0"/>
          <a:chOff x="0" y="0"/>
          <a:chExt cx="0" cy="0"/>
        </a:xfrm>
      </p:grpSpPr>
      <p:sp>
        <p:nvSpPr>
          <p:cNvPr id="396" name="Google Shape;396;p33">
            <a:extLst>
              <a:ext uri="{FF2B5EF4-FFF2-40B4-BE49-F238E27FC236}">
                <a16:creationId xmlns:a16="http://schemas.microsoft.com/office/drawing/2014/main" id="{FAF6DB35-B89E-D925-31B0-A0CDDB713D23}"/>
              </a:ext>
            </a:extLst>
          </p:cNvPr>
          <p:cNvSpPr/>
          <p:nvPr/>
        </p:nvSpPr>
        <p:spPr>
          <a:xfrm>
            <a:off x="1339813" y="1228150"/>
            <a:ext cx="2911500" cy="24768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a:extLst>
              <a:ext uri="{FF2B5EF4-FFF2-40B4-BE49-F238E27FC236}">
                <a16:creationId xmlns:a16="http://schemas.microsoft.com/office/drawing/2014/main" id="{AAEDE366-2BD0-C92A-D5EE-9F7C68A78A58}"/>
              </a:ext>
            </a:extLst>
          </p:cNvPr>
          <p:cNvSpPr txBox="1">
            <a:spLocks noGrp="1"/>
          </p:cNvSpPr>
          <p:nvPr>
            <p:ph type="title"/>
          </p:nvPr>
        </p:nvSpPr>
        <p:spPr>
          <a:xfrm>
            <a:off x="4491888" y="1682463"/>
            <a:ext cx="3736376" cy="1113000"/>
          </a:xfrm>
          <a:prstGeom prst="rect">
            <a:avLst/>
          </a:prstGeom>
        </p:spPr>
        <p:txBody>
          <a:bodyPr spcFirstLastPara="1" wrap="square" lIns="91425" tIns="91425" rIns="91425" bIns="91425" anchor="b" anchorCtr="0">
            <a:noAutofit/>
          </a:bodyPr>
          <a:lstStyle/>
          <a:p>
            <a:r>
              <a:rPr lang="en-US" b="1" dirty="0">
                <a:latin typeface="+mj-lt"/>
              </a:rPr>
              <a:t>CÁC KHÍA CẠNH CHÍNH</a:t>
            </a:r>
            <a:endParaRPr lang="vi-VN" dirty="0">
              <a:effectLst/>
              <a:latin typeface="+mj-lt"/>
            </a:endParaRPr>
          </a:p>
        </p:txBody>
      </p:sp>
      <p:sp>
        <p:nvSpPr>
          <p:cNvPr id="398" name="Google Shape;398;p33">
            <a:extLst>
              <a:ext uri="{FF2B5EF4-FFF2-40B4-BE49-F238E27FC236}">
                <a16:creationId xmlns:a16="http://schemas.microsoft.com/office/drawing/2014/main" id="{8C9FFCA8-41DA-B388-F72D-550F9C73CD30}"/>
              </a:ext>
            </a:extLst>
          </p:cNvPr>
          <p:cNvSpPr txBox="1">
            <a:spLocks noGrp="1"/>
          </p:cNvSpPr>
          <p:nvPr>
            <p:ph type="subTitle" idx="1"/>
          </p:nvPr>
        </p:nvSpPr>
        <p:spPr>
          <a:xfrm>
            <a:off x="4491888" y="2851113"/>
            <a:ext cx="3312300" cy="609900"/>
          </a:xfrm>
          <a:prstGeom prst="rect">
            <a:avLst/>
          </a:prstGeom>
        </p:spPr>
        <p:txBody>
          <a:bodyPr spcFirstLastPara="1" wrap="square" lIns="91425" tIns="91425" rIns="91425" bIns="91425" anchor="t" anchorCtr="0">
            <a:noAutofit/>
          </a:bodyPr>
          <a:lstStyle/>
          <a:p>
            <a:pPr marL="0" lvl="0" indent="0" algn="ctr">
              <a:buSzPts val="1100"/>
            </a:pPr>
            <a:r>
              <a:rPr lang="vi-VN" dirty="0"/>
              <a:t>Tính nổi bật, mô hình kiến trúc, khả năng xử lí,…</a:t>
            </a:r>
          </a:p>
        </p:txBody>
      </p:sp>
      <p:sp>
        <p:nvSpPr>
          <p:cNvPr id="399" name="Google Shape;399;p33">
            <a:extLst>
              <a:ext uri="{FF2B5EF4-FFF2-40B4-BE49-F238E27FC236}">
                <a16:creationId xmlns:a16="http://schemas.microsoft.com/office/drawing/2014/main" id="{9BE45DF5-681C-B6AA-F7D7-D174AB8BEC3A}"/>
              </a:ext>
            </a:extLst>
          </p:cNvPr>
          <p:cNvSpPr txBox="1">
            <a:spLocks noGrp="1"/>
          </p:cNvSpPr>
          <p:nvPr>
            <p:ph type="title" idx="2"/>
          </p:nvPr>
        </p:nvSpPr>
        <p:spPr>
          <a:xfrm>
            <a:off x="1931112" y="1872250"/>
            <a:ext cx="1980487" cy="118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400" name="Google Shape;400;p33">
            <a:extLst>
              <a:ext uri="{FF2B5EF4-FFF2-40B4-BE49-F238E27FC236}">
                <a16:creationId xmlns:a16="http://schemas.microsoft.com/office/drawing/2014/main" id="{88A9D319-2AB6-4D1A-47F5-EA7EB446C4F5}"/>
              </a:ext>
            </a:extLst>
          </p:cNvPr>
          <p:cNvGrpSpPr/>
          <p:nvPr/>
        </p:nvGrpSpPr>
        <p:grpSpPr>
          <a:xfrm rot="10800000">
            <a:off x="8057882" y="382596"/>
            <a:ext cx="288601" cy="1096693"/>
            <a:chOff x="1006700" y="2603975"/>
            <a:chExt cx="55450" cy="210700"/>
          </a:xfrm>
        </p:grpSpPr>
        <p:sp>
          <p:nvSpPr>
            <p:cNvPr id="401" name="Google Shape;401;p33">
              <a:extLst>
                <a:ext uri="{FF2B5EF4-FFF2-40B4-BE49-F238E27FC236}">
                  <a16:creationId xmlns:a16="http://schemas.microsoft.com/office/drawing/2014/main" id="{A019DF17-4A2D-F47D-FD36-53DA68ED1996}"/>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a:extLst>
                <a:ext uri="{FF2B5EF4-FFF2-40B4-BE49-F238E27FC236}">
                  <a16:creationId xmlns:a16="http://schemas.microsoft.com/office/drawing/2014/main" id="{81F6CDD8-5D8F-AB42-314C-0CF45F901904}"/>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a:extLst>
                <a:ext uri="{FF2B5EF4-FFF2-40B4-BE49-F238E27FC236}">
                  <a16:creationId xmlns:a16="http://schemas.microsoft.com/office/drawing/2014/main" id="{F5FAB3E0-BC17-E098-1277-38C0390DCEFA}"/>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a:extLst>
                <a:ext uri="{FF2B5EF4-FFF2-40B4-BE49-F238E27FC236}">
                  <a16:creationId xmlns:a16="http://schemas.microsoft.com/office/drawing/2014/main" id="{7B507584-9AA7-1684-A1F0-F633A30DF177}"/>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a:extLst>
                <a:ext uri="{FF2B5EF4-FFF2-40B4-BE49-F238E27FC236}">
                  <a16:creationId xmlns:a16="http://schemas.microsoft.com/office/drawing/2014/main" id="{95CCC734-990E-25F6-0E94-6ABA7783A287}"/>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a:extLst>
                <a:ext uri="{FF2B5EF4-FFF2-40B4-BE49-F238E27FC236}">
                  <a16:creationId xmlns:a16="http://schemas.microsoft.com/office/drawing/2014/main" id="{77C46471-38CF-19BB-5B36-AABD8504FB8D}"/>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a:extLst>
              <a:ext uri="{FF2B5EF4-FFF2-40B4-BE49-F238E27FC236}">
                <a16:creationId xmlns:a16="http://schemas.microsoft.com/office/drawing/2014/main" id="{B29979AB-0D7F-122F-3AFA-3C0A350254F3}"/>
              </a:ext>
            </a:extLst>
          </p:cNvPr>
          <p:cNvGrpSpPr/>
          <p:nvPr/>
        </p:nvGrpSpPr>
        <p:grpSpPr>
          <a:xfrm>
            <a:off x="558602" y="508321"/>
            <a:ext cx="781224" cy="726909"/>
            <a:chOff x="827350" y="3629733"/>
            <a:chExt cx="1431600" cy="1332067"/>
          </a:xfrm>
        </p:grpSpPr>
        <p:sp>
          <p:nvSpPr>
            <p:cNvPr id="408" name="Google Shape;408;p33">
              <a:extLst>
                <a:ext uri="{FF2B5EF4-FFF2-40B4-BE49-F238E27FC236}">
                  <a16:creationId xmlns:a16="http://schemas.microsoft.com/office/drawing/2014/main" id="{96025AFF-DB2D-F259-EA01-A86C58157463}"/>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a:extLst>
                <a:ext uri="{FF2B5EF4-FFF2-40B4-BE49-F238E27FC236}">
                  <a16:creationId xmlns:a16="http://schemas.microsoft.com/office/drawing/2014/main" id="{C8BF8396-3F81-E8CB-DCD9-3DDBD431C87D}"/>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a:extLst>
                <a:ext uri="{FF2B5EF4-FFF2-40B4-BE49-F238E27FC236}">
                  <a16:creationId xmlns:a16="http://schemas.microsoft.com/office/drawing/2014/main" id="{613639B7-F36F-FA72-FE71-2E5CA120ABA8}"/>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a:extLst>
              <a:ext uri="{FF2B5EF4-FFF2-40B4-BE49-F238E27FC236}">
                <a16:creationId xmlns:a16="http://schemas.microsoft.com/office/drawing/2014/main" id="{77183E10-68D8-3684-D322-A4811BA251C8}"/>
              </a:ext>
            </a:extLst>
          </p:cNvPr>
          <p:cNvGrpSpPr/>
          <p:nvPr/>
        </p:nvGrpSpPr>
        <p:grpSpPr>
          <a:xfrm>
            <a:off x="1387564" y="321673"/>
            <a:ext cx="356325" cy="331552"/>
            <a:chOff x="827350" y="3629733"/>
            <a:chExt cx="1431600" cy="1332067"/>
          </a:xfrm>
        </p:grpSpPr>
        <p:sp>
          <p:nvSpPr>
            <p:cNvPr id="412" name="Google Shape;412;p33">
              <a:extLst>
                <a:ext uri="{FF2B5EF4-FFF2-40B4-BE49-F238E27FC236}">
                  <a16:creationId xmlns:a16="http://schemas.microsoft.com/office/drawing/2014/main" id="{A7EC509E-E9ED-48B2-DC5D-837DBB1B1CA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3BD71147-E09F-2426-84FE-00F506F93CFD}"/>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AD525E13-00EE-674B-4FDB-53D30C0321F9}"/>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a:extLst>
              <a:ext uri="{FF2B5EF4-FFF2-40B4-BE49-F238E27FC236}">
                <a16:creationId xmlns:a16="http://schemas.microsoft.com/office/drawing/2014/main" id="{B6D186AC-0D3C-48D8-FF49-44F42113E5B1}"/>
              </a:ext>
            </a:extLst>
          </p:cNvPr>
          <p:cNvGrpSpPr/>
          <p:nvPr/>
        </p:nvGrpSpPr>
        <p:grpSpPr>
          <a:xfrm>
            <a:off x="7535601" y="3848738"/>
            <a:ext cx="895180" cy="832942"/>
            <a:chOff x="827350" y="3629733"/>
            <a:chExt cx="1431600" cy="1332067"/>
          </a:xfrm>
        </p:grpSpPr>
        <p:sp>
          <p:nvSpPr>
            <p:cNvPr id="416" name="Google Shape;416;p33">
              <a:extLst>
                <a:ext uri="{FF2B5EF4-FFF2-40B4-BE49-F238E27FC236}">
                  <a16:creationId xmlns:a16="http://schemas.microsoft.com/office/drawing/2014/main" id="{64230B9D-5DE9-EDF3-D7C0-E3A5B7F4AD42}"/>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C7472D17-10EC-86AF-4C14-04F51ADF18C0}"/>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712E9A31-9D5A-0FD7-15AA-E1339D9A6A41}"/>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a:extLst>
              <a:ext uri="{FF2B5EF4-FFF2-40B4-BE49-F238E27FC236}">
                <a16:creationId xmlns:a16="http://schemas.microsoft.com/office/drawing/2014/main" id="{23E7552D-EDA1-439E-C447-1E88F4819BBD}"/>
              </a:ext>
            </a:extLst>
          </p:cNvPr>
          <p:cNvGrpSpPr/>
          <p:nvPr/>
        </p:nvGrpSpPr>
        <p:grpSpPr>
          <a:xfrm>
            <a:off x="7902683" y="2980240"/>
            <a:ext cx="598982" cy="557337"/>
            <a:chOff x="827350" y="3629733"/>
            <a:chExt cx="1431600" cy="1332067"/>
          </a:xfrm>
        </p:grpSpPr>
        <p:sp>
          <p:nvSpPr>
            <p:cNvPr id="420" name="Google Shape;420;p33">
              <a:extLst>
                <a:ext uri="{FF2B5EF4-FFF2-40B4-BE49-F238E27FC236}">
                  <a16:creationId xmlns:a16="http://schemas.microsoft.com/office/drawing/2014/main" id="{128BB6A8-50B0-0636-8102-2F8666406C4E}"/>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2F73B1BF-45B2-A193-FC99-3FEB6ABF39C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424ABE73-BE16-98CA-315D-C05A15535C63}"/>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a:extLst>
              <a:ext uri="{FF2B5EF4-FFF2-40B4-BE49-F238E27FC236}">
                <a16:creationId xmlns:a16="http://schemas.microsoft.com/office/drawing/2014/main" id="{4965ACF9-6ADE-E2CA-C869-E36940C2A51F}"/>
              </a:ext>
            </a:extLst>
          </p:cNvPr>
          <p:cNvGrpSpPr/>
          <p:nvPr/>
        </p:nvGrpSpPr>
        <p:grpSpPr>
          <a:xfrm>
            <a:off x="6634531" y="4239131"/>
            <a:ext cx="464268" cy="431989"/>
            <a:chOff x="827350" y="3629733"/>
            <a:chExt cx="1431600" cy="1332067"/>
          </a:xfrm>
        </p:grpSpPr>
        <p:sp>
          <p:nvSpPr>
            <p:cNvPr id="424" name="Google Shape;424;p33">
              <a:extLst>
                <a:ext uri="{FF2B5EF4-FFF2-40B4-BE49-F238E27FC236}">
                  <a16:creationId xmlns:a16="http://schemas.microsoft.com/office/drawing/2014/main" id="{FB43441D-D0AC-1864-F275-EDD30ACEE243}"/>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1B26FB90-2882-E650-36A3-54FC1B777989}"/>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5D3D91EA-346B-07ED-3A23-F433051F0BF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a:extLst>
              <a:ext uri="{FF2B5EF4-FFF2-40B4-BE49-F238E27FC236}">
                <a16:creationId xmlns:a16="http://schemas.microsoft.com/office/drawing/2014/main" id="{2F949CDB-51B3-2C92-06E5-D813A4A984B9}"/>
              </a:ext>
            </a:extLst>
          </p:cNvPr>
          <p:cNvGrpSpPr/>
          <p:nvPr/>
        </p:nvGrpSpPr>
        <p:grpSpPr>
          <a:xfrm rot="5400000">
            <a:off x="962657" y="3906771"/>
            <a:ext cx="288601" cy="1096693"/>
            <a:chOff x="1006700" y="2603975"/>
            <a:chExt cx="55450" cy="210700"/>
          </a:xfrm>
        </p:grpSpPr>
        <p:sp>
          <p:nvSpPr>
            <p:cNvPr id="428" name="Google Shape;428;p33">
              <a:extLst>
                <a:ext uri="{FF2B5EF4-FFF2-40B4-BE49-F238E27FC236}">
                  <a16:creationId xmlns:a16="http://schemas.microsoft.com/office/drawing/2014/main" id="{95C79AE6-9C4F-D4C9-5B0C-C3AF8882C9DD}"/>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D35B97E6-368B-AF30-A0B2-A720737106B0}"/>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0776180F-67CD-3637-9C7A-A5AB6BAAAD9F}"/>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a:extLst>
                <a:ext uri="{FF2B5EF4-FFF2-40B4-BE49-F238E27FC236}">
                  <a16:creationId xmlns:a16="http://schemas.microsoft.com/office/drawing/2014/main" id="{83B4A866-18C4-A874-BDEC-625833033F66}"/>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a:extLst>
                <a:ext uri="{FF2B5EF4-FFF2-40B4-BE49-F238E27FC236}">
                  <a16:creationId xmlns:a16="http://schemas.microsoft.com/office/drawing/2014/main" id="{D4598219-5E1C-AE9A-A4A7-6D0BFE9300F8}"/>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a:extLst>
                <a:ext uri="{FF2B5EF4-FFF2-40B4-BE49-F238E27FC236}">
                  <a16:creationId xmlns:a16="http://schemas.microsoft.com/office/drawing/2014/main" id="{A9F8F46A-84B2-4286-B523-8D741469E55D}"/>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476060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80DC79F4-EC17-4D0B-4B97-80DCFB3C31C9}"/>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ECEB235B-0438-7FD3-4FDE-59EE3EDE3609}"/>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EFFECB9E-6BFF-F227-E05F-AE0EFD237D8A}"/>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r>
              <a:rPr lang="en" b="1" dirty="0">
                <a:latin typeface="+mj-lt"/>
              </a:rPr>
              <a:t>CHƯƠNG 3 : </a:t>
            </a:r>
            <a:r>
              <a:rPr lang="en-US" b="1" dirty="0">
                <a:latin typeface="+mj-lt"/>
              </a:rPr>
              <a:t>CÁC KHÍA CẠNH CHÍNH</a:t>
            </a:r>
            <a:endParaRPr b="1" dirty="0">
              <a:latin typeface="+mj-lt"/>
            </a:endParaRPr>
          </a:p>
        </p:txBody>
      </p:sp>
      <p:grpSp>
        <p:nvGrpSpPr>
          <p:cNvPr id="797" name="Google Shape;797;p42">
            <a:extLst>
              <a:ext uri="{FF2B5EF4-FFF2-40B4-BE49-F238E27FC236}">
                <a16:creationId xmlns:a16="http://schemas.microsoft.com/office/drawing/2014/main" id="{D5D0EC06-60D7-5C00-B0EB-1AAB684B98A6}"/>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8E22676E-6A31-4D29-AE67-B36400049F26}"/>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D1B12643-2746-BBB8-223F-E12285CF740A}"/>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EFC51F8A-424A-819D-E91A-D1A3DDE5C568}"/>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583C6C7A-9367-C748-1A67-BC1758FBA943}"/>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9F716124-83F4-A68D-C14F-86E02C0D46DC}"/>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9C333F38-9D71-9AFB-344E-E36C7A8F2BB7}"/>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5261C14A-D41F-19CC-171A-4A3C054FFBDA}"/>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46CBD81D-D0DB-71EF-134A-E3DA29DBCA9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45440DB4-3539-CDAE-CF89-C32E0D4814E5}"/>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4237D00B-69C6-F6B9-3A69-0D1F56A0FE32}"/>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37770AB9-1EA4-3B57-95C3-BFAA3D703E30}"/>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291C7882-5094-8E7B-74CD-C0535722EC6A}"/>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A631A1AE-C003-3062-1071-1EF2B846644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B7972543-F518-D773-9534-EFCFB6BF8734}"/>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C0C62037-5C6E-FCE7-DE46-F5A77E7A4235}"/>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37E44073-CC41-E962-51FC-0C691217568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41C1E7F2-90F2-9188-8821-9F488F3E616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C459736A-E247-1037-4539-C4E6B9BDE648}"/>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4" name="Table 3">
            <a:extLst>
              <a:ext uri="{FF2B5EF4-FFF2-40B4-BE49-F238E27FC236}">
                <a16:creationId xmlns:a16="http://schemas.microsoft.com/office/drawing/2014/main" id="{F2D65CF5-92F7-DF0E-1E31-C0611FF798A5}"/>
              </a:ext>
            </a:extLst>
          </p:cNvPr>
          <p:cNvGraphicFramePr>
            <a:graphicFrameLocks noGrp="1"/>
          </p:cNvGraphicFramePr>
          <p:nvPr>
            <p:extLst>
              <p:ext uri="{D42A27DB-BD31-4B8C-83A1-F6EECF244321}">
                <p14:modId xmlns:p14="http://schemas.microsoft.com/office/powerpoint/2010/main" val="3999494761"/>
              </p:ext>
            </p:extLst>
          </p:nvPr>
        </p:nvGraphicFramePr>
        <p:xfrm>
          <a:off x="1678585" y="1273097"/>
          <a:ext cx="6601375" cy="3416300"/>
        </p:xfrm>
        <a:graphic>
          <a:graphicData uri="http://schemas.openxmlformats.org/drawingml/2006/table">
            <a:tbl>
              <a:tblPr firstRow="1" firstCol="1" bandRow="1">
                <a:tableStyleId>{7D39478E-FE93-4580-9B40-B0A813745C6C}</a:tableStyleId>
              </a:tblPr>
              <a:tblGrid>
                <a:gridCol w="1320275">
                  <a:extLst>
                    <a:ext uri="{9D8B030D-6E8A-4147-A177-3AD203B41FA5}">
                      <a16:colId xmlns:a16="http://schemas.microsoft.com/office/drawing/2014/main" val="2813534736"/>
                    </a:ext>
                  </a:extLst>
                </a:gridCol>
                <a:gridCol w="1320275">
                  <a:extLst>
                    <a:ext uri="{9D8B030D-6E8A-4147-A177-3AD203B41FA5}">
                      <a16:colId xmlns:a16="http://schemas.microsoft.com/office/drawing/2014/main" val="3339870985"/>
                    </a:ext>
                  </a:extLst>
                </a:gridCol>
                <a:gridCol w="1320275">
                  <a:extLst>
                    <a:ext uri="{9D8B030D-6E8A-4147-A177-3AD203B41FA5}">
                      <a16:colId xmlns:a16="http://schemas.microsoft.com/office/drawing/2014/main" val="2710396976"/>
                    </a:ext>
                  </a:extLst>
                </a:gridCol>
                <a:gridCol w="1320275">
                  <a:extLst>
                    <a:ext uri="{9D8B030D-6E8A-4147-A177-3AD203B41FA5}">
                      <a16:colId xmlns:a16="http://schemas.microsoft.com/office/drawing/2014/main" val="633484641"/>
                    </a:ext>
                  </a:extLst>
                </a:gridCol>
                <a:gridCol w="1320275">
                  <a:extLst>
                    <a:ext uri="{9D8B030D-6E8A-4147-A177-3AD203B41FA5}">
                      <a16:colId xmlns:a16="http://schemas.microsoft.com/office/drawing/2014/main" val="1033289577"/>
                    </a:ext>
                  </a:extLst>
                </a:gridCol>
              </a:tblGrid>
              <a:tr h="331318">
                <a:tc>
                  <a:txBody>
                    <a:bodyPr/>
                    <a:lstStyle/>
                    <a:p>
                      <a:pPr marL="71755" marR="71755" algn="ctr">
                        <a:lnSpc>
                          <a:spcPct val="107000"/>
                        </a:lnSpc>
                        <a:spcBef>
                          <a:spcPts val="600"/>
                        </a:spcBef>
                        <a:buNone/>
                      </a:pPr>
                      <a:r>
                        <a:rPr lang="vi-VN" sz="800" b="1" dirty="0">
                          <a:solidFill>
                            <a:schemeClr val="bg1"/>
                          </a:solidFill>
                          <a:effectLst/>
                          <a:latin typeface="+mj-lt"/>
                        </a:rPr>
                        <a:t>Tính năng/Mô hình</a:t>
                      </a:r>
                      <a:endParaRPr lang="vi-VN" sz="900" b="1"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b="1" dirty="0">
                          <a:solidFill>
                            <a:schemeClr val="bg1"/>
                          </a:solidFill>
                          <a:effectLst/>
                          <a:latin typeface="+mj-lt"/>
                        </a:rPr>
                        <a:t>ChatGPT (OpenAI)</a:t>
                      </a:r>
                      <a:endParaRPr lang="vi-VN" sz="900" b="1"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b="1" dirty="0">
                          <a:solidFill>
                            <a:schemeClr val="bg1"/>
                          </a:solidFill>
                          <a:effectLst/>
                          <a:latin typeface="+mj-lt"/>
                        </a:rPr>
                        <a:t>Gemini (Google)</a:t>
                      </a:r>
                      <a:endParaRPr lang="vi-VN" sz="900" b="1"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b="1" dirty="0">
                          <a:solidFill>
                            <a:schemeClr val="bg1"/>
                          </a:solidFill>
                          <a:effectLst/>
                          <a:latin typeface="+mj-lt"/>
                        </a:rPr>
                        <a:t>Grok (xAI)</a:t>
                      </a:r>
                      <a:endParaRPr lang="vi-VN" sz="900" b="1"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spcAft>
                          <a:spcPts val="300"/>
                        </a:spcAft>
                        <a:buNone/>
                      </a:pPr>
                      <a:r>
                        <a:rPr lang="vi-VN" sz="800" b="1" dirty="0">
                          <a:solidFill>
                            <a:schemeClr val="bg1"/>
                          </a:solidFill>
                          <a:effectLst/>
                          <a:latin typeface="+mj-lt"/>
                        </a:rPr>
                        <a:t>DeepSeek (DeepSeek AI)</a:t>
                      </a:r>
                      <a:endParaRPr lang="vi-VN" sz="900" b="1" dirty="0">
                        <a:solidFill>
                          <a:schemeClr val="bg1"/>
                        </a:solidFill>
                        <a:effectLst/>
                        <a:latin typeface="+mj-lt"/>
                        <a:ea typeface="Arial" panose="020B0604020202020204" pitchFamily="34" charset="0"/>
                      </a:endParaRPr>
                    </a:p>
                  </a:txBody>
                  <a:tcPr marL="52140" marR="52140" marT="34760" marB="34760" anchor="ctr"/>
                </a:tc>
                <a:extLst>
                  <a:ext uri="{0D108BD9-81ED-4DB2-BD59-A6C34878D82A}">
                    <a16:rowId xmlns:a16="http://schemas.microsoft.com/office/drawing/2014/main" val="3646074737"/>
                  </a:ext>
                </a:extLst>
              </a:tr>
              <a:tr h="777691">
                <a:tc>
                  <a:txBody>
                    <a:bodyPr/>
                    <a:lstStyle/>
                    <a:p>
                      <a:pPr marL="71755" marR="71755" algn="ctr">
                        <a:lnSpc>
                          <a:spcPct val="107000"/>
                        </a:lnSpc>
                        <a:spcBef>
                          <a:spcPts val="600"/>
                        </a:spcBef>
                        <a:buNone/>
                      </a:pPr>
                      <a:r>
                        <a:rPr lang="vi-VN" sz="800" b="1" dirty="0">
                          <a:solidFill>
                            <a:schemeClr val="bg1"/>
                          </a:solidFill>
                          <a:effectLst/>
                          <a:latin typeface="+mj-lt"/>
                        </a:rPr>
                        <a:t>Lĩnh vực nổi trội</a:t>
                      </a:r>
                      <a:endParaRPr lang="vi-VN" sz="900" b="1"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dirty="0">
                          <a:solidFill>
                            <a:schemeClr val="bg1"/>
                          </a:solidFill>
                          <a:effectLst/>
                          <a:latin typeface="+mj-lt"/>
                        </a:rPr>
                        <a:t>Đa năng, Sáng tạo nội dung, Giao tiếp tự nhiên, Lập trình cơ bản.</a:t>
                      </a:r>
                      <a:endParaRPr lang="vi-VN" sz="900"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dirty="0">
                          <a:solidFill>
                            <a:schemeClr val="bg1"/>
                          </a:solidFill>
                          <a:effectLst/>
                          <a:latin typeface="+mj-lt"/>
                        </a:rPr>
                        <a:t>Đa phương thức (văn bản, hình ảnh, âm thanh, video), Tích hợp hệ sinh thái Google.</a:t>
                      </a:r>
                      <a:endParaRPr lang="vi-VN" sz="900"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a:solidFill>
                            <a:schemeClr val="bg1"/>
                          </a:solidFill>
                          <a:effectLst/>
                          <a:latin typeface="+mj-lt"/>
                        </a:rPr>
                        <a:t>Dữ liệu thời gian thực (từ X/Twitter), Suy luận kỹ thuật, Phong cách giao tiếp hài hước/sắc sảo.</a:t>
                      </a:r>
                      <a:endParaRPr lang="vi-VN" sz="90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spcAft>
                          <a:spcPts val="300"/>
                        </a:spcAft>
                        <a:buNone/>
                      </a:pPr>
                      <a:r>
                        <a:rPr lang="vi-VN" sz="800">
                          <a:solidFill>
                            <a:schemeClr val="bg1"/>
                          </a:solidFill>
                          <a:effectLst/>
                          <a:latin typeface="+mj-lt"/>
                        </a:rPr>
                        <a:t>Toán học, Lập trình (Code), Hiệu suất cao/Chi phí thấp.</a:t>
                      </a:r>
                      <a:endParaRPr lang="vi-VN" sz="900">
                        <a:solidFill>
                          <a:schemeClr val="bg1"/>
                        </a:solidFill>
                        <a:effectLst/>
                        <a:latin typeface="+mj-lt"/>
                        <a:ea typeface="Arial" panose="020B0604020202020204" pitchFamily="34" charset="0"/>
                      </a:endParaRPr>
                    </a:p>
                  </a:txBody>
                  <a:tcPr marL="52140" marR="52140" marT="34760" marB="34760" anchor="ctr"/>
                </a:tc>
                <a:extLst>
                  <a:ext uri="{0D108BD9-81ED-4DB2-BD59-A6C34878D82A}">
                    <a16:rowId xmlns:a16="http://schemas.microsoft.com/office/drawing/2014/main" val="428244183"/>
                  </a:ext>
                </a:extLst>
              </a:tr>
              <a:tr h="509867">
                <a:tc>
                  <a:txBody>
                    <a:bodyPr/>
                    <a:lstStyle/>
                    <a:p>
                      <a:pPr marL="71755" marR="71755" algn="ctr">
                        <a:lnSpc>
                          <a:spcPct val="107000"/>
                        </a:lnSpc>
                        <a:spcBef>
                          <a:spcPts val="600"/>
                        </a:spcBef>
                        <a:buNone/>
                      </a:pPr>
                      <a:r>
                        <a:rPr lang="vi-VN" sz="800" b="1" dirty="0">
                          <a:solidFill>
                            <a:schemeClr val="bg1"/>
                          </a:solidFill>
                          <a:effectLst/>
                          <a:latin typeface="+mj-lt"/>
                        </a:rPr>
                        <a:t>Truy cập dữ liệu thời gian thực</a:t>
                      </a:r>
                      <a:endParaRPr lang="vi-VN" sz="900" b="1"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a:solidFill>
                            <a:schemeClr val="bg1"/>
                          </a:solidFill>
                          <a:effectLst/>
                          <a:latin typeface="+mj-lt"/>
                        </a:rPr>
                        <a:t>Có (thông qua tìm kiếm web)</a:t>
                      </a:r>
                      <a:endParaRPr lang="vi-VN" sz="90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dirty="0">
                          <a:solidFill>
                            <a:schemeClr val="bg1"/>
                          </a:solidFill>
                          <a:effectLst/>
                          <a:latin typeface="+mj-lt"/>
                        </a:rPr>
                        <a:t>Có (tích hợp tìm kiếm Google)</a:t>
                      </a:r>
                      <a:endParaRPr lang="vi-VN" sz="900"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dirty="0">
                          <a:solidFill>
                            <a:schemeClr val="bg1"/>
                          </a:solidFill>
                          <a:effectLst/>
                          <a:latin typeface="+mj-lt"/>
                        </a:rPr>
                        <a:t>Vượt trội (Tích hợp dữ liệu trực tiếp từ X/Twitter)</a:t>
                      </a:r>
                      <a:endParaRPr lang="vi-VN" sz="900"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spcAft>
                          <a:spcPts val="300"/>
                        </a:spcAft>
                        <a:buNone/>
                      </a:pPr>
                      <a:r>
                        <a:rPr lang="vi-VN" sz="800" dirty="0">
                          <a:solidFill>
                            <a:schemeClr val="bg1"/>
                          </a:solidFill>
                          <a:effectLst/>
                          <a:latin typeface="+mj-lt"/>
                        </a:rPr>
                        <a:t>Hạn chế hơn (chủ yếu dựa trên tập dữ liệu đã huấn luyện)</a:t>
                      </a:r>
                      <a:endParaRPr lang="vi-VN" sz="900" dirty="0">
                        <a:solidFill>
                          <a:schemeClr val="bg1"/>
                        </a:solidFill>
                        <a:effectLst/>
                        <a:latin typeface="+mj-lt"/>
                        <a:ea typeface="Arial" panose="020B0604020202020204" pitchFamily="34" charset="0"/>
                      </a:endParaRPr>
                    </a:p>
                  </a:txBody>
                  <a:tcPr marL="52140" marR="52140" marT="34760" marB="34760" anchor="ctr"/>
                </a:tc>
                <a:extLst>
                  <a:ext uri="{0D108BD9-81ED-4DB2-BD59-A6C34878D82A}">
                    <a16:rowId xmlns:a16="http://schemas.microsoft.com/office/drawing/2014/main" val="3100372362"/>
                  </a:ext>
                </a:extLst>
              </a:tr>
              <a:tr h="688416">
                <a:tc>
                  <a:txBody>
                    <a:bodyPr/>
                    <a:lstStyle/>
                    <a:p>
                      <a:pPr marL="71755" marR="71755" algn="ctr">
                        <a:lnSpc>
                          <a:spcPct val="107000"/>
                        </a:lnSpc>
                        <a:spcBef>
                          <a:spcPts val="600"/>
                        </a:spcBef>
                        <a:buNone/>
                      </a:pPr>
                      <a:r>
                        <a:rPr lang="vi-VN" sz="800" b="1" dirty="0">
                          <a:solidFill>
                            <a:schemeClr val="bg1"/>
                          </a:solidFill>
                          <a:effectLst/>
                          <a:latin typeface="+mj-lt"/>
                        </a:rPr>
                        <a:t>Khả năng Đa phương thức</a:t>
                      </a:r>
                      <a:endParaRPr lang="vi-VN" sz="900" b="1"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a:solidFill>
                            <a:schemeClr val="bg1"/>
                          </a:solidFill>
                          <a:effectLst/>
                          <a:latin typeface="+mj-lt"/>
                        </a:rPr>
                        <a:t>Rất mạnh (Văn bản, hình ảnh, giọng nói, tạo ảnh DALL·E 3)</a:t>
                      </a:r>
                      <a:endParaRPr lang="vi-VN" sz="90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dirty="0">
                          <a:solidFill>
                            <a:schemeClr val="bg1"/>
                          </a:solidFill>
                          <a:effectLst/>
                          <a:latin typeface="+mj-lt"/>
                        </a:rPr>
                        <a:t>Rất mạnh (Thiết kế ban đầu là đa phương thức, hiểu/tạo nội dung từ nhiều loại dữ liệu)</a:t>
                      </a:r>
                      <a:endParaRPr lang="vi-VN" sz="900"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dirty="0">
                          <a:solidFill>
                            <a:schemeClr val="bg1"/>
                          </a:solidFill>
                          <a:effectLst/>
                          <a:latin typeface="+mj-lt"/>
                        </a:rPr>
                        <a:t>Hạn chế hơn (chủ yếu là văn bản và xử lý hình ảnh đơn giản)</a:t>
                      </a:r>
                      <a:endParaRPr lang="vi-VN" sz="900"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spcAft>
                          <a:spcPts val="300"/>
                        </a:spcAft>
                        <a:buNone/>
                      </a:pPr>
                      <a:r>
                        <a:rPr lang="vi-VN" sz="800">
                          <a:solidFill>
                            <a:schemeClr val="bg1"/>
                          </a:solidFill>
                          <a:effectLst/>
                          <a:latin typeface="+mj-lt"/>
                        </a:rPr>
                        <a:t>Chủ yếu là văn bản và lập trình</a:t>
                      </a:r>
                      <a:endParaRPr lang="vi-VN" sz="900">
                        <a:solidFill>
                          <a:schemeClr val="bg1"/>
                        </a:solidFill>
                        <a:effectLst/>
                        <a:latin typeface="+mj-lt"/>
                        <a:ea typeface="Arial" panose="020B0604020202020204" pitchFamily="34" charset="0"/>
                      </a:endParaRPr>
                    </a:p>
                  </a:txBody>
                  <a:tcPr marL="52140" marR="52140" marT="34760" marB="34760" anchor="ctr"/>
                </a:tc>
                <a:extLst>
                  <a:ext uri="{0D108BD9-81ED-4DB2-BD59-A6C34878D82A}">
                    <a16:rowId xmlns:a16="http://schemas.microsoft.com/office/drawing/2014/main" val="3747234820"/>
                  </a:ext>
                </a:extLst>
              </a:tr>
              <a:tr h="420592">
                <a:tc>
                  <a:txBody>
                    <a:bodyPr/>
                    <a:lstStyle/>
                    <a:p>
                      <a:pPr marL="71755" marR="71755" algn="ctr">
                        <a:lnSpc>
                          <a:spcPct val="107000"/>
                        </a:lnSpc>
                        <a:spcBef>
                          <a:spcPts val="600"/>
                        </a:spcBef>
                        <a:buNone/>
                      </a:pPr>
                      <a:r>
                        <a:rPr lang="vi-VN" sz="800" b="1" dirty="0">
                          <a:solidFill>
                            <a:schemeClr val="bg1"/>
                          </a:solidFill>
                          <a:effectLst/>
                          <a:latin typeface="+mj-lt"/>
                        </a:rPr>
                        <a:t>Phong cách giao tiếp</a:t>
                      </a:r>
                      <a:endParaRPr lang="vi-VN" sz="900" b="1"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a:solidFill>
                            <a:schemeClr val="bg1"/>
                          </a:solidFill>
                          <a:effectLst/>
                          <a:latin typeface="+mj-lt"/>
                        </a:rPr>
                        <a:t>Chuyên nghiệp, tự nhiên, linh hoạt.</a:t>
                      </a:r>
                      <a:endParaRPr lang="vi-VN" sz="90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a:solidFill>
                            <a:schemeClr val="bg1"/>
                          </a:solidFill>
                          <a:effectLst/>
                          <a:latin typeface="+mj-lt"/>
                        </a:rPr>
                        <a:t>Chuyên nghiệp, tập trung vào thông tin.</a:t>
                      </a:r>
                      <a:endParaRPr lang="vi-VN" sz="90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dirty="0">
                          <a:solidFill>
                            <a:schemeClr val="bg1"/>
                          </a:solidFill>
                          <a:effectLst/>
                          <a:latin typeface="+mj-lt"/>
                        </a:rPr>
                        <a:t>Cá tính, hài hước, đôi khi sắc sảo và tranh luận.</a:t>
                      </a:r>
                      <a:endParaRPr lang="vi-VN" sz="900"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spcAft>
                          <a:spcPts val="300"/>
                        </a:spcAft>
                        <a:buNone/>
                      </a:pPr>
                      <a:r>
                        <a:rPr lang="vi-VN" sz="800">
                          <a:solidFill>
                            <a:schemeClr val="bg1"/>
                          </a:solidFill>
                          <a:effectLst/>
                          <a:latin typeface="+mj-lt"/>
                        </a:rPr>
                        <a:t>Ngắn gọn, súc tích, tập trung vào kỹ thuật.</a:t>
                      </a:r>
                      <a:endParaRPr lang="vi-VN" sz="900">
                        <a:solidFill>
                          <a:schemeClr val="bg1"/>
                        </a:solidFill>
                        <a:effectLst/>
                        <a:latin typeface="+mj-lt"/>
                        <a:ea typeface="Arial" panose="020B0604020202020204" pitchFamily="34" charset="0"/>
                      </a:endParaRPr>
                    </a:p>
                  </a:txBody>
                  <a:tcPr marL="52140" marR="52140" marT="34760" marB="34760" anchor="ctr"/>
                </a:tc>
                <a:extLst>
                  <a:ext uri="{0D108BD9-81ED-4DB2-BD59-A6C34878D82A}">
                    <a16:rowId xmlns:a16="http://schemas.microsoft.com/office/drawing/2014/main" val="1369079917"/>
                  </a:ext>
                </a:extLst>
              </a:tr>
              <a:tr h="688416">
                <a:tc>
                  <a:txBody>
                    <a:bodyPr/>
                    <a:lstStyle/>
                    <a:p>
                      <a:pPr marL="71755" marR="71755" algn="ctr">
                        <a:lnSpc>
                          <a:spcPct val="107000"/>
                        </a:lnSpc>
                        <a:spcBef>
                          <a:spcPts val="600"/>
                        </a:spcBef>
                        <a:buNone/>
                      </a:pPr>
                      <a:r>
                        <a:rPr lang="vi-VN" sz="800" b="1" dirty="0">
                          <a:solidFill>
                            <a:schemeClr val="bg1"/>
                          </a:solidFill>
                          <a:effectLst/>
                          <a:latin typeface="+mj-lt"/>
                        </a:rPr>
                        <a:t>Hệ sinh thái/Tích hợp</a:t>
                      </a:r>
                      <a:endParaRPr lang="vi-VN" sz="900" b="1"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a:solidFill>
                            <a:schemeClr val="bg1"/>
                          </a:solidFill>
                          <a:effectLst/>
                          <a:latin typeface="+mj-lt"/>
                        </a:rPr>
                        <a:t>Mạnh mẽ (Custom GPTs, API, Plugins, tích hợp với nhiều công cụ bên thứ ba).</a:t>
                      </a:r>
                      <a:endParaRPr lang="vi-VN" sz="90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a:solidFill>
                            <a:schemeClr val="bg1"/>
                          </a:solidFill>
                          <a:effectLst/>
                          <a:latin typeface="+mj-lt"/>
                        </a:rPr>
                        <a:t>Mạnh mẽ (Tích hợp sâu với Google Workspace, Android, các dịch vụ Google).</a:t>
                      </a:r>
                      <a:endParaRPr lang="vi-VN" sz="90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buNone/>
                      </a:pPr>
                      <a:r>
                        <a:rPr lang="vi-VN" sz="800" dirty="0">
                          <a:solidFill>
                            <a:schemeClr val="bg1"/>
                          </a:solidFill>
                          <a:effectLst/>
                          <a:latin typeface="+mj-lt"/>
                        </a:rPr>
                        <a:t>Tích hợp sâu với nền tảng X (Twitter).</a:t>
                      </a:r>
                      <a:endParaRPr lang="vi-VN" sz="900" dirty="0">
                        <a:solidFill>
                          <a:schemeClr val="bg1"/>
                        </a:solidFill>
                        <a:effectLst/>
                        <a:latin typeface="+mj-lt"/>
                        <a:ea typeface="Arial" panose="020B0604020202020204" pitchFamily="34" charset="0"/>
                      </a:endParaRPr>
                    </a:p>
                  </a:txBody>
                  <a:tcPr marL="52140" marR="52140" marT="34760" marB="34760" anchor="ctr"/>
                </a:tc>
                <a:tc>
                  <a:txBody>
                    <a:bodyPr/>
                    <a:lstStyle/>
                    <a:p>
                      <a:pPr marL="71755" marR="71755" algn="ctr">
                        <a:lnSpc>
                          <a:spcPct val="107000"/>
                        </a:lnSpc>
                        <a:spcBef>
                          <a:spcPts val="600"/>
                        </a:spcBef>
                        <a:spcAft>
                          <a:spcPts val="300"/>
                        </a:spcAft>
                        <a:buNone/>
                      </a:pPr>
                      <a:r>
                        <a:rPr lang="vi-VN" sz="800" dirty="0">
                          <a:solidFill>
                            <a:schemeClr val="bg1"/>
                          </a:solidFill>
                          <a:effectLst/>
                          <a:latin typeface="+mj-lt"/>
                        </a:rPr>
                        <a:t>Tập trung vào API cho lập trình viên (thường là mã nguồn mở hoặc chi phí thấp).</a:t>
                      </a:r>
                      <a:endParaRPr lang="vi-VN" sz="900" dirty="0">
                        <a:solidFill>
                          <a:schemeClr val="bg1"/>
                        </a:solidFill>
                        <a:effectLst/>
                        <a:latin typeface="+mj-lt"/>
                        <a:ea typeface="Arial" panose="020B0604020202020204" pitchFamily="34" charset="0"/>
                      </a:endParaRPr>
                    </a:p>
                  </a:txBody>
                  <a:tcPr marL="52140" marR="52140" marT="34760" marB="34760" anchor="ctr"/>
                </a:tc>
                <a:extLst>
                  <a:ext uri="{0D108BD9-81ED-4DB2-BD59-A6C34878D82A}">
                    <a16:rowId xmlns:a16="http://schemas.microsoft.com/office/drawing/2014/main" val="4154873223"/>
                  </a:ext>
                </a:extLst>
              </a:tr>
            </a:tbl>
          </a:graphicData>
        </a:graphic>
      </p:graphicFrame>
      <p:sp>
        <p:nvSpPr>
          <p:cNvPr id="5" name="Rectangle 2">
            <a:extLst>
              <a:ext uri="{FF2B5EF4-FFF2-40B4-BE49-F238E27FC236}">
                <a16:creationId xmlns:a16="http://schemas.microsoft.com/office/drawing/2014/main" id="{737E5E36-3FDE-7FFE-14E6-1F39EC0808FC}"/>
              </a:ext>
            </a:extLst>
          </p:cNvPr>
          <p:cNvSpPr>
            <a:spLocks noGrp="1" noChangeArrowheads="1"/>
          </p:cNvSpPr>
          <p:nvPr>
            <p:ph type="body" idx="1"/>
          </p:nvPr>
        </p:nvSpPr>
        <p:spPr bwMode="auto">
          <a:xfrm>
            <a:off x="360260" y="1533838"/>
            <a:ext cx="1249060" cy="2369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50784"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vi-VN" altLang="vi-VN" sz="3600" b="1"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a:t>
            </a:r>
            <a:r>
              <a:rPr kumimoji="0" lang="vi-VN" altLang="vi-VN" sz="36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ính </a:t>
            </a:r>
            <a:endParaRPr kumimoji="0" lang="en-US" altLang="vi-VN" sz="36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vi-VN" altLang="vi-VN" sz="36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nổi </a:t>
            </a:r>
            <a:endParaRPr kumimoji="0" lang="en-US" altLang="vi-VN" sz="36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vi-VN" altLang="vi-VN" sz="36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bật</a:t>
            </a:r>
            <a:endParaRPr kumimoji="0" lang="vi-VN" altLang="vi-VN" sz="3600" b="1"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vi-VN" altLang="vi-VN" sz="36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8104287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6B57700C-3392-0723-3A01-B0B5E251F6A1}"/>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F257D3CC-823D-61F9-3C63-3D8FEF98A704}"/>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5FF8360D-A446-532E-699D-B5D56ED7DD53}"/>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r>
              <a:rPr lang="en" b="1" dirty="0">
                <a:latin typeface="+mj-lt"/>
              </a:rPr>
              <a:t>CHƯƠNG 3 : </a:t>
            </a:r>
            <a:r>
              <a:rPr lang="en-US" b="1" dirty="0">
                <a:latin typeface="+mj-lt"/>
              </a:rPr>
              <a:t>CÁC KHÍA CẠNH CHÍNH</a:t>
            </a:r>
            <a:endParaRPr b="1" dirty="0">
              <a:latin typeface="+mj-lt"/>
            </a:endParaRPr>
          </a:p>
        </p:txBody>
      </p:sp>
      <p:grpSp>
        <p:nvGrpSpPr>
          <p:cNvPr id="797" name="Google Shape;797;p42">
            <a:extLst>
              <a:ext uri="{FF2B5EF4-FFF2-40B4-BE49-F238E27FC236}">
                <a16:creationId xmlns:a16="http://schemas.microsoft.com/office/drawing/2014/main" id="{47FD6018-422B-BC56-466A-3FB322C64E8E}"/>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BAB763EF-5F70-8F34-9F7B-FF34BD000BF2}"/>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FBCD1FB8-BEDE-B132-63CE-B8FF3CA4F7D5}"/>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99827D48-1D09-6406-F819-16B1D8CCE0C7}"/>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5C7C1BA4-CC3D-9EED-58E6-572986BCD269}"/>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40FEEFA2-6990-6ECD-1526-70F2A77D5110}"/>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94979C9F-B900-1BDD-11F8-57C62BE67A23}"/>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F2AB5393-161F-DB15-8BE0-E467F286DDD1}"/>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58E980A4-6BC5-726F-4B06-2B8AF539133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1E8DF7D2-5AF9-8A39-3253-4067267894A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7214D9A6-4D87-B7E0-4F5A-2D2FA5DC119B}"/>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07908428-2FEC-A963-D34E-870E88CD1FA7}"/>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C44AFEA8-559C-DBE3-B67E-3D32C073FB75}"/>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D3D9BF1C-0F3A-8ACC-AD38-7B6F7970CBAE}"/>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4F857CE5-D8CA-5624-A2B2-098363812480}"/>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94A2423A-C3D5-8C7E-295D-AB10F6CB19C7}"/>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6640D371-31C9-97FA-BBF4-FE03B8E062B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6AFCA59B-5874-06EE-2DAA-0AD89115EE8B}"/>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4E9B9F21-CCB8-6740-A002-A991AE6DA656}"/>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3" name="Table 2">
            <a:extLst>
              <a:ext uri="{FF2B5EF4-FFF2-40B4-BE49-F238E27FC236}">
                <a16:creationId xmlns:a16="http://schemas.microsoft.com/office/drawing/2014/main" id="{63D122F1-700E-5BAB-309F-5F957C56B1D1}"/>
              </a:ext>
            </a:extLst>
          </p:cNvPr>
          <p:cNvGraphicFramePr>
            <a:graphicFrameLocks noGrp="1"/>
          </p:cNvGraphicFramePr>
          <p:nvPr>
            <p:extLst>
              <p:ext uri="{D42A27DB-BD31-4B8C-83A1-F6EECF244321}">
                <p14:modId xmlns:p14="http://schemas.microsoft.com/office/powerpoint/2010/main" val="1178039705"/>
              </p:ext>
            </p:extLst>
          </p:nvPr>
        </p:nvGraphicFramePr>
        <p:xfrm>
          <a:off x="1021186" y="1179805"/>
          <a:ext cx="7871786" cy="3963695"/>
        </p:xfrm>
        <a:graphic>
          <a:graphicData uri="http://schemas.openxmlformats.org/drawingml/2006/table">
            <a:tbl>
              <a:tblPr firstRow="1" firstCol="1" bandRow="1">
                <a:tableStyleId>{7D39478E-FE93-4580-9B40-B0A813745C6C}</a:tableStyleId>
              </a:tblPr>
              <a:tblGrid>
                <a:gridCol w="1889146">
                  <a:extLst>
                    <a:ext uri="{9D8B030D-6E8A-4147-A177-3AD203B41FA5}">
                      <a16:colId xmlns:a16="http://schemas.microsoft.com/office/drawing/2014/main" val="54685170"/>
                    </a:ext>
                  </a:extLst>
                </a:gridCol>
                <a:gridCol w="2032928">
                  <a:extLst>
                    <a:ext uri="{9D8B030D-6E8A-4147-A177-3AD203B41FA5}">
                      <a16:colId xmlns:a16="http://schemas.microsoft.com/office/drawing/2014/main" val="3956124128"/>
                    </a:ext>
                  </a:extLst>
                </a:gridCol>
                <a:gridCol w="2014430">
                  <a:extLst>
                    <a:ext uri="{9D8B030D-6E8A-4147-A177-3AD203B41FA5}">
                      <a16:colId xmlns:a16="http://schemas.microsoft.com/office/drawing/2014/main" val="3746747867"/>
                    </a:ext>
                  </a:extLst>
                </a:gridCol>
                <a:gridCol w="1935282">
                  <a:extLst>
                    <a:ext uri="{9D8B030D-6E8A-4147-A177-3AD203B41FA5}">
                      <a16:colId xmlns:a16="http://schemas.microsoft.com/office/drawing/2014/main" val="2836067592"/>
                    </a:ext>
                  </a:extLst>
                </a:gridCol>
              </a:tblGrid>
              <a:tr h="359723">
                <a:tc>
                  <a:txBody>
                    <a:bodyPr/>
                    <a:lstStyle/>
                    <a:p>
                      <a:pPr marL="457200" lvl="1" algn="ctr">
                        <a:lnSpc>
                          <a:spcPct val="107000"/>
                        </a:lnSpc>
                        <a:spcBef>
                          <a:spcPts val="600"/>
                        </a:spcBef>
                        <a:buNone/>
                        <a:tabLst>
                          <a:tab pos="654050" algn="l"/>
                        </a:tabLst>
                      </a:pPr>
                      <a:r>
                        <a:rPr lang="vi-VN" sz="900" b="1" dirty="0">
                          <a:solidFill>
                            <a:schemeClr val="bg1"/>
                          </a:solidFill>
                          <a:effectLst/>
                          <a:latin typeface="+mj-lt"/>
                        </a:rPr>
                        <a:t>Mô hình</a:t>
                      </a:r>
                      <a:endParaRPr lang="vi-VN" sz="1000" b="1" dirty="0">
                        <a:solidFill>
                          <a:schemeClr val="bg1"/>
                        </a:solidFill>
                        <a:effectLst/>
                        <a:latin typeface="+mj-lt"/>
                        <a:ea typeface="Arial" panose="020B0604020202020204" pitchFamily="34" charset="0"/>
                      </a:endParaRPr>
                    </a:p>
                  </a:txBody>
                  <a:tcPr anchor="ctr"/>
                </a:tc>
                <a:tc>
                  <a:txBody>
                    <a:bodyPr/>
                    <a:lstStyle/>
                    <a:p>
                      <a:pPr marL="457200" lvl="1" algn="ctr">
                        <a:lnSpc>
                          <a:spcPct val="107000"/>
                        </a:lnSpc>
                        <a:spcBef>
                          <a:spcPts val="600"/>
                        </a:spcBef>
                        <a:buNone/>
                        <a:tabLst>
                          <a:tab pos="654050" algn="l"/>
                        </a:tabLst>
                      </a:pPr>
                      <a:r>
                        <a:rPr lang="vi-VN" sz="900" b="1" dirty="0">
                          <a:solidFill>
                            <a:schemeClr val="bg1"/>
                          </a:solidFill>
                          <a:effectLst/>
                          <a:latin typeface="+mj-lt"/>
                        </a:rPr>
                        <a:t>Kiến trúc cơ bản</a:t>
                      </a:r>
                      <a:endParaRPr lang="vi-VN" sz="1000" b="1" dirty="0">
                        <a:solidFill>
                          <a:schemeClr val="bg1"/>
                        </a:solidFill>
                        <a:effectLst/>
                        <a:latin typeface="+mj-lt"/>
                        <a:ea typeface="Arial" panose="020B0604020202020204" pitchFamily="34" charset="0"/>
                      </a:endParaRPr>
                    </a:p>
                  </a:txBody>
                  <a:tcPr anchor="ctr"/>
                </a:tc>
                <a:tc>
                  <a:txBody>
                    <a:bodyPr/>
                    <a:lstStyle/>
                    <a:p>
                      <a:pPr marL="457200" lvl="0" algn="ctr">
                        <a:lnSpc>
                          <a:spcPct val="107000"/>
                        </a:lnSpc>
                        <a:spcBef>
                          <a:spcPts val="600"/>
                        </a:spcBef>
                        <a:buNone/>
                        <a:tabLst>
                          <a:tab pos="654050" algn="l"/>
                        </a:tabLst>
                      </a:pPr>
                      <a:r>
                        <a:rPr lang="vi-VN" sz="900" b="1" dirty="0">
                          <a:solidFill>
                            <a:schemeClr val="bg1"/>
                          </a:solidFill>
                          <a:effectLst/>
                          <a:latin typeface="+mj-lt"/>
                        </a:rPr>
                        <a:t>Đặc điểm kiến trúc nổi bật</a:t>
                      </a:r>
                      <a:endParaRPr lang="vi-VN" sz="1000" b="1" dirty="0">
                        <a:solidFill>
                          <a:schemeClr val="bg1"/>
                        </a:solidFill>
                        <a:effectLst/>
                        <a:latin typeface="+mj-lt"/>
                        <a:ea typeface="Arial" panose="020B0604020202020204" pitchFamily="34" charset="0"/>
                      </a:endParaRPr>
                    </a:p>
                  </a:txBody>
                  <a:tcPr anchor="ctr"/>
                </a:tc>
                <a:tc>
                  <a:txBody>
                    <a:bodyPr/>
                    <a:lstStyle/>
                    <a:p>
                      <a:pPr marL="457200" lvl="0" algn="ctr">
                        <a:lnSpc>
                          <a:spcPct val="107000"/>
                        </a:lnSpc>
                        <a:spcBef>
                          <a:spcPts val="600"/>
                        </a:spcBef>
                        <a:spcAft>
                          <a:spcPts val="300"/>
                        </a:spcAft>
                        <a:buNone/>
                        <a:tabLst>
                          <a:tab pos="654050" algn="l"/>
                        </a:tabLst>
                      </a:pPr>
                      <a:r>
                        <a:rPr lang="vi-VN" sz="900" b="1" dirty="0">
                          <a:solidFill>
                            <a:schemeClr val="bg1"/>
                          </a:solidFill>
                          <a:effectLst/>
                          <a:latin typeface="+mj-lt"/>
                        </a:rPr>
                        <a:t>Mục tiêu thiết kế chính</a:t>
                      </a:r>
                      <a:endParaRPr lang="vi-VN" sz="1000" b="1" dirty="0">
                        <a:solidFill>
                          <a:schemeClr val="bg1"/>
                        </a:solidFill>
                        <a:effectLst/>
                        <a:latin typeface="+mj-lt"/>
                        <a:ea typeface="Arial" panose="020B0604020202020204" pitchFamily="34" charset="0"/>
                      </a:endParaRPr>
                    </a:p>
                  </a:txBody>
                  <a:tcPr anchor="ctr"/>
                </a:tc>
                <a:extLst>
                  <a:ext uri="{0D108BD9-81ED-4DB2-BD59-A6C34878D82A}">
                    <a16:rowId xmlns:a16="http://schemas.microsoft.com/office/drawing/2014/main" val="3826221692"/>
                  </a:ext>
                </a:extLst>
              </a:tr>
              <a:tr h="792739">
                <a:tc>
                  <a:txBody>
                    <a:bodyPr/>
                    <a:lstStyle/>
                    <a:p>
                      <a:pPr marL="457200" algn="ctr">
                        <a:lnSpc>
                          <a:spcPct val="107000"/>
                        </a:lnSpc>
                        <a:spcBef>
                          <a:spcPts val="600"/>
                        </a:spcBef>
                        <a:buNone/>
                        <a:tabLst>
                          <a:tab pos="654050" algn="l"/>
                        </a:tabLst>
                      </a:pPr>
                      <a:r>
                        <a:rPr lang="vi-VN" sz="800" b="1" dirty="0">
                          <a:solidFill>
                            <a:schemeClr val="bg1"/>
                          </a:solidFill>
                          <a:effectLst/>
                          <a:latin typeface="+mj-lt"/>
                        </a:rPr>
                        <a:t>ChatGPT (GPT-3/4/4o)</a:t>
                      </a:r>
                      <a:endParaRPr lang="vi-VN" sz="900" b="1" dirty="0">
                        <a:solidFill>
                          <a:schemeClr val="bg1"/>
                        </a:solidFill>
                        <a:effectLst/>
                        <a:latin typeface="+mj-lt"/>
                        <a:ea typeface="Arial" panose="020B0604020202020204" pitchFamily="34" charset="0"/>
                      </a:endParaRPr>
                    </a:p>
                  </a:txBody>
                  <a:tcPr anchor="ctr"/>
                </a:tc>
                <a:tc>
                  <a:txBody>
                    <a:bodyPr/>
                    <a:lstStyle/>
                    <a:p>
                      <a:pPr marL="457200" algn="ctr">
                        <a:lnSpc>
                          <a:spcPct val="107000"/>
                        </a:lnSpc>
                        <a:spcBef>
                          <a:spcPts val="600"/>
                        </a:spcBef>
                        <a:buNone/>
                        <a:tabLst>
                          <a:tab pos="654050" algn="l"/>
                        </a:tabLst>
                      </a:pPr>
                      <a:r>
                        <a:rPr lang="vi-VN" sz="800" dirty="0">
                          <a:solidFill>
                            <a:schemeClr val="bg1"/>
                          </a:solidFill>
                          <a:effectLst/>
                          <a:latin typeface="+mj-lt"/>
                        </a:rPr>
                        <a:t>Transformer Decoder-Only</a:t>
                      </a:r>
                      <a:endParaRPr lang="vi-VN" sz="900" dirty="0">
                        <a:solidFill>
                          <a:schemeClr val="bg1"/>
                        </a:solidFill>
                        <a:effectLst/>
                        <a:latin typeface="+mj-lt"/>
                        <a:ea typeface="Arial" panose="020B0604020202020204" pitchFamily="34" charset="0"/>
                      </a:endParaRPr>
                    </a:p>
                  </a:txBody>
                  <a:tcPr anchor="ctr"/>
                </a:tc>
                <a:tc>
                  <a:txBody>
                    <a:bodyPr/>
                    <a:lstStyle/>
                    <a:p>
                      <a:pPr marL="457200" algn="ctr">
                        <a:lnSpc>
                          <a:spcPct val="107000"/>
                        </a:lnSpc>
                        <a:spcBef>
                          <a:spcPts val="600"/>
                        </a:spcBef>
                        <a:buNone/>
                        <a:tabLst>
                          <a:tab pos="654050" algn="l"/>
                        </a:tabLst>
                      </a:pPr>
                      <a:r>
                        <a:rPr lang="vi-VN" sz="800" dirty="0">
                          <a:solidFill>
                            <a:schemeClr val="bg1"/>
                          </a:solidFill>
                          <a:effectLst/>
                          <a:latin typeface="+mj-lt"/>
                        </a:rPr>
                        <a:t>- Scale (Quy mô): Rất lớn (GPT-4 ước tính hàng nghìn tỷ tham số, GPT-4o tinh gọn và đa phương thức).</a:t>
                      </a:r>
                      <a:endParaRPr lang="vi-VN" sz="900" dirty="0">
                        <a:solidFill>
                          <a:schemeClr val="bg1"/>
                        </a:solidFill>
                        <a:effectLst/>
                        <a:latin typeface="+mj-lt"/>
                        <a:ea typeface="Arial" panose="020B0604020202020204" pitchFamily="34" charset="0"/>
                      </a:endParaRPr>
                    </a:p>
                  </a:txBody>
                  <a:tcPr anchor="ctr"/>
                </a:tc>
                <a:tc>
                  <a:txBody>
                    <a:bodyPr/>
                    <a:lstStyle/>
                    <a:p>
                      <a:pPr marL="457200" algn="ctr">
                        <a:lnSpc>
                          <a:spcPct val="107000"/>
                        </a:lnSpc>
                        <a:spcBef>
                          <a:spcPts val="600"/>
                        </a:spcBef>
                        <a:spcAft>
                          <a:spcPts val="300"/>
                        </a:spcAft>
                        <a:buNone/>
                        <a:tabLst>
                          <a:tab pos="654050" algn="l"/>
                        </a:tabLst>
                      </a:pPr>
                      <a:r>
                        <a:rPr lang="vi-VN" sz="800" dirty="0">
                          <a:solidFill>
                            <a:schemeClr val="bg1"/>
                          </a:solidFill>
                          <a:effectLst/>
                          <a:latin typeface="+mj-lt"/>
                        </a:rPr>
                        <a:t>Sáng tạo nội dung, giao tiếp tự nhiên, suy luận tổng quát.</a:t>
                      </a:r>
                      <a:endParaRPr lang="vi-VN" sz="900" dirty="0">
                        <a:solidFill>
                          <a:schemeClr val="bg1"/>
                        </a:solidFill>
                        <a:effectLst/>
                        <a:latin typeface="+mj-lt"/>
                        <a:ea typeface="Arial" panose="020B0604020202020204" pitchFamily="34" charset="0"/>
                      </a:endParaRPr>
                    </a:p>
                  </a:txBody>
                  <a:tcPr anchor="ctr"/>
                </a:tc>
                <a:extLst>
                  <a:ext uri="{0D108BD9-81ED-4DB2-BD59-A6C34878D82A}">
                    <a16:rowId xmlns:a16="http://schemas.microsoft.com/office/drawing/2014/main" val="1884061725"/>
                  </a:ext>
                </a:extLst>
              </a:tr>
              <a:tr h="937078">
                <a:tc>
                  <a:txBody>
                    <a:bodyPr/>
                    <a:lstStyle/>
                    <a:p>
                      <a:pPr marL="457200" algn="ctr">
                        <a:lnSpc>
                          <a:spcPct val="107000"/>
                        </a:lnSpc>
                        <a:spcBef>
                          <a:spcPts val="600"/>
                        </a:spcBef>
                        <a:buNone/>
                        <a:tabLst>
                          <a:tab pos="654050" algn="l"/>
                        </a:tabLst>
                      </a:pPr>
                      <a:r>
                        <a:rPr lang="vi-VN" sz="800" b="1" dirty="0">
                          <a:solidFill>
                            <a:schemeClr val="bg1"/>
                          </a:solidFill>
                          <a:effectLst/>
                          <a:latin typeface="+mj-lt"/>
                        </a:rPr>
                        <a:t>Gemini (Google)</a:t>
                      </a:r>
                      <a:endParaRPr lang="vi-VN" sz="900" b="1" dirty="0">
                        <a:solidFill>
                          <a:schemeClr val="bg1"/>
                        </a:solidFill>
                        <a:effectLst/>
                        <a:latin typeface="+mj-lt"/>
                        <a:ea typeface="Arial" panose="020B0604020202020204" pitchFamily="34" charset="0"/>
                      </a:endParaRPr>
                    </a:p>
                  </a:txBody>
                  <a:tcPr anchor="ctr"/>
                </a:tc>
                <a:tc>
                  <a:txBody>
                    <a:bodyPr/>
                    <a:lstStyle/>
                    <a:p>
                      <a:pPr marL="457200" algn="ctr">
                        <a:lnSpc>
                          <a:spcPct val="107000"/>
                        </a:lnSpc>
                        <a:spcBef>
                          <a:spcPts val="600"/>
                        </a:spcBef>
                        <a:buNone/>
                        <a:tabLst>
                          <a:tab pos="654050" algn="l"/>
                        </a:tabLst>
                      </a:pPr>
                      <a:r>
                        <a:rPr lang="vi-VN" sz="800" dirty="0">
                          <a:solidFill>
                            <a:schemeClr val="bg1"/>
                          </a:solidFill>
                          <a:effectLst/>
                          <a:latin typeface="+mj-lt"/>
                        </a:rPr>
                        <a:t>Transformer Tùy biến (Native Multimodality)</a:t>
                      </a:r>
                      <a:endParaRPr lang="vi-VN" sz="900" dirty="0">
                        <a:solidFill>
                          <a:schemeClr val="bg1"/>
                        </a:solidFill>
                        <a:effectLst/>
                        <a:latin typeface="+mj-lt"/>
                        <a:ea typeface="Arial" panose="020B0604020202020204" pitchFamily="34" charset="0"/>
                      </a:endParaRPr>
                    </a:p>
                  </a:txBody>
                  <a:tcPr anchor="ctr"/>
                </a:tc>
                <a:tc>
                  <a:txBody>
                    <a:bodyPr/>
                    <a:lstStyle/>
                    <a:p>
                      <a:pPr marL="457200" algn="ctr">
                        <a:lnSpc>
                          <a:spcPct val="107000"/>
                        </a:lnSpc>
                        <a:spcBef>
                          <a:spcPts val="600"/>
                        </a:spcBef>
                        <a:buNone/>
                        <a:tabLst>
                          <a:tab pos="654050" algn="l"/>
                        </a:tabLst>
                      </a:pPr>
                      <a:r>
                        <a:rPr lang="vi-VN" sz="800" dirty="0">
                          <a:solidFill>
                            <a:schemeClr val="bg1"/>
                          </a:solidFill>
                          <a:effectLst/>
                          <a:latin typeface="+mj-lt"/>
                        </a:rPr>
                        <a:t>- Đa phương thức gốc: Được thiết kế ngay từ đầu để xử lý văn bản, hình ảnh, âm thanh, video trong cùng một mô hình.</a:t>
                      </a:r>
                      <a:endParaRPr lang="vi-VN" sz="900" dirty="0">
                        <a:solidFill>
                          <a:schemeClr val="bg1"/>
                        </a:solidFill>
                        <a:effectLst/>
                        <a:latin typeface="+mj-lt"/>
                        <a:ea typeface="Arial" panose="020B0604020202020204" pitchFamily="34" charset="0"/>
                      </a:endParaRPr>
                    </a:p>
                  </a:txBody>
                  <a:tcPr anchor="ctr"/>
                </a:tc>
                <a:tc>
                  <a:txBody>
                    <a:bodyPr/>
                    <a:lstStyle/>
                    <a:p>
                      <a:pPr marL="457200" algn="ctr">
                        <a:lnSpc>
                          <a:spcPct val="107000"/>
                        </a:lnSpc>
                        <a:spcBef>
                          <a:spcPts val="600"/>
                        </a:spcBef>
                        <a:spcAft>
                          <a:spcPts val="300"/>
                        </a:spcAft>
                        <a:buNone/>
                        <a:tabLst>
                          <a:tab pos="654050" algn="l"/>
                        </a:tabLst>
                      </a:pPr>
                      <a:r>
                        <a:rPr lang="vi-VN" sz="800" dirty="0">
                          <a:solidFill>
                            <a:schemeClr val="bg1"/>
                          </a:solidFill>
                          <a:effectLst/>
                          <a:latin typeface="+mj-lt"/>
                        </a:rPr>
                        <a:t>Suy luận phức tạp, xử lý đa phương thức, tích hợp hệ sinh thái Google.</a:t>
                      </a:r>
                      <a:endParaRPr lang="vi-VN" sz="900" dirty="0">
                        <a:solidFill>
                          <a:schemeClr val="bg1"/>
                        </a:solidFill>
                        <a:effectLst/>
                        <a:latin typeface="+mj-lt"/>
                        <a:ea typeface="Arial" panose="020B0604020202020204" pitchFamily="34" charset="0"/>
                      </a:endParaRPr>
                    </a:p>
                  </a:txBody>
                  <a:tcPr anchor="ctr"/>
                </a:tc>
                <a:extLst>
                  <a:ext uri="{0D108BD9-81ED-4DB2-BD59-A6C34878D82A}">
                    <a16:rowId xmlns:a16="http://schemas.microsoft.com/office/drawing/2014/main" val="2247575502"/>
                  </a:ext>
                </a:extLst>
              </a:tr>
              <a:tr h="1081416">
                <a:tc>
                  <a:txBody>
                    <a:bodyPr/>
                    <a:lstStyle/>
                    <a:p>
                      <a:pPr marL="457200" algn="ctr">
                        <a:lnSpc>
                          <a:spcPct val="107000"/>
                        </a:lnSpc>
                        <a:spcBef>
                          <a:spcPts val="600"/>
                        </a:spcBef>
                        <a:buNone/>
                        <a:tabLst>
                          <a:tab pos="654050" algn="l"/>
                        </a:tabLst>
                      </a:pPr>
                      <a:r>
                        <a:rPr lang="vi-VN" sz="800" b="1" dirty="0">
                          <a:solidFill>
                            <a:schemeClr val="bg1"/>
                          </a:solidFill>
                          <a:effectLst/>
                          <a:latin typeface="+mj-lt"/>
                        </a:rPr>
                        <a:t>DeepSeek (DeepSeek-MoE)</a:t>
                      </a:r>
                      <a:endParaRPr lang="vi-VN" sz="900" b="1" dirty="0">
                        <a:solidFill>
                          <a:schemeClr val="bg1"/>
                        </a:solidFill>
                        <a:effectLst/>
                        <a:latin typeface="+mj-lt"/>
                        <a:ea typeface="Arial" panose="020B0604020202020204" pitchFamily="34" charset="0"/>
                      </a:endParaRPr>
                    </a:p>
                  </a:txBody>
                  <a:tcPr anchor="ctr"/>
                </a:tc>
                <a:tc>
                  <a:txBody>
                    <a:bodyPr/>
                    <a:lstStyle/>
                    <a:p>
                      <a:pPr marL="457200" algn="ctr">
                        <a:lnSpc>
                          <a:spcPct val="107000"/>
                        </a:lnSpc>
                        <a:spcBef>
                          <a:spcPts val="600"/>
                        </a:spcBef>
                        <a:buNone/>
                        <a:tabLst>
                          <a:tab pos="654050" algn="l"/>
                        </a:tabLst>
                      </a:pPr>
                      <a:r>
                        <a:rPr lang="vi-VN" sz="800" dirty="0">
                          <a:solidFill>
                            <a:schemeClr val="bg1"/>
                          </a:solidFill>
                          <a:effectLst/>
                          <a:latin typeface="+mj-lt"/>
                        </a:rPr>
                        <a:t>Transformer/Mixture-of-Experts (MoE)</a:t>
                      </a:r>
                      <a:endParaRPr lang="vi-VN" sz="900" dirty="0">
                        <a:solidFill>
                          <a:schemeClr val="bg1"/>
                        </a:solidFill>
                        <a:effectLst/>
                        <a:latin typeface="+mj-lt"/>
                        <a:ea typeface="Arial" panose="020B0604020202020204" pitchFamily="34" charset="0"/>
                      </a:endParaRPr>
                    </a:p>
                  </a:txBody>
                  <a:tcPr anchor="ctr"/>
                </a:tc>
                <a:tc>
                  <a:txBody>
                    <a:bodyPr/>
                    <a:lstStyle/>
                    <a:p>
                      <a:pPr marL="457200" algn="ctr">
                        <a:lnSpc>
                          <a:spcPct val="107000"/>
                        </a:lnSpc>
                        <a:spcBef>
                          <a:spcPts val="600"/>
                        </a:spcBef>
                        <a:buNone/>
                        <a:tabLst>
                          <a:tab pos="654050" algn="l"/>
                        </a:tabLst>
                      </a:pPr>
                      <a:r>
                        <a:rPr lang="vi-VN" sz="800" dirty="0">
                          <a:solidFill>
                            <a:schemeClr val="bg1"/>
                          </a:solidFill>
                          <a:effectLst/>
                          <a:latin typeface="+mj-lt"/>
                        </a:rPr>
                        <a:t>- MoE: Sử dụng nhiều "chuyên gia" (Expert), chỉ kích hoạt một phần nhỏ mô hình cho mỗi truy vấn để tăng tốc độ và giảm chi phí.</a:t>
                      </a:r>
                      <a:endParaRPr lang="vi-VN" sz="900" dirty="0">
                        <a:solidFill>
                          <a:schemeClr val="bg1"/>
                        </a:solidFill>
                        <a:effectLst/>
                        <a:latin typeface="+mj-lt"/>
                        <a:ea typeface="Arial" panose="020B0604020202020204" pitchFamily="34" charset="0"/>
                      </a:endParaRPr>
                    </a:p>
                  </a:txBody>
                  <a:tcPr anchor="ctr"/>
                </a:tc>
                <a:tc>
                  <a:txBody>
                    <a:bodyPr/>
                    <a:lstStyle/>
                    <a:p>
                      <a:pPr marL="457200" algn="ctr">
                        <a:lnSpc>
                          <a:spcPct val="107000"/>
                        </a:lnSpc>
                        <a:spcBef>
                          <a:spcPts val="600"/>
                        </a:spcBef>
                        <a:spcAft>
                          <a:spcPts val="300"/>
                        </a:spcAft>
                        <a:buNone/>
                        <a:tabLst>
                          <a:tab pos="654050" algn="l"/>
                        </a:tabLst>
                      </a:pPr>
                      <a:r>
                        <a:rPr lang="vi-VN" sz="800" dirty="0">
                          <a:solidFill>
                            <a:schemeClr val="bg1"/>
                          </a:solidFill>
                          <a:effectLst/>
                          <a:latin typeface="+mj-lt"/>
                        </a:rPr>
                        <a:t>Hiệu quả chi phí, khả năng lập trình (Code) và toán học mạnh mẽ.</a:t>
                      </a:r>
                      <a:endParaRPr lang="vi-VN" sz="900" dirty="0">
                        <a:solidFill>
                          <a:schemeClr val="bg1"/>
                        </a:solidFill>
                        <a:effectLst/>
                        <a:latin typeface="+mj-lt"/>
                        <a:ea typeface="Arial" panose="020B0604020202020204" pitchFamily="34" charset="0"/>
                      </a:endParaRPr>
                    </a:p>
                  </a:txBody>
                  <a:tcPr anchor="ctr"/>
                </a:tc>
                <a:extLst>
                  <a:ext uri="{0D108BD9-81ED-4DB2-BD59-A6C34878D82A}">
                    <a16:rowId xmlns:a16="http://schemas.microsoft.com/office/drawing/2014/main" val="651740837"/>
                  </a:ext>
                </a:extLst>
              </a:tr>
              <a:tr h="792739">
                <a:tc>
                  <a:txBody>
                    <a:bodyPr/>
                    <a:lstStyle/>
                    <a:p>
                      <a:pPr marL="457200" algn="ctr">
                        <a:lnSpc>
                          <a:spcPct val="107000"/>
                        </a:lnSpc>
                        <a:spcBef>
                          <a:spcPts val="600"/>
                        </a:spcBef>
                        <a:buNone/>
                        <a:tabLst>
                          <a:tab pos="654050" algn="l"/>
                        </a:tabLst>
                      </a:pPr>
                      <a:r>
                        <a:rPr lang="vi-VN" sz="800" b="1" dirty="0">
                          <a:solidFill>
                            <a:schemeClr val="bg1"/>
                          </a:solidFill>
                          <a:effectLst/>
                          <a:latin typeface="+mj-lt"/>
                        </a:rPr>
                        <a:t>Grok (xAI)</a:t>
                      </a:r>
                      <a:endParaRPr lang="vi-VN" sz="900" b="1" dirty="0">
                        <a:solidFill>
                          <a:schemeClr val="bg1"/>
                        </a:solidFill>
                        <a:effectLst/>
                        <a:latin typeface="+mj-lt"/>
                        <a:ea typeface="Arial" panose="020B0604020202020204" pitchFamily="34" charset="0"/>
                      </a:endParaRPr>
                    </a:p>
                  </a:txBody>
                  <a:tcPr anchor="ctr"/>
                </a:tc>
                <a:tc>
                  <a:txBody>
                    <a:bodyPr/>
                    <a:lstStyle/>
                    <a:p>
                      <a:pPr marL="457200" algn="ctr">
                        <a:lnSpc>
                          <a:spcPct val="107000"/>
                        </a:lnSpc>
                        <a:spcBef>
                          <a:spcPts val="600"/>
                        </a:spcBef>
                        <a:buNone/>
                        <a:tabLst>
                          <a:tab pos="654050" algn="l"/>
                        </a:tabLst>
                      </a:pPr>
                      <a:r>
                        <a:rPr lang="vi-VN" sz="800" dirty="0">
                          <a:solidFill>
                            <a:schemeClr val="bg1"/>
                          </a:solidFill>
                          <a:effectLst/>
                          <a:latin typeface="+mj-lt"/>
                        </a:rPr>
                        <a:t>Transformer Decoder-Only (Grok-1/Grok-2)</a:t>
                      </a:r>
                      <a:endParaRPr lang="vi-VN" sz="900" dirty="0">
                        <a:solidFill>
                          <a:schemeClr val="bg1"/>
                        </a:solidFill>
                        <a:effectLst/>
                        <a:latin typeface="+mj-lt"/>
                        <a:ea typeface="Arial" panose="020B0604020202020204" pitchFamily="34" charset="0"/>
                      </a:endParaRPr>
                    </a:p>
                  </a:txBody>
                  <a:tcPr anchor="ctr"/>
                </a:tc>
                <a:tc>
                  <a:txBody>
                    <a:bodyPr/>
                    <a:lstStyle/>
                    <a:p>
                      <a:pPr marL="457200" algn="ctr">
                        <a:lnSpc>
                          <a:spcPct val="107000"/>
                        </a:lnSpc>
                        <a:spcBef>
                          <a:spcPts val="600"/>
                        </a:spcBef>
                        <a:buNone/>
                        <a:tabLst>
                          <a:tab pos="654050" algn="l"/>
                        </a:tabLst>
                      </a:pPr>
                      <a:r>
                        <a:rPr lang="vi-VN" sz="800" dirty="0">
                          <a:solidFill>
                            <a:schemeClr val="bg1"/>
                          </a:solidFill>
                          <a:effectLst/>
                          <a:latin typeface="+mj-lt"/>
                        </a:rPr>
                        <a:t>- Tích hợp thời gian thực: Kết nối trực tiếp với dữ liệu trên nền tảng X (Twitter).</a:t>
                      </a:r>
                      <a:endParaRPr lang="vi-VN" sz="900" dirty="0">
                        <a:solidFill>
                          <a:schemeClr val="bg1"/>
                        </a:solidFill>
                        <a:effectLst/>
                        <a:latin typeface="+mj-lt"/>
                        <a:ea typeface="Arial" panose="020B0604020202020204" pitchFamily="34" charset="0"/>
                      </a:endParaRPr>
                    </a:p>
                  </a:txBody>
                  <a:tcPr anchor="ctr"/>
                </a:tc>
                <a:tc>
                  <a:txBody>
                    <a:bodyPr/>
                    <a:lstStyle/>
                    <a:p>
                      <a:pPr marL="457200" algn="ctr">
                        <a:lnSpc>
                          <a:spcPct val="107000"/>
                        </a:lnSpc>
                        <a:spcBef>
                          <a:spcPts val="600"/>
                        </a:spcBef>
                        <a:spcAft>
                          <a:spcPts val="300"/>
                        </a:spcAft>
                        <a:buNone/>
                        <a:tabLst>
                          <a:tab pos="654050" algn="l"/>
                        </a:tabLst>
                      </a:pPr>
                      <a:r>
                        <a:rPr lang="vi-VN" sz="800" dirty="0">
                          <a:solidFill>
                            <a:schemeClr val="bg1"/>
                          </a:solidFill>
                          <a:effectLst/>
                          <a:latin typeface="+mj-lt"/>
                        </a:rPr>
                        <a:t>Cập nhật thông tin nhanh, phong cách giao tiếp độc đáo, khả năng xử lý câu hỏi cấm kỵ.</a:t>
                      </a:r>
                      <a:endParaRPr lang="vi-VN" sz="900" dirty="0">
                        <a:solidFill>
                          <a:schemeClr val="bg1"/>
                        </a:solidFill>
                        <a:effectLst/>
                        <a:latin typeface="+mj-lt"/>
                        <a:ea typeface="Arial" panose="020B0604020202020204" pitchFamily="34" charset="0"/>
                      </a:endParaRPr>
                    </a:p>
                  </a:txBody>
                  <a:tcPr anchor="ctr"/>
                </a:tc>
                <a:extLst>
                  <a:ext uri="{0D108BD9-81ED-4DB2-BD59-A6C34878D82A}">
                    <a16:rowId xmlns:a16="http://schemas.microsoft.com/office/drawing/2014/main" val="274237542"/>
                  </a:ext>
                </a:extLst>
              </a:tr>
            </a:tbl>
          </a:graphicData>
        </a:graphic>
      </p:graphicFrame>
      <p:sp>
        <p:nvSpPr>
          <p:cNvPr id="6" name="Rectangle 1">
            <a:extLst>
              <a:ext uri="{FF2B5EF4-FFF2-40B4-BE49-F238E27FC236}">
                <a16:creationId xmlns:a16="http://schemas.microsoft.com/office/drawing/2014/main" id="{12B42A6F-886B-99CA-43AD-099AB350382C}"/>
              </a:ext>
            </a:extLst>
          </p:cNvPr>
          <p:cNvSpPr>
            <a:spLocks noGrp="1" noChangeArrowheads="1"/>
          </p:cNvSpPr>
          <p:nvPr>
            <p:ph type="body" idx="1"/>
          </p:nvPr>
        </p:nvSpPr>
        <p:spPr bwMode="auto">
          <a:xfrm>
            <a:off x="61585" y="1494616"/>
            <a:ext cx="1083951" cy="2616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50784" numCol="1" anchor="ctr" anchorCtr="0" compatLnSpc="1">
            <a:prstTxWarp prst="textNoShape">
              <a:avLst/>
            </a:prstTxWarp>
            <a:spAutoFit/>
          </a:bodyPr>
          <a:lstStyle>
            <a:lvl1pPr eaLnBrk="0" fontAlgn="base" hangingPunct="0">
              <a:spcBef>
                <a:spcPct val="0"/>
              </a:spcBef>
              <a:spcAft>
                <a:spcPct val="0"/>
              </a:spcAft>
              <a:tabLst>
                <a:tab pos="65405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65405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65405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65405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65405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65405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65405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65405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654050"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654050" algn="l"/>
              </a:tabLst>
            </a:pPr>
            <a:r>
              <a:rPr kumimoji="0" lang="vi-VN" altLang="vi-VN" sz="3200" i="0" u="none" strike="noStrike" cap="none" normalizeH="0" baseline="0" dirty="0">
                <a:ln>
                  <a:noFill/>
                </a:ln>
                <a:solidFill>
                  <a:schemeClr val="bg1"/>
                </a:solidFill>
                <a:effectLst/>
                <a:latin typeface="+mj-lt"/>
                <a:ea typeface="Times New Roman" panose="02020603050405020304" pitchFamily="18" charset="0"/>
                <a:cs typeface="Times New Roman" panose="02020603050405020304" pitchFamily="18" charset="0"/>
              </a:rPr>
              <a:t>M</a:t>
            </a:r>
            <a:r>
              <a:rPr kumimoji="0" lang="vi-VN" altLang="vi-VN" sz="3200" i="0" u="none" strike="noStrike" cap="none" normalizeH="0" baseline="0" dirty="0" bmk="">
                <a:ln>
                  <a:noFill/>
                </a:ln>
                <a:solidFill>
                  <a:schemeClr val="bg1"/>
                </a:solidFill>
                <a:effectLst/>
                <a:latin typeface="+mj-lt"/>
                <a:ea typeface="Times New Roman" panose="02020603050405020304" pitchFamily="18" charset="0"/>
                <a:cs typeface="Times New Roman" panose="02020603050405020304" pitchFamily="18" charset="0"/>
              </a:rPr>
              <a:t>ô </a:t>
            </a:r>
            <a:endParaRPr kumimoji="0" lang="en-US" altLang="vi-VN" sz="3200" i="0" u="none" strike="noStrike" cap="none" normalizeH="0" baseline="0" dirty="0" bmk="">
              <a:ln>
                <a:noFill/>
              </a:ln>
              <a:solidFill>
                <a:schemeClr val="bg1"/>
              </a:solidFill>
              <a:effectLst/>
              <a:latin typeface="+mj-lt"/>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654050" algn="l"/>
              </a:tabLst>
            </a:pPr>
            <a:r>
              <a:rPr kumimoji="0" lang="vi-VN" altLang="vi-VN" sz="3200" i="0" u="none" strike="noStrike" cap="none" normalizeH="0" baseline="0" dirty="0" bmk="">
                <a:ln>
                  <a:noFill/>
                </a:ln>
                <a:solidFill>
                  <a:schemeClr val="bg1"/>
                </a:solidFill>
                <a:effectLst/>
                <a:latin typeface="+mj-lt"/>
                <a:ea typeface="Times New Roman" panose="02020603050405020304" pitchFamily="18" charset="0"/>
                <a:cs typeface="Times New Roman" panose="02020603050405020304" pitchFamily="18" charset="0"/>
              </a:rPr>
              <a:t>hình </a:t>
            </a:r>
            <a:endParaRPr kumimoji="0" lang="en-US" altLang="vi-VN" sz="3200" i="0" u="none" strike="noStrike" cap="none" normalizeH="0" baseline="0" dirty="0" bmk="">
              <a:ln>
                <a:noFill/>
              </a:ln>
              <a:solidFill>
                <a:schemeClr val="bg1"/>
              </a:solidFill>
              <a:effectLst/>
              <a:latin typeface="+mj-lt"/>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654050" algn="l"/>
              </a:tabLst>
            </a:pPr>
            <a:r>
              <a:rPr kumimoji="0" lang="vi-VN" altLang="vi-VN" sz="3200" i="0" u="none" strike="noStrike" cap="none" normalizeH="0" baseline="0" dirty="0" bmk="">
                <a:ln>
                  <a:noFill/>
                </a:ln>
                <a:solidFill>
                  <a:schemeClr val="bg1"/>
                </a:solidFill>
                <a:effectLst/>
                <a:latin typeface="+mj-lt"/>
                <a:ea typeface="Times New Roman" panose="02020603050405020304" pitchFamily="18" charset="0"/>
                <a:cs typeface="Times New Roman" panose="02020603050405020304" pitchFamily="18" charset="0"/>
              </a:rPr>
              <a:t>kiến </a:t>
            </a:r>
            <a:endParaRPr kumimoji="0" lang="en-US" altLang="vi-VN" sz="3200" i="0" u="none" strike="noStrike" cap="none" normalizeH="0" baseline="0" dirty="0" bmk="">
              <a:ln>
                <a:noFill/>
              </a:ln>
              <a:solidFill>
                <a:schemeClr val="bg1"/>
              </a:solidFill>
              <a:effectLst/>
              <a:latin typeface="+mj-lt"/>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654050" algn="l"/>
              </a:tabLst>
            </a:pPr>
            <a:r>
              <a:rPr kumimoji="0" lang="vi-VN" altLang="vi-VN" sz="3200" i="0" u="none" strike="noStrike" cap="none" normalizeH="0" baseline="0" dirty="0" bmk="">
                <a:ln>
                  <a:noFill/>
                </a:ln>
                <a:solidFill>
                  <a:schemeClr val="bg1"/>
                </a:solidFill>
                <a:effectLst/>
                <a:latin typeface="+mj-lt"/>
                <a:ea typeface="Times New Roman" panose="02020603050405020304" pitchFamily="18" charset="0"/>
                <a:cs typeface="Times New Roman" panose="02020603050405020304" pitchFamily="18" charset="0"/>
              </a:rPr>
              <a:t>trúc</a:t>
            </a:r>
            <a:endParaRPr kumimoji="0" lang="vi-VN" altLang="vi-VN" sz="3200" i="0" u="none" strike="noStrike" cap="none" normalizeH="0" baseline="0" dirty="0">
              <a:ln>
                <a:noFill/>
              </a:ln>
              <a:solidFill>
                <a:schemeClr val="bg1"/>
              </a:solidFill>
              <a:effectLst/>
              <a:latin typeface="+mj-lt"/>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654050" algn="l"/>
              </a:tabLst>
            </a:pPr>
            <a:endParaRPr kumimoji="0" lang="vi-VN" altLang="vi-VN" sz="3200" i="0" u="none" strike="noStrike" cap="none" normalizeH="0" baseline="0" dirty="0">
              <a:ln>
                <a:noFill/>
              </a:ln>
              <a:solidFill>
                <a:schemeClr val="bg1"/>
              </a:solidFill>
              <a:effectLst/>
              <a:latin typeface="+mj-lt"/>
            </a:endParaRPr>
          </a:p>
        </p:txBody>
      </p:sp>
    </p:spTree>
    <p:extLst>
      <p:ext uri="{BB962C8B-B14F-4D97-AF65-F5344CB8AC3E}">
        <p14:creationId xmlns:p14="http://schemas.microsoft.com/office/powerpoint/2010/main" val="19214321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F95F89C8-AC09-D4D7-AE86-955BAC252B23}"/>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66B66D96-8537-2989-B607-72F1E14D10C8}"/>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57B554F2-4AD4-562E-564B-AE07F6F6DB8B}"/>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mj-lt"/>
              </a:rPr>
              <a:t>CHƯƠNG 3: CÁC KHÍA CẠNH CHÍNH</a:t>
            </a:r>
            <a:endParaRPr b="1" dirty="0">
              <a:latin typeface="+mj-lt"/>
            </a:endParaRPr>
          </a:p>
        </p:txBody>
      </p:sp>
      <p:grpSp>
        <p:nvGrpSpPr>
          <p:cNvPr id="797" name="Google Shape;797;p42">
            <a:extLst>
              <a:ext uri="{FF2B5EF4-FFF2-40B4-BE49-F238E27FC236}">
                <a16:creationId xmlns:a16="http://schemas.microsoft.com/office/drawing/2014/main" id="{C42C523A-1350-5FE3-E123-5DC239C2F733}"/>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5422218A-55B7-7A23-85EF-F1D7D5C493C4}"/>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5AB07995-3DFC-BDDD-5F42-AB95B8A105BC}"/>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E4AB80B2-9BBE-E223-5F18-69B1888D7C85}"/>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F1F3AB03-0A28-76AC-F901-F4D8C0AE37BD}"/>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7E542DE3-CF0D-D65E-A141-325D0ECE3943}"/>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75AE34E2-9130-0E65-B3F5-59A055F0B507}"/>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E3FFADAC-F20A-C032-AA92-CEC89B0362E3}"/>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67EA853D-8E58-1C10-37F8-8B0C054EF74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03EC5BF0-E149-CD46-F370-320FBCF9A20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2EA8A3A5-DC6E-0CB6-05AA-5D64E8FF814A}"/>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F4FEF82D-F2D7-E2B5-2737-F913FEBBABCB}"/>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D7806B0B-17F3-7F2D-4964-DE3FDE250519}"/>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68F23B6E-3BD6-3E3F-DC1A-E3AF18EF350A}"/>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9D63A6D8-946A-41C3-287A-A365B083E6E0}"/>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E3EF7DD5-6D78-9888-C7C3-AFD6A5DF7F78}"/>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B9E3EF7D-24EB-7E81-91A5-5E2714F47AFC}"/>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363AEA9B-2A9A-7F8E-650E-2A5DDD295BE7}"/>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DD1C1AA9-51FE-8154-F0B7-75AEA164F88D}"/>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6" name="Google Shape;796;p42">
            <a:extLst>
              <a:ext uri="{FF2B5EF4-FFF2-40B4-BE49-F238E27FC236}">
                <a16:creationId xmlns:a16="http://schemas.microsoft.com/office/drawing/2014/main" id="{A1198010-39A6-645C-01D5-35F84D9EF3A5}"/>
              </a:ext>
            </a:extLst>
          </p:cNvPr>
          <p:cNvSpPr txBox="1">
            <a:spLocks noGrp="1"/>
          </p:cNvSpPr>
          <p:nvPr>
            <p:ph type="body" idx="1"/>
          </p:nvPr>
        </p:nvSpPr>
        <p:spPr>
          <a:xfrm>
            <a:off x="713225" y="1246560"/>
            <a:ext cx="7704000" cy="2594700"/>
          </a:xfrm>
          <a:prstGeom prst="rect">
            <a:avLst/>
          </a:prstGeom>
        </p:spPr>
        <p:txBody>
          <a:bodyPr spcFirstLastPara="1" wrap="square" lIns="91425" tIns="91425" rIns="91425" bIns="91425" anchor="t" anchorCtr="0">
            <a:noAutofit/>
          </a:bodyPr>
          <a:lstStyle/>
          <a:p>
            <a:pPr marL="596900" lvl="1" indent="0">
              <a:buNone/>
            </a:pPr>
            <a:r>
              <a:rPr lang="vi-VN" sz="1200" b="1" dirty="0">
                <a:latin typeface="+mj-lt"/>
              </a:rPr>
              <a:t>Khả năng xử lí ngôn ngữ</a:t>
            </a:r>
          </a:p>
          <a:p>
            <a:pPr lvl="1"/>
            <a:r>
              <a:rPr lang="vi-VN" sz="1300" dirty="0">
                <a:latin typeface="+mj-lt"/>
              </a:rPr>
              <a:t>ChatGPT (GPT-4/GPT-4o)</a:t>
            </a:r>
          </a:p>
          <a:p>
            <a:pPr lvl="0"/>
            <a:r>
              <a:rPr lang="vi-VN" sz="1100" dirty="0">
                <a:latin typeface="+mj-lt"/>
              </a:rPr>
              <a:t>Điểm mạnh cốt lõi: Tính tự nhiên và tính sáng tạo.</a:t>
            </a:r>
          </a:p>
          <a:p>
            <a:r>
              <a:rPr lang="vi-VN" sz="1100" dirty="0">
                <a:latin typeface="+mj-lt"/>
              </a:rPr>
              <a:t> ChatGPT được đánh giá cao về khả năng viết văn, thơ, kịch bản, và duy trì một cuộc trò chuyện kéo dài mà vẫn giữ được ngữ cảnh và giọng văn nhất quán. GPT-4o cải thiện đáng kể tốc độ và khả năng xử lý giọng nói, làm cho trải nghiệm ngôn ngữ trở nên mượt mà hơn.</a:t>
            </a:r>
          </a:p>
          <a:p>
            <a:pPr lvl="1"/>
            <a:r>
              <a:rPr lang="vi-VN" sz="1300" dirty="0">
                <a:latin typeface="+mj-lt"/>
              </a:rPr>
              <a:t>Gemini (Ultra/Pro)</a:t>
            </a:r>
          </a:p>
          <a:p>
            <a:pPr lvl="0"/>
            <a:r>
              <a:rPr lang="vi-VN" sz="1100" dirty="0">
                <a:latin typeface="+mj-lt"/>
              </a:rPr>
              <a:t>Điểm mạnh cốt lõi: Suy luận phức tạp và Tính chính xác theo ngữ cảnh. </a:t>
            </a:r>
          </a:p>
          <a:p>
            <a:r>
              <a:rPr lang="vi-VN" sz="1100" dirty="0">
                <a:latin typeface="+mj-lt"/>
              </a:rPr>
              <a:t>Nhờ được huấn luyện trên bộ dữ liệu đa dạng và tích hợp Google Search, Gemini có khả năng tổng hợp thông tin và đưa ra các câu trả lời chính xác và chi tiết. Khả năng suy luận ngôn ngữ của nó (ví dụ: giải thích một sơ đồ hoặc một công thức) rất mạnh mẽ.</a:t>
            </a:r>
          </a:p>
          <a:p>
            <a:pPr lvl="1"/>
            <a:r>
              <a:rPr lang="vi-VN" sz="1300" dirty="0">
                <a:latin typeface="+mj-lt"/>
              </a:rPr>
              <a:t>DeepSeek</a:t>
            </a:r>
          </a:p>
          <a:p>
            <a:pPr lvl="0"/>
            <a:r>
              <a:rPr lang="vi-VN" sz="1100" dirty="0">
                <a:latin typeface="+mj-lt"/>
              </a:rPr>
              <a:t>Điểm mạnh cốt lõi: Ngôn ngữ kỹ thuật và Cấu trúc Logic.</a:t>
            </a:r>
          </a:p>
          <a:p>
            <a:r>
              <a:rPr lang="vi-VN" sz="1100" dirty="0">
                <a:latin typeface="+mj-lt"/>
              </a:rPr>
              <a:t> DeepSeek tỏa sáng trong các lĩnh vực yêu cầu tính logic cao như giải toán, lập trình (tạo, giải thích và sửa lỗi mã), và các tác vụ theo hướng dữ liệu. Văn bản DeepSeek tạo ra thường ngắn gọn và tập trung vào thông tin cốt lõi, ít lan man.</a:t>
            </a:r>
          </a:p>
          <a:p>
            <a:pPr lvl="1"/>
            <a:r>
              <a:rPr lang="vi-VN" sz="1300" dirty="0">
                <a:latin typeface="+mj-lt"/>
              </a:rPr>
              <a:t>Grok</a:t>
            </a:r>
          </a:p>
          <a:p>
            <a:pPr lvl="0"/>
            <a:r>
              <a:rPr lang="vi-VN" sz="1100" dirty="0">
                <a:latin typeface="+mj-lt"/>
              </a:rPr>
              <a:t>Điểm mạnh cốt lõi: Ngôn ngữ thời gian thực và Cá tính riêng. </a:t>
            </a:r>
          </a:p>
          <a:p>
            <a:r>
              <a:rPr lang="vi-VN" sz="1100" dirty="0">
                <a:latin typeface="+mj-lt"/>
              </a:rPr>
              <a:t>Grok sử dụng ngôn ngữ để thể hiện một cá tính độc đáo – đôi khi hài hước, châm biếm, và không ngại trả lời các câu hỏi gây tranh cãi. Khả năng xử lý ngôn ngữ của nó được tối ưu hóa để tương tác với dữ liệu thời gian thực từ X, cho phép nó hiểu và thảo luận về các chủ đề đang </a:t>
            </a:r>
            <a:r>
              <a:rPr lang="vi-VN" sz="1100" i="1" dirty="0">
                <a:latin typeface="+mj-lt"/>
              </a:rPr>
              <a:t>hot</a:t>
            </a:r>
            <a:r>
              <a:rPr lang="vi-VN" sz="1100" dirty="0">
                <a:latin typeface="+mj-lt"/>
              </a:rPr>
              <a:t> một cách nhanh chóng.</a:t>
            </a:r>
          </a:p>
        </p:txBody>
      </p:sp>
      <p:grpSp>
        <p:nvGrpSpPr>
          <p:cNvPr id="2" name="Google Shape;804;p42">
            <a:extLst>
              <a:ext uri="{FF2B5EF4-FFF2-40B4-BE49-F238E27FC236}">
                <a16:creationId xmlns:a16="http://schemas.microsoft.com/office/drawing/2014/main" id="{E0776AE1-C8D5-40C4-3EFE-6B717E6A3E72}"/>
              </a:ext>
            </a:extLst>
          </p:cNvPr>
          <p:cNvGrpSpPr/>
          <p:nvPr/>
        </p:nvGrpSpPr>
        <p:grpSpPr>
          <a:xfrm>
            <a:off x="8034802" y="4079585"/>
            <a:ext cx="1096749" cy="1020364"/>
            <a:chOff x="827350" y="3629733"/>
            <a:chExt cx="1431600" cy="1332067"/>
          </a:xfrm>
        </p:grpSpPr>
        <p:sp>
          <p:nvSpPr>
            <p:cNvPr id="3" name="Google Shape;805;p42">
              <a:extLst>
                <a:ext uri="{FF2B5EF4-FFF2-40B4-BE49-F238E27FC236}">
                  <a16:creationId xmlns:a16="http://schemas.microsoft.com/office/drawing/2014/main" id="{DBE73669-1F0A-8102-F2A3-65E6DAA8ACB2}"/>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06;p42">
              <a:extLst>
                <a:ext uri="{FF2B5EF4-FFF2-40B4-BE49-F238E27FC236}">
                  <a16:creationId xmlns:a16="http://schemas.microsoft.com/office/drawing/2014/main" id="{0AC07D45-6B75-CA19-B228-57148B3FBCD8}"/>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07;p42">
              <a:extLst>
                <a:ext uri="{FF2B5EF4-FFF2-40B4-BE49-F238E27FC236}">
                  <a16:creationId xmlns:a16="http://schemas.microsoft.com/office/drawing/2014/main" id="{757CD277-34DA-0A96-DDC4-934B78E3518A}"/>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804;p42">
            <a:extLst>
              <a:ext uri="{FF2B5EF4-FFF2-40B4-BE49-F238E27FC236}">
                <a16:creationId xmlns:a16="http://schemas.microsoft.com/office/drawing/2014/main" id="{67AFC336-E033-968C-D687-FA1555B57EDD}"/>
              </a:ext>
            </a:extLst>
          </p:cNvPr>
          <p:cNvGrpSpPr/>
          <p:nvPr/>
        </p:nvGrpSpPr>
        <p:grpSpPr>
          <a:xfrm>
            <a:off x="8187202" y="4231985"/>
            <a:ext cx="1096749" cy="1020364"/>
            <a:chOff x="827350" y="3629733"/>
            <a:chExt cx="1431600" cy="1332067"/>
          </a:xfrm>
        </p:grpSpPr>
        <p:sp>
          <p:nvSpPr>
            <p:cNvPr id="7" name="Google Shape;805;p42">
              <a:extLst>
                <a:ext uri="{FF2B5EF4-FFF2-40B4-BE49-F238E27FC236}">
                  <a16:creationId xmlns:a16="http://schemas.microsoft.com/office/drawing/2014/main" id="{5DED8C71-8DBF-B5C9-B9C5-975EB6CC05D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06;p42">
              <a:extLst>
                <a:ext uri="{FF2B5EF4-FFF2-40B4-BE49-F238E27FC236}">
                  <a16:creationId xmlns:a16="http://schemas.microsoft.com/office/drawing/2014/main" id="{42EB05E9-38D8-4922-3ADF-B20CAC8A96A0}"/>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07;p42">
              <a:extLst>
                <a:ext uri="{FF2B5EF4-FFF2-40B4-BE49-F238E27FC236}">
                  <a16:creationId xmlns:a16="http://schemas.microsoft.com/office/drawing/2014/main" id="{D10CE67D-41C9-9A67-C711-505B33E78CB6}"/>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4236088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FFCA1B5D-F062-A7C7-BE6B-4495DC7B59B2}"/>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A0133ED3-80DB-7C8C-627C-0999C173D83D}"/>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B257F405-0D5F-A2B9-E11C-24B81129BCA6}"/>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mj-lt"/>
              </a:rPr>
              <a:t>CHƯƠNG 3: CÁC KHÍA CẠNH CHÍNH</a:t>
            </a:r>
            <a:endParaRPr b="1" dirty="0">
              <a:latin typeface="+mj-lt"/>
            </a:endParaRPr>
          </a:p>
        </p:txBody>
      </p:sp>
      <p:grpSp>
        <p:nvGrpSpPr>
          <p:cNvPr id="797" name="Google Shape;797;p42">
            <a:extLst>
              <a:ext uri="{FF2B5EF4-FFF2-40B4-BE49-F238E27FC236}">
                <a16:creationId xmlns:a16="http://schemas.microsoft.com/office/drawing/2014/main" id="{0EEA4DBE-731C-17C1-3831-CE057ABC54ED}"/>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0A0F2390-9022-FE86-1160-426999873AE2}"/>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0B66BCED-49EC-05B2-0983-596A92A5D7DF}"/>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0B3B0DD4-EFC8-77C4-B385-21797CD5930D}"/>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A7BC1DAA-B7A3-0547-7F04-26B58B773352}"/>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97CBFEA0-83FF-35D4-0A46-D64663D4C701}"/>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D8892A45-D4CF-7860-853A-14E6EE15F0A2}"/>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2958DA8D-FDDE-A301-06D1-C84D4F2F2B6C}"/>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A07E5826-BF0B-FFC7-9C76-48F953257210}"/>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69B761C0-4889-D11E-E960-C8A2A1467BF9}"/>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0CE418CB-6387-3D01-271A-8668941C1D41}"/>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26946DCC-D9B2-E971-4E76-E0C3533628D3}"/>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9421D27C-B9D4-EE6C-416E-34300AF22215}"/>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B95EF4E7-90BC-E4BA-57C3-012F3DEFB349}"/>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014A9056-C720-D524-7E94-2EFE5C801DCE}"/>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60315505-6C4C-C8F0-B526-41E7F5AAD9D7}"/>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72F2289A-1EB6-6B63-6C3F-1517CA86933E}"/>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86A2BD7F-A898-C1A0-259F-A289626896E9}"/>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E2D9F88A-DF1C-B634-760D-339BDD388CDB}"/>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804;p42">
            <a:extLst>
              <a:ext uri="{FF2B5EF4-FFF2-40B4-BE49-F238E27FC236}">
                <a16:creationId xmlns:a16="http://schemas.microsoft.com/office/drawing/2014/main" id="{B79791AD-F96E-616C-20CF-434C4027F5B6}"/>
              </a:ext>
            </a:extLst>
          </p:cNvPr>
          <p:cNvGrpSpPr/>
          <p:nvPr/>
        </p:nvGrpSpPr>
        <p:grpSpPr>
          <a:xfrm>
            <a:off x="8034802" y="4079585"/>
            <a:ext cx="1096749" cy="1020364"/>
            <a:chOff x="827350" y="3629733"/>
            <a:chExt cx="1431600" cy="1332067"/>
          </a:xfrm>
        </p:grpSpPr>
        <p:sp>
          <p:nvSpPr>
            <p:cNvPr id="3" name="Google Shape;805;p42">
              <a:extLst>
                <a:ext uri="{FF2B5EF4-FFF2-40B4-BE49-F238E27FC236}">
                  <a16:creationId xmlns:a16="http://schemas.microsoft.com/office/drawing/2014/main" id="{B7DEE8C8-0E64-554B-3E85-B1C5D8F3032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06;p42">
              <a:extLst>
                <a:ext uri="{FF2B5EF4-FFF2-40B4-BE49-F238E27FC236}">
                  <a16:creationId xmlns:a16="http://schemas.microsoft.com/office/drawing/2014/main" id="{6F97FA8E-8C2B-361B-95F2-3B475D210EB5}"/>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07;p42">
              <a:extLst>
                <a:ext uri="{FF2B5EF4-FFF2-40B4-BE49-F238E27FC236}">
                  <a16:creationId xmlns:a16="http://schemas.microsoft.com/office/drawing/2014/main" id="{BFC31EE8-D237-76EB-1AAE-530239008783}"/>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804;p42">
            <a:extLst>
              <a:ext uri="{FF2B5EF4-FFF2-40B4-BE49-F238E27FC236}">
                <a16:creationId xmlns:a16="http://schemas.microsoft.com/office/drawing/2014/main" id="{8EF692FA-9752-488F-1D9D-CCAE25524FFB}"/>
              </a:ext>
            </a:extLst>
          </p:cNvPr>
          <p:cNvGrpSpPr/>
          <p:nvPr/>
        </p:nvGrpSpPr>
        <p:grpSpPr>
          <a:xfrm>
            <a:off x="8187202" y="4231985"/>
            <a:ext cx="1096749" cy="1020364"/>
            <a:chOff x="827350" y="3629733"/>
            <a:chExt cx="1431600" cy="1332067"/>
          </a:xfrm>
        </p:grpSpPr>
        <p:sp>
          <p:nvSpPr>
            <p:cNvPr id="7" name="Google Shape;805;p42">
              <a:extLst>
                <a:ext uri="{FF2B5EF4-FFF2-40B4-BE49-F238E27FC236}">
                  <a16:creationId xmlns:a16="http://schemas.microsoft.com/office/drawing/2014/main" id="{CC3BBF44-38B9-16F2-9370-AD03CAFAF833}"/>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06;p42">
              <a:extLst>
                <a:ext uri="{FF2B5EF4-FFF2-40B4-BE49-F238E27FC236}">
                  <a16:creationId xmlns:a16="http://schemas.microsoft.com/office/drawing/2014/main" id="{C74504F2-2F2C-EF65-5345-D7B7AFCE6338}"/>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07;p42">
              <a:extLst>
                <a:ext uri="{FF2B5EF4-FFF2-40B4-BE49-F238E27FC236}">
                  <a16:creationId xmlns:a16="http://schemas.microsoft.com/office/drawing/2014/main" id="{7C807B68-F90A-B7EC-1888-C9165A43FED2}"/>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12" name="Table 11">
            <a:extLst>
              <a:ext uri="{FF2B5EF4-FFF2-40B4-BE49-F238E27FC236}">
                <a16:creationId xmlns:a16="http://schemas.microsoft.com/office/drawing/2014/main" id="{EC64C2F4-E6A5-C4CC-B7B6-6DCFC802EE97}"/>
              </a:ext>
            </a:extLst>
          </p:cNvPr>
          <p:cNvGraphicFramePr>
            <a:graphicFrameLocks noGrp="1"/>
          </p:cNvGraphicFramePr>
          <p:nvPr>
            <p:extLst>
              <p:ext uri="{D42A27DB-BD31-4B8C-83A1-F6EECF244321}">
                <p14:modId xmlns:p14="http://schemas.microsoft.com/office/powerpoint/2010/main" val="2905657960"/>
              </p:ext>
            </p:extLst>
          </p:nvPr>
        </p:nvGraphicFramePr>
        <p:xfrm>
          <a:off x="1978293" y="1284550"/>
          <a:ext cx="6438932" cy="3519998"/>
        </p:xfrm>
        <a:graphic>
          <a:graphicData uri="http://schemas.openxmlformats.org/drawingml/2006/table">
            <a:tbl>
              <a:tblPr firstRow="1" firstCol="1" bandRow="1">
                <a:tableStyleId>{7D39478E-FE93-4580-9B40-B0A813745C6C}</a:tableStyleId>
              </a:tblPr>
              <a:tblGrid>
                <a:gridCol w="1609733">
                  <a:extLst>
                    <a:ext uri="{9D8B030D-6E8A-4147-A177-3AD203B41FA5}">
                      <a16:colId xmlns:a16="http://schemas.microsoft.com/office/drawing/2014/main" val="3656149516"/>
                    </a:ext>
                  </a:extLst>
                </a:gridCol>
                <a:gridCol w="1609733">
                  <a:extLst>
                    <a:ext uri="{9D8B030D-6E8A-4147-A177-3AD203B41FA5}">
                      <a16:colId xmlns:a16="http://schemas.microsoft.com/office/drawing/2014/main" val="24164405"/>
                    </a:ext>
                  </a:extLst>
                </a:gridCol>
                <a:gridCol w="1609733">
                  <a:extLst>
                    <a:ext uri="{9D8B030D-6E8A-4147-A177-3AD203B41FA5}">
                      <a16:colId xmlns:a16="http://schemas.microsoft.com/office/drawing/2014/main" val="139928421"/>
                    </a:ext>
                  </a:extLst>
                </a:gridCol>
                <a:gridCol w="1609733">
                  <a:extLst>
                    <a:ext uri="{9D8B030D-6E8A-4147-A177-3AD203B41FA5}">
                      <a16:colId xmlns:a16="http://schemas.microsoft.com/office/drawing/2014/main" val="2524952286"/>
                    </a:ext>
                  </a:extLst>
                </a:gridCol>
              </a:tblGrid>
              <a:tr h="396757">
                <a:tc>
                  <a:txBody>
                    <a:bodyPr/>
                    <a:lstStyle/>
                    <a:p>
                      <a:pPr algn="ctr">
                        <a:lnSpc>
                          <a:spcPct val="107000"/>
                        </a:lnSpc>
                        <a:spcBef>
                          <a:spcPts val="600"/>
                        </a:spcBef>
                        <a:spcAft>
                          <a:spcPts val="300"/>
                        </a:spcAft>
                        <a:buNone/>
                        <a:tabLst>
                          <a:tab pos="654050" algn="l"/>
                        </a:tabLst>
                      </a:pPr>
                      <a:r>
                        <a:rPr lang="vi-VN" sz="900" b="1" dirty="0">
                          <a:solidFill>
                            <a:schemeClr val="bg1"/>
                          </a:solidFill>
                          <a:effectLst/>
                          <a:latin typeface="+mj-lt"/>
                        </a:rPr>
                        <a:t>Mô hình</a:t>
                      </a:r>
                      <a:endParaRPr lang="vi-VN" sz="900" b="1" dirty="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b="1" dirty="0">
                          <a:solidFill>
                            <a:schemeClr val="bg1"/>
                          </a:solidFill>
                          <a:effectLst/>
                          <a:latin typeface="+mj-lt"/>
                        </a:rPr>
                        <a:t>Tốc độ phản hồi (Latency)</a:t>
                      </a:r>
                      <a:endParaRPr lang="vi-VN" sz="900" b="1" dirty="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b="1" dirty="0">
                          <a:solidFill>
                            <a:schemeClr val="bg1"/>
                          </a:solidFill>
                          <a:effectLst/>
                          <a:latin typeface="+mj-lt"/>
                        </a:rPr>
                        <a:t>Tính ổn định (Availability &amp; Reliability)</a:t>
                      </a:r>
                      <a:endParaRPr lang="vi-VN" sz="900" b="1" dirty="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b="1" dirty="0">
                          <a:solidFill>
                            <a:schemeClr val="bg1"/>
                          </a:solidFill>
                          <a:effectLst/>
                          <a:latin typeface="+mj-lt"/>
                        </a:rPr>
                        <a:t>Yếu tố kiến trúc ảnh hưởng</a:t>
                      </a:r>
                      <a:endParaRPr lang="vi-VN" sz="900" b="1" dirty="0">
                        <a:solidFill>
                          <a:schemeClr val="bg1"/>
                        </a:solidFill>
                        <a:effectLst/>
                        <a:latin typeface="+mj-lt"/>
                        <a:ea typeface="Arial" panose="020B0604020202020204" pitchFamily="34" charset="0"/>
                      </a:endParaRPr>
                    </a:p>
                  </a:txBody>
                  <a:tcPr marL="55173" marR="55173" marT="36782" marB="36782" anchor="ctr"/>
                </a:tc>
                <a:extLst>
                  <a:ext uri="{0D108BD9-81ED-4DB2-BD59-A6C34878D82A}">
                    <a16:rowId xmlns:a16="http://schemas.microsoft.com/office/drawing/2014/main" val="3203191062"/>
                  </a:ext>
                </a:extLst>
              </a:tr>
              <a:tr h="617144">
                <a:tc>
                  <a:txBody>
                    <a:bodyPr/>
                    <a:lstStyle/>
                    <a:p>
                      <a:pPr algn="ctr">
                        <a:lnSpc>
                          <a:spcPct val="107000"/>
                        </a:lnSpc>
                        <a:spcBef>
                          <a:spcPts val="600"/>
                        </a:spcBef>
                        <a:spcAft>
                          <a:spcPts val="300"/>
                        </a:spcAft>
                        <a:buNone/>
                        <a:tabLst>
                          <a:tab pos="654050" algn="l"/>
                        </a:tabLst>
                      </a:pPr>
                      <a:r>
                        <a:rPr lang="vi-VN" sz="900" b="1" dirty="0">
                          <a:solidFill>
                            <a:schemeClr val="bg1"/>
                          </a:solidFill>
                          <a:effectLst/>
                          <a:latin typeface="+mj-lt"/>
                        </a:rPr>
                        <a:t>ChatGPT (GPT-4o)</a:t>
                      </a:r>
                      <a:endParaRPr lang="vi-VN" sz="900" b="1" dirty="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dirty="0">
                          <a:solidFill>
                            <a:schemeClr val="bg1"/>
                          </a:solidFill>
                          <a:effectLst/>
                          <a:latin typeface="+mj-lt"/>
                        </a:rPr>
                        <a:t>Rất nhanh (Đặc biệt với 4o). Tốc độ phản hồi gần như tức thì, vượt trội so với các phiên bản trước.</a:t>
                      </a:r>
                      <a:endParaRPr lang="vi-VN" sz="900" dirty="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dirty="0">
                          <a:solidFill>
                            <a:schemeClr val="bg1"/>
                          </a:solidFill>
                          <a:effectLst/>
                          <a:latin typeface="+mj-lt"/>
                        </a:rPr>
                        <a:t>Nền tảng đã trưởng thành, có cơ sở hạ tầng mạnh mẽ, nhưng vẫn có thể bị quá tải trong giờ cao điểm.</a:t>
                      </a:r>
                      <a:endParaRPr lang="vi-VN" sz="900" dirty="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a:solidFill>
                            <a:schemeClr val="bg1"/>
                          </a:solidFill>
                          <a:effectLst/>
                          <a:latin typeface="+mj-lt"/>
                        </a:rPr>
                        <a:t>Sử dụng kiến trúc MoE (GPT-4) và tối ưu hóa end-to-end (GPT-4o) giúp tăng tốc độ đáng kể.</a:t>
                      </a:r>
                      <a:endParaRPr lang="vi-VN" sz="900">
                        <a:solidFill>
                          <a:schemeClr val="bg1"/>
                        </a:solidFill>
                        <a:effectLst/>
                        <a:latin typeface="+mj-lt"/>
                        <a:ea typeface="Arial" panose="020B0604020202020204" pitchFamily="34" charset="0"/>
                      </a:endParaRPr>
                    </a:p>
                  </a:txBody>
                  <a:tcPr marL="55173" marR="55173" marT="36782" marB="36782" anchor="ctr"/>
                </a:tc>
                <a:extLst>
                  <a:ext uri="{0D108BD9-81ED-4DB2-BD59-A6C34878D82A}">
                    <a16:rowId xmlns:a16="http://schemas.microsoft.com/office/drawing/2014/main" val="2783922809"/>
                  </a:ext>
                </a:extLst>
              </a:tr>
              <a:tr h="727337">
                <a:tc>
                  <a:txBody>
                    <a:bodyPr/>
                    <a:lstStyle/>
                    <a:p>
                      <a:pPr algn="ctr">
                        <a:lnSpc>
                          <a:spcPct val="107000"/>
                        </a:lnSpc>
                        <a:spcBef>
                          <a:spcPts val="600"/>
                        </a:spcBef>
                        <a:spcAft>
                          <a:spcPts val="300"/>
                        </a:spcAft>
                        <a:buNone/>
                        <a:tabLst>
                          <a:tab pos="654050" algn="l"/>
                        </a:tabLst>
                      </a:pPr>
                      <a:r>
                        <a:rPr lang="vi-VN" sz="900" b="1" dirty="0">
                          <a:solidFill>
                            <a:schemeClr val="bg1"/>
                          </a:solidFill>
                          <a:effectLst/>
                          <a:latin typeface="+mj-lt"/>
                        </a:rPr>
                        <a:t>Gemini (Flash/Pro)</a:t>
                      </a:r>
                      <a:endParaRPr lang="vi-VN" sz="900" b="1" dirty="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a:solidFill>
                            <a:schemeClr val="bg1"/>
                          </a:solidFill>
                          <a:effectLst/>
                          <a:latin typeface="+mj-lt"/>
                        </a:rPr>
                        <a:t>Flash được tối ưu hóa cho tốc độ cao và chi phí thấp. Pro và Ultra có độ trễ cao hơn nhưng vẫn chấp nhận được.</a:t>
                      </a:r>
                      <a:endParaRPr lang="vi-VN" sz="90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dirty="0">
                          <a:solidFill>
                            <a:schemeClr val="bg1"/>
                          </a:solidFill>
                          <a:effectLst/>
                          <a:latin typeface="+mj-lt"/>
                        </a:rPr>
                        <a:t>Được hỗ trợ bởi cơ sở hạ tầng đám mây của Google (GCP), đảm bảo độ khả dụng và khả năng mở rộng tuyệt vời.</a:t>
                      </a:r>
                      <a:endParaRPr lang="vi-VN" sz="900" dirty="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a:solidFill>
                            <a:schemeClr val="bg1"/>
                          </a:solidFill>
                          <a:effectLst/>
                          <a:latin typeface="+mj-lt"/>
                        </a:rPr>
                        <a:t>Phiên bản Flash được tối ưu hóa cho tốc độ và hiệu quả, lý tưởng cho các ứng dụng đòi hỏi độ trễ thấp.</a:t>
                      </a:r>
                      <a:endParaRPr lang="vi-VN" sz="900">
                        <a:solidFill>
                          <a:schemeClr val="bg1"/>
                        </a:solidFill>
                        <a:effectLst/>
                        <a:latin typeface="+mj-lt"/>
                        <a:ea typeface="Arial" panose="020B0604020202020204" pitchFamily="34" charset="0"/>
                      </a:endParaRPr>
                    </a:p>
                  </a:txBody>
                  <a:tcPr marL="55173" marR="55173" marT="36782" marB="36782" anchor="ctr"/>
                </a:tc>
                <a:extLst>
                  <a:ext uri="{0D108BD9-81ED-4DB2-BD59-A6C34878D82A}">
                    <a16:rowId xmlns:a16="http://schemas.microsoft.com/office/drawing/2014/main" val="3222094437"/>
                  </a:ext>
                </a:extLst>
              </a:tr>
              <a:tr h="947724">
                <a:tc>
                  <a:txBody>
                    <a:bodyPr/>
                    <a:lstStyle/>
                    <a:p>
                      <a:pPr algn="ctr">
                        <a:lnSpc>
                          <a:spcPct val="107000"/>
                        </a:lnSpc>
                        <a:spcBef>
                          <a:spcPts val="600"/>
                        </a:spcBef>
                        <a:spcAft>
                          <a:spcPts val="300"/>
                        </a:spcAft>
                        <a:buNone/>
                        <a:tabLst>
                          <a:tab pos="654050" algn="l"/>
                        </a:tabLst>
                      </a:pPr>
                      <a:r>
                        <a:rPr lang="vi-VN" sz="900" b="1" dirty="0">
                          <a:solidFill>
                            <a:schemeClr val="bg1"/>
                          </a:solidFill>
                          <a:effectLst/>
                          <a:latin typeface="+mj-lt"/>
                        </a:rPr>
                        <a:t>DeepSeek</a:t>
                      </a:r>
                      <a:endParaRPr lang="vi-VN" sz="900" b="1" dirty="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dirty="0">
                          <a:solidFill>
                            <a:schemeClr val="bg1"/>
                          </a:solidFill>
                          <a:effectLst/>
                          <a:latin typeface="+mj-lt"/>
                        </a:rPr>
                        <a:t>(Đặc biệt với phiên bản MoE). Tốc độ suy luận rất cao, hiệu quả về mặt tính toán.</a:t>
                      </a:r>
                      <a:endParaRPr lang="vi-VN" sz="900" dirty="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dirty="0">
                          <a:solidFill>
                            <a:schemeClr val="bg1"/>
                          </a:solidFill>
                          <a:effectLst/>
                          <a:latin typeface="+mj-lt"/>
                        </a:rPr>
                        <a:t>Tốt/Biến động. Độ ổn định có thể phụ thuộc vào môi trường triển khai (nếu là API) hoặc phần cứng của người dùng (nếu là mã nguồn mở).</a:t>
                      </a:r>
                      <a:endParaRPr lang="vi-VN" sz="900" dirty="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dirty="0">
                          <a:solidFill>
                            <a:schemeClr val="bg1"/>
                          </a:solidFill>
                          <a:effectLst/>
                          <a:latin typeface="+mj-lt"/>
                        </a:rPr>
                        <a:t>Kiến trúc Mixture-of-Experts (MoE) cho phép mô hình có tổng số tham số lớn nhưng chỉ kích hoạt một phần nhỏ, giúp tăng tốc độ suy luận và giảm chi phí.</a:t>
                      </a:r>
                      <a:endParaRPr lang="vi-VN" sz="900" dirty="0">
                        <a:solidFill>
                          <a:schemeClr val="bg1"/>
                        </a:solidFill>
                        <a:effectLst/>
                        <a:latin typeface="+mj-lt"/>
                        <a:ea typeface="Arial" panose="020B0604020202020204" pitchFamily="34" charset="0"/>
                      </a:endParaRPr>
                    </a:p>
                  </a:txBody>
                  <a:tcPr marL="55173" marR="55173" marT="36782" marB="36782" anchor="ctr"/>
                </a:tc>
                <a:extLst>
                  <a:ext uri="{0D108BD9-81ED-4DB2-BD59-A6C34878D82A}">
                    <a16:rowId xmlns:a16="http://schemas.microsoft.com/office/drawing/2014/main" val="2484120873"/>
                  </a:ext>
                </a:extLst>
              </a:tr>
              <a:tr h="727337">
                <a:tc>
                  <a:txBody>
                    <a:bodyPr/>
                    <a:lstStyle/>
                    <a:p>
                      <a:pPr algn="ctr">
                        <a:lnSpc>
                          <a:spcPct val="107000"/>
                        </a:lnSpc>
                        <a:spcBef>
                          <a:spcPts val="600"/>
                        </a:spcBef>
                        <a:spcAft>
                          <a:spcPts val="300"/>
                        </a:spcAft>
                        <a:buNone/>
                        <a:tabLst>
                          <a:tab pos="654050" algn="l"/>
                        </a:tabLst>
                      </a:pPr>
                      <a:r>
                        <a:rPr lang="vi-VN" sz="900" b="1" dirty="0">
                          <a:solidFill>
                            <a:schemeClr val="bg1"/>
                          </a:solidFill>
                          <a:effectLst/>
                          <a:latin typeface="+mj-lt"/>
                        </a:rPr>
                        <a:t>Grok (xAI)</a:t>
                      </a:r>
                      <a:endParaRPr lang="vi-VN" sz="900" b="1" dirty="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a:solidFill>
                            <a:schemeClr val="bg1"/>
                          </a:solidFill>
                          <a:effectLst/>
                          <a:latin typeface="+mj-lt"/>
                        </a:rPr>
                        <a:t>Tốc độ phản hồi được tối ưu hóa để tương tác thời gian thực với dữ liệu X (Twitter).</a:t>
                      </a:r>
                      <a:endParaRPr lang="vi-VN" sz="90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a:solidFill>
                            <a:schemeClr val="bg1"/>
                          </a:solidFill>
                          <a:effectLst/>
                          <a:latin typeface="+mj-lt"/>
                        </a:rPr>
                        <a:t>Là mô hình mới hơn, có thể có tính ổn định biến động hơn so với các đối thủ có cơ sở hạ tầng lớn hơn (OpenAI, Google).</a:t>
                      </a:r>
                      <a:endParaRPr lang="vi-VN" sz="900">
                        <a:solidFill>
                          <a:schemeClr val="bg1"/>
                        </a:solidFill>
                        <a:effectLst/>
                        <a:latin typeface="+mj-lt"/>
                        <a:ea typeface="Arial" panose="020B0604020202020204" pitchFamily="34" charset="0"/>
                      </a:endParaRPr>
                    </a:p>
                  </a:txBody>
                  <a:tcPr marL="55173" marR="55173" marT="36782" marB="36782" anchor="ctr"/>
                </a:tc>
                <a:tc>
                  <a:txBody>
                    <a:bodyPr/>
                    <a:lstStyle/>
                    <a:p>
                      <a:pPr algn="ctr">
                        <a:lnSpc>
                          <a:spcPct val="107000"/>
                        </a:lnSpc>
                        <a:spcBef>
                          <a:spcPts val="600"/>
                        </a:spcBef>
                        <a:spcAft>
                          <a:spcPts val="300"/>
                        </a:spcAft>
                        <a:buNone/>
                        <a:tabLst>
                          <a:tab pos="654050" algn="l"/>
                        </a:tabLst>
                      </a:pPr>
                      <a:r>
                        <a:rPr lang="vi-VN" sz="900" dirty="0">
                          <a:solidFill>
                            <a:schemeClr val="bg1"/>
                          </a:solidFill>
                          <a:effectLst/>
                          <a:latin typeface="+mj-lt"/>
                        </a:rPr>
                        <a:t>Tốc độ được ưu tiên để đảm bảo khả năng cập nhật thông tin nhanh. Kiến trúc có thể vẫn đang được điều chỉnh và tối ưu hóa.</a:t>
                      </a:r>
                      <a:endParaRPr lang="vi-VN" sz="900" dirty="0">
                        <a:solidFill>
                          <a:schemeClr val="bg1"/>
                        </a:solidFill>
                        <a:effectLst/>
                        <a:latin typeface="+mj-lt"/>
                        <a:ea typeface="Arial" panose="020B0604020202020204" pitchFamily="34" charset="0"/>
                      </a:endParaRPr>
                    </a:p>
                  </a:txBody>
                  <a:tcPr marL="55173" marR="55173" marT="36782" marB="36782" anchor="ctr"/>
                </a:tc>
                <a:extLst>
                  <a:ext uri="{0D108BD9-81ED-4DB2-BD59-A6C34878D82A}">
                    <a16:rowId xmlns:a16="http://schemas.microsoft.com/office/drawing/2014/main" val="1806782396"/>
                  </a:ext>
                </a:extLst>
              </a:tr>
            </a:tbl>
          </a:graphicData>
        </a:graphic>
      </p:graphicFrame>
      <p:sp>
        <p:nvSpPr>
          <p:cNvPr id="13" name="Rectangle 2">
            <a:extLst>
              <a:ext uri="{FF2B5EF4-FFF2-40B4-BE49-F238E27FC236}">
                <a16:creationId xmlns:a16="http://schemas.microsoft.com/office/drawing/2014/main" id="{03920552-5886-519E-FF69-F278F4EB9160}"/>
              </a:ext>
            </a:extLst>
          </p:cNvPr>
          <p:cNvSpPr>
            <a:spLocks noGrp="1" noChangeArrowheads="1"/>
          </p:cNvSpPr>
          <p:nvPr>
            <p:ph type="body" idx="1"/>
          </p:nvPr>
        </p:nvSpPr>
        <p:spPr bwMode="auto">
          <a:xfrm>
            <a:off x="539643" y="2020788"/>
            <a:ext cx="1523174" cy="1384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50784" numCol="1" anchor="ctr" anchorCtr="0" compatLnSpc="1">
            <a:prstTxWarp prst="textNoShape">
              <a:avLst/>
            </a:prstTxWarp>
            <a:spAutoFit/>
          </a:bodyPr>
          <a:lstStyle>
            <a:lvl1pPr eaLnBrk="0" fontAlgn="base" hangingPunct="0">
              <a:spcBef>
                <a:spcPct val="0"/>
              </a:spcBef>
              <a:spcAft>
                <a:spcPct val="0"/>
              </a:spcAft>
              <a:tabLst>
                <a:tab pos="65405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65405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65405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65405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65405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65405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65405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65405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654050"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654050" algn="l"/>
              </a:tabLst>
            </a:pPr>
            <a:r>
              <a:rPr kumimoji="0" lang="vi-VN" altLang="vi-VN" sz="2000" b="1"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a:t>
            </a:r>
            <a:r>
              <a:rPr kumimoji="0" lang="vi-VN" altLang="vi-VN" sz="20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ốc độ </a:t>
            </a:r>
            <a:endParaRPr kumimoji="0" lang="en-US" altLang="vi-VN" sz="20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654050" algn="l"/>
              </a:tabLst>
            </a:pPr>
            <a:r>
              <a:rPr kumimoji="0" lang="vi-VN" altLang="vi-VN" sz="20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và </a:t>
            </a:r>
            <a:endParaRPr kumimoji="0" lang="en-US" altLang="vi-VN" sz="20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654050" algn="l"/>
              </a:tabLst>
            </a:pPr>
            <a:r>
              <a:rPr kumimoji="0" lang="vi-VN" altLang="vi-VN" sz="20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tính ổn định</a:t>
            </a:r>
            <a:endParaRPr kumimoji="0" lang="vi-VN" altLang="vi-VN" sz="2000" b="1"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654050" algn="l"/>
              </a:tabLst>
            </a:pPr>
            <a:endParaRPr kumimoji="0" lang="vi-VN" altLang="vi-VN"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86550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1052FC1C-1385-A389-5475-8554AD641683}"/>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D2F56DF2-29E2-691C-6423-EA790243A7AE}"/>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5B65AE52-93FC-6FAF-8328-798B70C8CE1C}"/>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mj-lt"/>
              </a:rPr>
              <a:t>CHƯƠNG 3: CÁC KHÍA CẠNH CHÍNH</a:t>
            </a:r>
            <a:endParaRPr b="1" dirty="0">
              <a:latin typeface="+mj-lt"/>
            </a:endParaRPr>
          </a:p>
        </p:txBody>
      </p:sp>
      <p:grpSp>
        <p:nvGrpSpPr>
          <p:cNvPr id="797" name="Google Shape;797;p42">
            <a:extLst>
              <a:ext uri="{FF2B5EF4-FFF2-40B4-BE49-F238E27FC236}">
                <a16:creationId xmlns:a16="http://schemas.microsoft.com/office/drawing/2014/main" id="{21CDBD49-0636-2B5F-A913-4750115603C2}"/>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DDA2786F-9EAB-65CA-5BF9-EA70C38BFD34}"/>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431CB6E5-2E1B-ED29-E96E-02C7E1ECD5DA}"/>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998ECB49-28C4-3067-EB47-F298433A5E64}"/>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2F2732A5-3BEB-8436-A3D1-D9C91E95A7AD}"/>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9B7F2068-FDA4-3B44-D162-99111A1100E5}"/>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9E86DAD8-090B-9472-F168-806F5C37FFC5}"/>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2795B6AD-D5E7-5447-B30D-90CFCD763F14}"/>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1EC3A4B8-5A62-736B-1D6E-7EE7573CEBC0}"/>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DE55D115-F7F7-D77C-D52B-78803B65995B}"/>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8D694A7D-95F4-BE58-1BE3-61C590F0BB0B}"/>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E040F625-7CB9-C29E-B1B1-1F345CC1E34E}"/>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014FE4A6-07DB-BA72-DC5E-0EE2230FDB73}"/>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6DB615D6-71C3-CF3B-84E3-F05D6390EE23}"/>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85670D3C-8911-2A2D-5B94-452FB162B00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E82344EB-395E-551A-E614-3737BF1A246A}"/>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3477BC9C-0B08-4EF9-E575-8EE3B8FAD25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4FCAD4E8-7B7D-4E28-F6AA-63AC9257DD5E}"/>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37D83F46-9D3E-D52B-07F8-6C1B0A7A48AE}"/>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804;p42">
            <a:extLst>
              <a:ext uri="{FF2B5EF4-FFF2-40B4-BE49-F238E27FC236}">
                <a16:creationId xmlns:a16="http://schemas.microsoft.com/office/drawing/2014/main" id="{458BCD38-E1E4-36E3-3223-4A92D1797AD0}"/>
              </a:ext>
            </a:extLst>
          </p:cNvPr>
          <p:cNvGrpSpPr/>
          <p:nvPr/>
        </p:nvGrpSpPr>
        <p:grpSpPr>
          <a:xfrm>
            <a:off x="8034802" y="4079585"/>
            <a:ext cx="1096749" cy="1020364"/>
            <a:chOff x="827350" y="3629733"/>
            <a:chExt cx="1431600" cy="1332067"/>
          </a:xfrm>
        </p:grpSpPr>
        <p:sp>
          <p:nvSpPr>
            <p:cNvPr id="3" name="Google Shape;805;p42">
              <a:extLst>
                <a:ext uri="{FF2B5EF4-FFF2-40B4-BE49-F238E27FC236}">
                  <a16:creationId xmlns:a16="http://schemas.microsoft.com/office/drawing/2014/main" id="{C94BE07E-594D-71C3-D82E-B59819F320C1}"/>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06;p42">
              <a:extLst>
                <a:ext uri="{FF2B5EF4-FFF2-40B4-BE49-F238E27FC236}">
                  <a16:creationId xmlns:a16="http://schemas.microsoft.com/office/drawing/2014/main" id="{A9358AF0-1334-B5E7-D021-F0BB8E9A4779}"/>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07;p42">
              <a:extLst>
                <a:ext uri="{FF2B5EF4-FFF2-40B4-BE49-F238E27FC236}">
                  <a16:creationId xmlns:a16="http://schemas.microsoft.com/office/drawing/2014/main" id="{5CC1E648-1721-0673-BD6D-3A76FFD0D214}"/>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804;p42">
            <a:extLst>
              <a:ext uri="{FF2B5EF4-FFF2-40B4-BE49-F238E27FC236}">
                <a16:creationId xmlns:a16="http://schemas.microsoft.com/office/drawing/2014/main" id="{B3AC8DF9-6B5E-5A81-7443-241A0231D3A0}"/>
              </a:ext>
            </a:extLst>
          </p:cNvPr>
          <p:cNvGrpSpPr/>
          <p:nvPr/>
        </p:nvGrpSpPr>
        <p:grpSpPr>
          <a:xfrm>
            <a:off x="8187202" y="4231985"/>
            <a:ext cx="1096749" cy="1020364"/>
            <a:chOff x="827350" y="3629733"/>
            <a:chExt cx="1431600" cy="1332067"/>
          </a:xfrm>
        </p:grpSpPr>
        <p:sp>
          <p:nvSpPr>
            <p:cNvPr id="7" name="Google Shape;805;p42">
              <a:extLst>
                <a:ext uri="{FF2B5EF4-FFF2-40B4-BE49-F238E27FC236}">
                  <a16:creationId xmlns:a16="http://schemas.microsoft.com/office/drawing/2014/main" id="{38D23738-243D-FE73-AA16-2D39BB89C47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06;p42">
              <a:extLst>
                <a:ext uri="{FF2B5EF4-FFF2-40B4-BE49-F238E27FC236}">
                  <a16:creationId xmlns:a16="http://schemas.microsoft.com/office/drawing/2014/main" id="{EA9D00F0-E6D5-25AD-3BFA-AFAAA92A6183}"/>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07;p42">
              <a:extLst>
                <a:ext uri="{FF2B5EF4-FFF2-40B4-BE49-F238E27FC236}">
                  <a16:creationId xmlns:a16="http://schemas.microsoft.com/office/drawing/2014/main" id="{DEFEC482-F571-7949-C7A7-1F84B7134E5E}"/>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10" name="Table 9">
            <a:extLst>
              <a:ext uri="{FF2B5EF4-FFF2-40B4-BE49-F238E27FC236}">
                <a16:creationId xmlns:a16="http://schemas.microsoft.com/office/drawing/2014/main" id="{B411E01A-B0E4-5133-C598-67C16CFA3C0F}"/>
              </a:ext>
            </a:extLst>
          </p:cNvPr>
          <p:cNvGraphicFramePr>
            <a:graphicFrameLocks noGrp="1"/>
          </p:cNvGraphicFramePr>
          <p:nvPr>
            <p:extLst>
              <p:ext uri="{D42A27DB-BD31-4B8C-83A1-F6EECF244321}">
                <p14:modId xmlns:p14="http://schemas.microsoft.com/office/powerpoint/2010/main" val="3605923568"/>
              </p:ext>
            </p:extLst>
          </p:nvPr>
        </p:nvGraphicFramePr>
        <p:xfrm>
          <a:off x="1746299" y="1152525"/>
          <a:ext cx="6868312" cy="3625110"/>
        </p:xfrm>
        <a:graphic>
          <a:graphicData uri="http://schemas.openxmlformats.org/drawingml/2006/table">
            <a:tbl>
              <a:tblPr firstRow="1" firstCol="1" bandRow="1">
                <a:tableStyleId>{7D39478E-FE93-4580-9B40-B0A813745C6C}</a:tableStyleId>
              </a:tblPr>
              <a:tblGrid>
                <a:gridCol w="1394939">
                  <a:extLst>
                    <a:ext uri="{9D8B030D-6E8A-4147-A177-3AD203B41FA5}">
                      <a16:colId xmlns:a16="http://schemas.microsoft.com/office/drawing/2014/main" val="2206589063"/>
                    </a:ext>
                  </a:extLst>
                </a:gridCol>
                <a:gridCol w="1090800">
                  <a:extLst>
                    <a:ext uri="{9D8B030D-6E8A-4147-A177-3AD203B41FA5}">
                      <a16:colId xmlns:a16="http://schemas.microsoft.com/office/drawing/2014/main" val="643310241"/>
                    </a:ext>
                  </a:extLst>
                </a:gridCol>
                <a:gridCol w="1090800">
                  <a:extLst>
                    <a:ext uri="{9D8B030D-6E8A-4147-A177-3AD203B41FA5}">
                      <a16:colId xmlns:a16="http://schemas.microsoft.com/office/drawing/2014/main" val="3979914514"/>
                    </a:ext>
                  </a:extLst>
                </a:gridCol>
                <a:gridCol w="1090800">
                  <a:extLst>
                    <a:ext uri="{9D8B030D-6E8A-4147-A177-3AD203B41FA5}">
                      <a16:colId xmlns:a16="http://schemas.microsoft.com/office/drawing/2014/main" val="2066735271"/>
                    </a:ext>
                  </a:extLst>
                </a:gridCol>
                <a:gridCol w="2200973">
                  <a:extLst>
                    <a:ext uri="{9D8B030D-6E8A-4147-A177-3AD203B41FA5}">
                      <a16:colId xmlns:a16="http://schemas.microsoft.com/office/drawing/2014/main" val="832294713"/>
                    </a:ext>
                  </a:extLst>
                </a:gridCol>
              </a:tblGrid>
              <a:tr h="221107">
                <a:tc>
                  <a:txBody>
                    <a:bodyPr/>
                    <a:lstStyle/>
                    <a:p>
                      <a:pPr algn="ctr">
                        <a:lnSpc>
                          <a:spcPct val="115000"/>
                        </a:lnSpc>
                        <a:spcBef>
                          <a:spcPts val="600"/>
                        </a:spcBef>
                        <a:buNone/>
                      </a:pPr>
                      <a:r>
                        <a:rPr lang="en-US" sz="700" b="1" dirty="0" err="1">
                          <a:solidFill>
                            <a:schemeClr val="bg1"/>
                          </a:solidFill>
                          <a:effectLst/>
                          <a:latin typeface="Times New Roman" panose="02020603050405020304" pitchFamily="18" charset="0"/>
                          <a:cs typeface="Times New Roman" panose="02020603050405020304" pitchFamily="18" charset="0"/>
                        </a:rPr>
                        <a:t>Mô</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hình</a:t>
                      </a:r>
                      <a:endParaRPr lang="vi-VN" sz="7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tc>
                  <a:txBody>
                    <a:bodyPr/>
                    <a:lstStyle/>
                    <a:p>
                      <a:pPr algn="ctr">
                        <a:lnSpc>
                          <a:spcPct val="115000"/>
                        </a:lnSpc>
                        <a:spcBef>
                          <a:spcPts val="600"/>
                        </a:spcBef>
                        <a:buNone/>
                      </a:pPr>
                      <a:r>
                        <a:rPr lang="en-US" sz="700" b="1" dirty="0" err="1">
                          <a:solidFill>
                            <a:schemeClr val="bg1"/>
                          </a:solidFill>
                          <a:effectLst/>
                          <a:latin typeface="Times New Roman" panose="02020603050405020304" pitchFamily="18" charset="0"/>
                          <a:cs typeface="Times New Roman" panose="02020603050405020304" pitchFamily="18" charset="0"/>
                        </a:rPr>
                        <a:t>Nhà</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phát</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triển</a:t>
                      </a:r>
                      <a:endParaRPr lang="vi-VN" sz="7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tc>
                  <a:txBody>
                    <a:bodyPr/>
                    <a:lstStyle/>
                    <a:p>
                      <a:pPr algn="ctr">
                        <a:lnSpc>
                          <a:spcPct val="115000"/>
                        </a:lnSpc>
                        <a:spcBef>
                          <a:spcPts val="600"/>
                        </a:spcBef>
                        <a:buNone/>
                      </a:pPr>
                      <a:r>
                        <a:rPr lang="en-US" sz="700" b="1" dirty="0" err="1">
                          <a:solidFill>
                            <a:schemeClr val="bg1"/>
                          </a:solidFill>
                          <a:effectLst/>
                          <a:latin typeface="Times New Roman" panose="02020603050405020304" pitchFamily="18" charset="0"/>
                          <a:cs typeface="Times New Roman" panose="02020603050405020304" pitchFamily="18" charset="0"/>
                        </a:rPr>
                        <a:t>Chính</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sách</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sử</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dụng</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Dữ</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liệu</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người</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dùng</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Mặc</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định</a:t>
                      </a:r>
                      <a:r>
                        <a:rPr lang="en-US" sz="700" b="1" dirty="0">
                          <a:solidFill>
                            <a:schemeClr val="bg1"/>
                          </a:solidFill>
                          <a:effectLst/>
                          <a:latin typeface="Times New Roman" panose="02020603050405020304" pitchFamily="18" charset="0"/>
                          <a:cs typeface="Times New Roman" panose="02020603050405020304" pitchFamily="18" charset="0"/>
                        </a:rPr>
                        <a:t>)</a:t>
                      </a:r>
                      <a:endParaRPr lang="vi-VN" sz="7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tc>
                  <a:txBody>
                    <a:bodyPr/>
                    <a:lstStyle/>
                    <a:p>
                      <a:pPr algn="ctr">
                        <a:lnSpc>
                          <a:spcPct val="115000"/>
                        </a:lnSpc>
                        <a:spcBef>
                          <a:spcPts val="600"/>
                        </a:spcBef>
                        <a:buNone/>
                      </a:pPr>
                      <a:r>
                        <a:rPr lang="en-US" sz="700" b="1">
                          <a:solidFill>
                            <a:schemeClr val="bg1"/>
                          </a:solidFill>
                          <a:effectLst/>
                          <a:latin typeface="Times New Roman" panose="02020603050405020304" pitchFamily="18" charset="0"/>
                          <a:cs typeface="Times New Roman" panose="02020603050405020304" pitchFamily="18" charset="0"/>
                        </a:rPr>
                        <a:t>Khả năng kiểm soát của Người dùng</a:t>
                      </a:r>
                      <a:endParaRPr lang="vi-VN" sz="700" b="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tc>
                  <a:txBody>
                    <a:bodyPr/>
                    <a:lstStyle/>
                    <a:p>
                      <a:pPr algn="ctr">
                        <a:lnSpc>
                          <a:spcPct val="115000"/>
                        </a:lnSpc>
                        <a:spcBef>
                          <a:spcPts val="600"/>
                        </a:spcBef>
                        <a:spcAft>
                          <a:spcPts val="1000"/>
                        </a:spcAft>
                        <a:buNone/>
                      </a:pPr>
                      <a:r>
                        <a:rPr lang="en-US" sz="700" b="1" dirty="0">
                          <a:solidFill>
                            <a:schemeClr val="bg1"/>
                          </a:solidFill>
                          <a:effectLst/>
                          <a:latin typeface="Times New Roman" panose="02020603050405020304" pitchFamily="18" charset="0"/>
                          <a:cs typeface="Times New Roman" panose="02020603050405020304" pitchFamily="18" charset="0"/>
                        </a:rPr>
                        <a:t>Các </a:t>
                      </a:r>
                      <a:r>
                        <a:rPr lang="en-US" sz="700" b="1" dirty="0" err="1">
                          <a:solidFill>
                            <a:schemeClr val="bg1"/>
                          </a:solidFill>
                          <a:effectLst/>
                          <a:latin typeface="Times New Roman" panose="02020603050405020304" pitchFamily="18" charset="0"/>
                          <a:cs typeface="Times New Roman" panose="02020603050405020304" pitchFamily="18" charset="0"/>
                        </a:rPr>
                        <a:t>yếu</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tố</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rủi</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ro</a:t>
                      </a:r>
                      <a:r>
                        <a:rPr lang="en-US" sz="700" b="1" dirty="0">
                          <a:solidFill>
                            <a:schemeClr val="bg1"/>
                          </a:solidFill>
                          <a:effectLst/>
                          <a:latin typeface="Times New Roman" panose="02020603050405020304" pitchFamily="18" charset="0"/>
                          <a:cs typeface="Times New Roman" panose="02020603050405020304" pitchFamily="18" charset="0"/>
                        </a:rPr>
                        <a:t>/</a:t>
                      </a:r>
                      <a:r>
                        <a:rPr lang="en-US" sz="700" b="1" dirty="0" err="1">
                          <a:solidFill>
                            <a:schemeClr val="bg1"/>
                          </a:solidFill>
                          <a:effectLst/>
                          <a:latin typeface="Times New Roman" panose="02020603050405020304" pitchFamily="18" charset="0"/>
                          <a:cs typeface="Times New Roman" panose="02020603050405020304" pitchFamily="18" charset="0"/>
                        </a:rPr>
                        <a:t>Hạn</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chế</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cần</a:t>
                      </a:r>
                      <a:r>
                        <a:rPr lang="en-US" sz="700" b="1" dirty="0">
                          <a:solidFill>
                            <a:schemeClr val="bg1"/>
                          </a:solidFill>
                          <a:effectLst/>
                          <a:latin typeface="Times New Roman" panose="02020603050405020304" pitchFamily="18" charset="0"/>
                          <a:cs typeface="Times New Roman" panose="02020603050405020304" pitchFamily="18" charset="0"/>
                        </a:rPr>
                        <a:t> </a:t>
                      </a:r>
                      <a:r>
                        <a:rPr lang="en-US" sz="700" b="1" dirty="0" err="1">
                          <a:solidFill>
                            <a:schemeClr val="bg1"/>
                          </a:solidFill>
                          <a:effectLst/>
                          <a:latin typeface="Times New Roman" panose="02020603050405020304" pitchFamily="18" charset="0"/>
                          <a:cs typeface="Times New Roman" panose="02020603050405020304" pitchFamily="18" charset="0"/>
                        </a:rPr>
                        <a:t>lưu</a:t>
                      </a:r>
                      <a:r>
                        <a:rPr lang="en-US" sz="700" b="1" dirty="0">
                          <a:solidFill>
                            <a:schemeClr val="bg1"/>
                          </a:solidFill>
                          <a:effectLst/>
                          <a:latin typeface="Times New Roman" panose="02020603050405020304" pitchFamily="18" charset="0"/>
                          <a:cs typeface="Times New Roman" panose="02020603050405020304" pitchFamily="18" charset="0"/>
                        </a:rPr>
                        <a:t> ý</a:t>
                      </a:r>
                      <a:endParaRPr lang="vi-VN" sz="7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extLst>
                  <a:ext uri="{0D108BD9-81ED-4DB2-BD59-A6C34878D82A}">
                    <a16:rowId xmlns:a16="http://schemas.microsoft.com/office/drawing/2014/main" val="2426935259"/>
                  </a:ext>
                </a:extLst>
              </a:tr>
              <a:tr h="789054">
                <a:tc>
                  <a:txBody>
                    <a:bodyPr/>
                    <a:lstStyle/>
                    <a:p>
                      <a:pPr algn="ctr">
                        <a:lnSpc>
                          <a:spcPct val="115000"/>
                        </a:lnSpc>
                        <a:spcBef>
                          <a:spcPts val="600"/>
                        </a:spcBef>
                        <a:buNone/>
                      </a:pPr>
                      <a:r>
                        <a:rPr lang="en-US" sz="700" b="1" dirty="0">
                          <a:solidFill>
                            <a:schemeClr val="bg1"/>
                          </a:solidFill>
                          <a:effectLst/>
                          <a:latin typeface="Times New Roman" panose="02020603050405020304" pitchFamily="18" charset="0"/>
                          <a:cs typeface="Times New Roman" panose="02020603050405020304" pitchFamily="18" charset="0"/>
                        </a:rPr>
                        <a:t>ChatGPT</a:t>
                      </a:r>
                      <a:endParaRPr lang="vi-VN" sz="7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tc>
                  <a:txBody>
                    <a:bodyPr/>
                    <a:lstStyle/>
                    <a:p>
                      <a:pPr algn="ctr">
                        <a:lnSpc>
                          <a:spcPct val="115000"/>
                        </a:lnSpc>
                        <a:spcBef>
                          <a:spcPts val="600"/>
                        </a:spcBef>
                        <a:buNone/>
                      </a:pPr>
                      <a:r>
                        <a:rPr lang="en-US" sz="700" dirty="0">
                          <a:solidFill>
                            <a:schemeClr val="bg1"/>
                          </a:solidFill>
                          <a:effectLst/>
                          <a:latin typeface="Times New Roman" panose="02020603050405020304" pitchFamily="18" charset="0"/>
                          <a:cs typeface="Times New Roman" panose="02020603050405020304" pitchFamily="18" charset="0"/>
                        </a:rPr>
                        <a:t>OpenAI</a:t>
                      </a:r>
                      <a:endParaRPr lang="vi-VN" sz="7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tc>
                  <a:txBody>
                    <a:bodyPr/>
                    <a:lstStyle/>
                    <a:p>
                      <a:pPr algn="ctr">
                        <a:lnSpc>
                          <a:spcPct val="115000"/>
                        </a:lnSpc>
                        <a:spcBef>
                          <a:spcPts val="600"/>
                        </a:spcBef>
                        <a:buNone/>
                      </a:pPr>
                      <a:r>
                        <a:rPr lang="en-US" sz="700" dirty="0" err="1">
                          <a:solidFill>
                            <a:schemeClr val="bg1"/>
                          </a:solidFill>
                          <a:effectLst/>
                          <a:latin typeface="Times New Roman" panose="02020603050405020304" pitchFamily="18" charset="0"/>
                          <a:cs typeface="Times New Roman" panose="02020603050405020304" pitchFamily="18" charset="0"/>
                        </a:rPr>
                        <a:t>Mặc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định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không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sử</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dụng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người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dùng</a:t>
                      </a:r>
                      <a:r>
                        <a:rPr lang="en-US" sz="700" dirty="0">
                          <a:solidFill>
                            <a:schemeClr val="bg1"/>
                          </a:solidFill>
                          <a:effectLst/>
                          <a:latin typeface="Times New Roman" panose="02020603050405020304" pitchFamily="18" charset="0"/>
                          <a:cs typeface="Times New Roman" panose="02020603050405020304" pitchFamily="18" charset="0"/>
                        </a:rPr>
                        <a:t> API </a:t>
                      </a:r>
                      <a:r>
                        <a:rPr lang="en-US" sz="700" dirty="0" err="1">
                          <a:solidFill>
                            <a:schemeClr val="bg1"/>
                          </a:solidFill>
                          <a:effectLst/>
                          <a:latin typeface="Times New Roman" panose="02020603050405020304" pitchFamily="18" charset="0"/>
                          <a:cs typeface="Times New Roman" panose="02020603050405020304" pitchFamily="18" charset="0"/>
                        </a:rPr>
                        <a:t>để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huấn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luyện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Đối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với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giao</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diện</a:t>
                      </a:r>
                      <a:r>
                        <a:rPr lang="en-US" sz="700" dirty="0">
                          <a:solidFill>
                            <a:schemeClr val="bg1"/>
                          </a:solidFill>
                          <a:effectLst/>
                          <a:latin typeface="Times New Roman" panose="02020603050405020304" pitchFamily="18" charset="0"/>
                          <a:cs typeface="Times New Roman" panose="02020603050405020304" pitchFamily="18" charset="0"/>
                        </a:rPr>
                        <a:t> web/</a:t>
                      </a:r>
                      <a:r>
                        <a:rPr lang="en-US" sz="700" dirty="0" err="1">
                          <a:solidFill>
                            <a:schemeClr val="bg1"/>
                          </a:solidFill>
                          <a:effectLst/>
                          <a:latin typeface="Times New Roman" panose="02020603050405020304" pitchFamily="18" charset="0"/>
                          <a:cs typeface="Times New Roman" panose="02020603050405020304" pitchFamily="18" charset="0"/>
                        </a:rPr>
                        <a:t>ứng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dụng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có</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được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sử</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dụng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cải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thiện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mô</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hình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nhưng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có</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tắt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được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trong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cài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đặt</a:t>
                      </a:r>
                      <a:r>
                        <a:rPr lang="en-US" sz="700" dirty="0">
                          <a:solidFill>
                            <a:schemeClr val="bg1"/>
                          </a:solidFill>
                          <a:effectLst/>
                          <a:latin typeface="Times New Roman" panose="02020603050405020304" pitchFamily="18" charset="0"/>
                          <a:cs typeface="Times New Roman" panose="02020603050405020304" pitchFamily="18" charset="0"/>
                        </a:rPr>
                        <a:t>.</a:t>
                      </a:r>
                      <a:endParaRPr lang="vi-VN" sz="7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tc>
                  <a:txBody>
                    <a:bodyPr/>
                    <a:lstStyle/>
                    <a:p>
                      <a:pPr algn="ctr">
                        <a:lnSpc>
                          <a:spcPct val="115000"/>
                        </a:lnSpc>
                        <a:spcBef>
                          <a:spcPts val="600"/>
                        </a:spcBef>
                        <a:buNone/>
                      </a:pPr>
                      <a:r>
                        <a:rPr lang="en-US" sz="700" dirty="0">
                          <a:solidFill>
                            <a:schemeClr val="bg1"/>
                          </a:solidFill>
                          <a:effectLst/>
                          <a:latin typeface="Times New Roman" panose="02020603050405020304" pitchFamily="18" charset="0"/>
                          <a:cs typeface="Times New Roman" panose="02020603050405020304" pitchFamily="18" charset="0"/>
                        </a:rPr>
                        <a:t>Cao. Cho </a:t>
                      </a:r>
                      <a:r>
                        <a:rPr lang="en-US" sz="700" dirty="0" err="1">
                          <a:solidFill>
                            <a:schemeClr val="bg1"/>
                          </a:solidFill>
                          <a:effectLst/>
                          <a:latin typeface="Times New Roman" panose="02020603050405020304" pitchFamily="18" charset="0"/>
                          <a:cs typeface="Times New Roman" panose="02020603050405020304" pitchFamily="18" charset="0"/>
                        </a:rPr>
                        <a:t>phép</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tắt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tính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năng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Lịch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sử</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trò</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chuyện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và</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Huấn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luyện</a:t>
                      </a:r>
                      <a:r>
                        <a:rPr lang="en-US" sz="700" dirty="0">
                          <a:solidFill>
                            <a:schemeClr val="bg1"/>
                          </a:solidFill>
                          <a:effectLst/>
                          <a:latin typeface="Times New Roman" panose="02020603050405020304" pitchFamily="18" charset="0"/>
                          <a:cs typeface="Times New Roman" panose="02020603050405020304" pitchFamily="18" charset="0"/>
                        </a:rPr>
                        <a:t>" (Chat history &amp; training). Tuân </a:t>
                      </a:r>
                      <a:r>
                        <a:rPr lang="en-US" sz="700" dirty="0" err="1">
                          <a:solidFill>
                            <a:schemeClr val="bg1"/>
                          </a:solidFill>
                          <a:effectLst/>
                          <a:latin typeface="Times New Roman" panose="02020603050405020304" pitchFamily="18" charset="0"/>
                          <a:cs typeface="Times New Roman" panose="02020603050405020304" pitchFamily="18" charset="0"/>
                        </a:rPr>
                        <a:t>thủ</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các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tiêu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chuẩn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bảo</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mật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phương</a:t>
                      </a:r>
                      <a:r>
                        <a:rPr lang="en-US" sz="700" dirty="0">
                          <a:solidFill>
                            <a:schemeClr val="bg1"/>
                          </a:solidFill>
                          <a:effectLst/>
                          <a:latin typeface="Times New Roman" panose="02020603050405020304" pitchFamily="18" charset="0"/>
                          <a:cs typeface="Times New Roman" panose="02020603050405020304" pitchFamily="18" charset="0"/>
                        </a:rPr>
                        <a:t> Tây (GDPR).</a:t>
                      </a:r>
                      <a:endParaRPr lang="vi-VN" sz="7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tc>
                  <a:txBody>
                    <a:bodyPr/>
                    <a:lstStyle/>
                    <a:p>
                      <a:pPr algn="ctr">
                        <a:lnSpc>
                          <a:spcPct val="115000"/>
                        </a:lnSpc>
                        <a:spcBef>
                          <a:spcPts val="600"/>
                        </a:spcBef>
                        <a:spcAft>
                          <a:spcPts val="1000"/>
                        </a:spcAft>
                        <a:buNone/>
                      </a:pPr>
                      <a:r>
                        <a:rPr lang="en-US" sz="700" dirty="0" err="1">
                          <a:solidFill>
                            <a:schemeClr val="bg1"/>
                          </a:solidFill>
                          <a:effectLst/>
                          <a:latin typeface="Times New Roman" panose="02020603050405020304" pitchFamily="18" charset="0"/>
                          <a:cs typeface="Times New Roman" panose="02020603050405020304" pitchFamily="18" charset="0"/>
                        </a:rPr>
                        <a:t>Đã</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từng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có</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sự</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cố</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rò</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rỉ</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lịch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sử</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trò</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chuyện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năm</a:t>
                      </a:r>
                      <a:r>
                        <a:rPr lang="en-US" sz="700" dirty="0">
                          <a:solidFill>
                            <a:schemeClr val="bg1"/>
                          </a:solidFill>
                          <a:effectLst/>
                          <a:latin typeface="Times New Roman" panose="02020603050405020304" pitchFamily="18" charset="0"/>
                          <a:cs typeface="Times New Roman" panose="02020603050405020304" pitchFamily="18" charset="0"/>
                        </a:rPr>
                        <a:t> 2023). </a:t>
                      </a:r>
                      <a:r>
                        <a:rPr lang="en-US" sz="700" dirty="0" err="1">
                          <a:solidFill>
                            <a:schemeClr val="bg1"/>
                          </a:solidFill>
                          <a:effectLst/>
                          <a:latin typeface="Times New Roman" panose="02020603050405020304" pitchFamily="18" charset="0"/>
                          <a:cs typeface="Times New Roman" panose="02020603050405020304" pitchFamily="18" charset="0"/>
                        </a:rPr>
                        <a:t>Cần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phải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chủ</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động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tắt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tính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năng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huấn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luyện</a:t>
                      </a:r>
                      <a:r>
                        <a:rPr lang="en-US" sz="700" dirty="0">
                          <a:solidFill>
                            <a:schemeClr val="bg1"/>
                          </a:solidFill>
                          <a:effectLst/>
                          <a:latin typeface="Times New Roman" panose="02020603050405020304" pitchFamily="18" charset="0"/>
                          <a:cs typeface="Times New Roman" panose="02020603050405020304" pitchFamily="18" charset="0"/>
                        </a:rPr>
                        <a:t>.</a:t>
                      </a:r>
                      <a:endParaRPr lang="vi-VN" sz="7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extLst>
                  <a:ext uri="{0D108BD9-81ED-4DB2-BD59-A6C34878D82A}">
                    <a16:rowId xmlns:a16="http://schemas.microsoft.com/office/drawing/2014/main" val="1093329392"/>
                  </a:ext>
                </a:extLst>
              </a:tr>
              <a:tr h="850303">
                <a:tc>
                  <a:txBody>
                    <a:bodyPr/>
                    <a:lstStyle/>
                    <a:p>
                      <a:pPr algn="ctr">
                        <a:lnSpc>
                          <a:spcPct val="115000"/>
                        </a:lnSpc>
                        <a:spcBef>
                          <a:spcPts val="600"/>
                        </a:spcBef>
                        <a:buNone/>
                      </a:pPr>
                      <a:r>
                        <a:rPr lang="en-US" sz="700" b="1" dirty="0">
                          <a:solidFill>
                            <a:schemeClr val="bg1"/>
                          </a:solidFill>
                          <a:effectLst/>
                          <a:latin typeface="Times New Roman" panose="02020603050405020304" pitchFamily="18" charset="0"/>
                          <a:cs typeface="Times New Roman" panose="02020603050405020304" pitchFamily="18" charset="0"/>
                        </a:rPr>
                        <a:t>Gemini</a:t>
                      </a:r>
                      <a:endParaRPr lang="vi-VN" sz="7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tc>
                  <a:txBody>
                    <a:bodyPr/>
                    <a:lstStyle/>
                    <a:p>
                      <a:pPr algn="ctr">
                        <a:lnSpc>
                          <a:spcPct val="115000"/>
                        </a:lnSpc>
                        <a:spcBef>
                          <a:spcPts val="600"/>
                        </a:spcBef>
                        <a:buNone/>
                      </a:pPr>
                      <a:r>
                        <a:rPr lang="en-US" sz="700">
                          <a:solidFill>
                            <a:schemeClr val="bg1"/>
                          </a:solidFill>
                          <a:effectLst/>
                          <a:latin typeface="Times New Roman" panose="02020603050405020304" pitchFamily="18" charset="0"/>
                          <a:cs typeface="Times New Roman" panose="02020603050405020304" pitchFamily="18" charset="0"/>
                        </a:rPr>
                        <a:t>Google</a:t>
                      </a:r>
                      <a:endParaRPr lang="vi-VN" sz="7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tc>
                  <a:txBody>
                    <a:bodyPr/>
                    <a:lstStyle/>
                    <a:p>
                      <a:pPr algn="ctr">
                        <a:lnSpc>
                          <a:spcPct val="115000"/>
                        </a:lnSpc>
                        <a:spcBef>
                          <a:spcPts val="600"/>
                        </a:spcBef>
                        <a:buNone/>
                      </a:pPr>
                      <a:r>
                        <a:rPr lang="en-US" sz="700" dirty="0" err="1">
                          <a:solidFill>
                            <a:schemeClr val="bg1"/>
                          </a:solidFill>
                          <a:effectLst/>
                          <a:latin typeface="Times New Roman" panose="02020603050405020304" pitchFamily="18" charset="0"/>
                          <a:cs typeface="Times New Roman" panose="02020603050405020304" pitchFamily="18" charset="0"/>
                        </a:rPr>
                        <a:t>Mặc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định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sử</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dụng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hoạt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động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cải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thiện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mô</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hình</a:t>
                      </a:r>
                      <a:r>
                        <a:rPr lang="en-US" sz="700" dirty="0">
                          <a:solidFill>
                            <a:schemeClr val="bg1"/>
                          </a:solidFill>
                          <a:effectLst/>
                          <a:latin typeface="Times New Roman" panose="02020603050405020304" pitchFamily="18" charset="0"/>
                          <a:cs typeface="Times New Roman" panose="02020603050405020304" pitchFamily="18" charset="0"/>
                        </a:rPr>
                        <a:t>. Tuy </a:t>
                      </a:r>
                      <a:r>
                        <a:rPr lang="en-US" sz="700" dirty="0" err="1">
                          <a:solidFill>
                            <a:schemeClr val="bg1"/>
                          </a:solidFill>
                          <a:effectLst/>
                          <a:latin typeface="Times New Roman" panose="02020603050405020304" pitchFamily="18" charset="0"/>
                          <a:cs typeface="Times New Roman" panose="02020603050405020304" pitchFamily="18" charset="0"/>
                        </a:rPr>
                        <a:t>nhiên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người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dùng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có</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tắt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tính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năng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Hoạt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động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của</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ứng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dụng</a:t>
                      </a:r>
                      <a:r>
                        <a:rPr lang="en-US" sz="700" dirty="0">
                          <a:solidFill>
                            <a:schemeClr val="bg1"/>
                          </a:solidFill>
                          <a:effectLst/>
                          <a:latin typeface="Times New Roman" panose="02020603050405020304" pitchFamily="18" charset="0"/>
                          <a:cs typeface="Times New Roman" panose="02020603050405020304" pitchFamily="18" charset="0"/>
                        </a:rPr>
                        <a:t> Gemini" </a:t>
                      </a:r>
                      <a:r>
                        <a:rPr lang="en-US" sz="700" dirty="0" err="1">
                          <a:solidFill>
                            <a:schemeClr val="bg1"/>
                          </a:solidFill>
                          <a:effectLst/>
                          <a:latin typeface="Times New Roman" panose="02020603050405020304" pitchFamily="18" charset="0"/>
                          <a:cs typeface="Times New Roman" panose="02020603050405020304" pitchFamily="18" charset="0"/>
                        </a:rPr>
                        <a:t>và</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đặt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thời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gian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tự</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động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xóa</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ví</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dụ</a:t>
                      </a:r>
                      <a:r>
                        <a:rPr lang="en-US" sz="700" dirty="0">
                          <a:solidFill>
                            <a:schemeClr val="bg1"/>
                          </a:solidFill>
                          <a:effectLst/>
                          <a:latin typeface="Times New Roman" panose="02020603050405020304" pitchFamily="18" charset="0"/>
                          <a:cs typeface="Times New Roman" panose="02020603050405020304" pitchFamily="18" charset="0"/>
                        </a:rPr>
                        <a:t>: 3, 18, 36 </a:t>
                      </a:r>
                      <a:r>
                        <a:rPr lang="en-US" sz="700" dirty="0" err="1">
                          <a:solidFill>
                            <a:schemeClr val="bg1"/>
                          </a:solidFill>
                          <a:effectLst/>
                          <a:latin typeface="Times New Roman" panose="02020603050405020304" pitchFamily="18" charset="0"/>
                          <a:cs typeface="Times New Roman" panose="02020603050405020304" pitchFamily="18" charset="0"/>
                        </a:rPr>
                        <a:t>tháng</a:t>
                      </a:r>
                      <a:r>
                        <a:rPr lang="en-US" sz="700" dirty="0">
                          <a:solidFill>
                            <a:schemeClr val="bg1"/>
                          </a:solidFill>
                          <a:effectLst/>
                          <a:latin typeface="Times New Roman" panose="02020603050405020304" pitchFamily="18" charset="0"/>
                          <a:cs typeface="Times New Roman" panose="02020603050405020304" pitchFamily="18" charset="0"/>
                        </a:rPr>
                        <a:t>).</a:t>
                      </a:r>
                      <a:endParaRPr lang="vi-VN" sz="7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tc>
                  <a:txBody>
                    <a:bodyPr/>
                    <a:lstStyle/>
                    <a:p>
                      <a:pPr algn="ctr">
                        <a:lnSpc>
                          <a:spcPct val="115000"/>
                        </a:lnSpc>
                        <a:spcBef>
                          <a:spcPts val="600"/>
                        </a:spcBef>
                        <a:buNone/>
                      </a:pPr>
                      <a:r>
                        <a:rPr lang="en-US" sz="700" dirty="0" err="1">
                          <a:solidFill>
                            <a:schemeClr val="bg1"/>
                          </a:solidFill>
                          <a:effectLst/>
                          <a:latin typeface="Times New Roman" panose="02020603050405020304" pitchFamily="18" charset="0"/>
                          <a:cs typeface="Times New Roman" panose="02020603050405020304" pitchFamily="18" charset="0"/>
                        </a:rPr>
                        <a:t>Rất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cao</a:t>
                      </a:r>
                      <a:r>
                        <a:rPr lang="en-US" sz="700" dirty="0">
                          <a:solidFill>
                            <a:schemeClr val="bg1"/>
                          </a:solidFill>
                          <a:effectLst/>
                          <a:latin typeface="Times New Roman" panose="02020603050405020304" pitchFamily="18" charset="0"/>
                          <a:cs typeface="Times New Roman" panose="02020603050405020304" pitchFamily="18" charset="0"/>
                        </a:rPr>
                        <a:t>. Cung </a:t>
                      </a:r>
                      <a:r>
                        <a:rPr lang="en-US" sz="700" dirty="0" err="1">
                          <a:solidFill>
                            <a:schemeClr val="bg1"/>
                          </a:solidFill>
                          <a:effectLst/>
                          <a:latin typeface="Times New Roman" panose="02020603050405020304" pitchFamily="18" charset="0"/>
                          <a:cs typeface="Times New Roman" panose="02020603050405020304" pitchFamily="18" charset="0"/>
                        </a:rPr>
                        <a:t>cấp</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các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công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cụ</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kiểm</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soát</a:t>
                      </a:r>
                      <a:r>
                        <a:rPr lang="en-US" sz="700" dirty="0">
                          <a:solidFill>
                            <a:schemeClr val="bg1"/>
                          </a:solidFill>
                          <a:effectLst/>
                          <a:latin typeface="Times New Roman" panose="02020603050405020304" pitchFamily="18" charset="0"/>
                          <a:cs typeface="Times New Roman" panose="02020603050405020304" pitchFamily="18" charset="0"/>
                        </a:rPr>
                        <a:t> chi </a:t>
                      </a:r>
                      <a:r>
                        <a:rPr lang="en-US" sz="700" dirty="0" err="1">
                          <a:solidFill>
                            <a:schemeClr val="bg1"/>
                          </a:solidFill>
                          <a:effectLst/>
                          <a:latin typeface="Times New Roman" panose="02020603050405020304" pitchFamily="18" charset="0"/>
                          <a:cs typeface="Times New Roman" panose="02020603050405020304" pitchFamily="18" charset="0"/>
                        </a:rPr>
                        <a:t>tiết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trong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mục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Hoạt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động</a:t>
                      </a:r>
                      <a:r>
                        <a:rPr lang="en-US" sz="700" dirty="0">
                          <a:solidFill>
                            <a:schemeClr val="bg1"/>
                          </a:solidFill>
                          <a:effectLst/>
                          <a:latin typeface="Times New Roman" panose="02020603050405020304" pitchFamily="18" charset="0"/>
                          <a:cs typeface="Times New Roman" panose="02020603050405020304" pitchFamily="18" charset="0"/>
                        </a:rPr>
                        <a:t>" (Activity), bao </a:t>
                      </a:r>
                      <a:r>
                        <a:rPr lang="en-US" sz="700" dirty="0" err="1">
                          <a:solidFill>
                            <a:schemeClr val="bg1"/>
                          </a:solidFill>
                          <a:effectLst/>
                          <a:latin typeface="Times New Roman" panose="02020603050405020304" pitchFamily="18" charset="0"/>
                          <a:cs typeface="Times New Roman" panose="02020603050405020304" pitchFamily="18" charset="0"/>
                        </a:rPr>
                        <a:t>gồm</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việc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tắt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Tiện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ích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mở</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rộng</a:t>
                      </a:r>
                      <a:r>
                        <a:rPr lang="en-US" sz="700" dirty="0">
                          <a:solidFill>
                            <a:schemeClr val="bg1"/>
                          </a:solidFill>
                          <a:effectLst/>
                          <a:latin typeface="Times New Roman" panose="02020603050405020304" pitchFamily="18" charset="0"/>
                          <a:cs typeface="Times New Roman" panose="02020603050405020304" pitchFamily="18" charset="0"/>
                        </a:rPr>
                        <a:t> Google Workspace </a:t>
                      </a:r>
                      <a:r>
                        <a:rPr lang="en-US" sz="700" dirty="0" err="1">
                          <a:solidFill>
                            <a:schemeClr val="bg1"/>
                          </a:solidFill>
                          <a:effectLst/>
                          <a:latin typeface="Times New Roman" panose="02020603050405020304" pitchFamily="18" charset="0"/>
                          <a:cs typeface="Times New Roman" panose="02020603050405020304" pitchFamily="18" charset="0"/>
                        </a:rPr>
                        <a:t>để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ngăn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truy</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cập</a:t>
                      </a:r>
                      <a:r>
                        <a:rPr lang="en-US" sz="700" dirty="0">
                          <a:solidFill>
                            <a:schemeClr val="bg1"/>
                          </a:solidFill>
                          <a:effectLst/>
                          <a:latin typeface="Times New Roman" panose="02020603050405020304" pitchFamily="18" charset="0"/>
                          <a:cs typeface="Times New Roman" panose="02020603050405020304" pitchFamily="18" charset="0"/>
                        </a:rPr>
                        <a:t> Drive, Gmail.</a:t>
                      </a:r>
                      <a:endParaRPr lang="vi-VN" sz="7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tc>
                  <a:txBody>
                    <a:bodyPr/>
                    <a:lstStyle/>
                    <a:p>
                      <a:pPr algn="ctr">
                        <a:lnSpc>
                          <a:spcPct val="115000"/>
                        </a:lnSpc>
                        <a:spcBef>
                          <a:spcPts val="600"/>
                        </a:spcBef>
                        <a:spcAft>
                          <a:spcPts val="1000"/>
                        </a:spcAft>
                        <a:buNone/>
                      </a:pPr>
                      <a:r>
                        <a:rPr lang="en-US" sz="700" dirty="0" err="1">
                          <a:solidFill>
                            <a:schemeClr val="bg1"/>
                          </a:solidFill>
                          <a:effectLst/>
                          <a:latin typeface="Times New Roman" panose="02020603050405020304" pitchFamily="18" charset="0"/>
                          <a:cs typeface="Times New Roman" panose="02020603050405020304" pitchFamily="18" charset="0"/>
                        </a:rPr>
                        <a:t>Việc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tích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hợp</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sâu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vào</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hệ</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sinh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thái</a:t>
                      </a:r>
                      <a:r>
                        <a:rPr lang="en-US" sz="700" dirty="0">
                          <a:solidFill>
                            <a:schemeClr val="bg1"/>
                          </a:solidFill>
                          <a:effectLst/>
                          <a:latin typeface="Times New Roman" panose="02020603050405020304" pitchFamily="18" charset="0"/>
                          <a:cs typeface="Times New Roman" panose="02020603050405020304" pitchFamily="18" charset="0"/>
                        </a:rPr>
                        <a:t> Google (Gmail, Drive) </a:t>
                      </a:r>
                      <a:r>
                        <a:rPr lang="en-US" sz="700" dirty="0" err="1">
                          <a:solidFill>
                            <a:schemeClr val="bg1"/>
                          </a:solidFill>
                          <a:effectLst/>
                          <a:latin typeface="Times New Roman" panose="02020603050405020304" pitchFamily="18" charset="0"/>
                          <a:cs typeface="Times New Roman" panose="02020603050405020304" pitchFamily="18" charset="0"/>
                        </a:rPr>
                        <a:t>tạo</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ra</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mối</a:t>
                      </a:r>
                      <a:r>
                        <a:rPr lang="en-US" sz="700" dirty="0">
                          <a:solidFill>
                            <a:schemeClr val="bg1"/>
                          </a:solidFill>
                          <a:effectLst/>
                          <a:latin typeface="Times New Roman" panose="02020603050405020304" pitchFamily="18" charset="0"/>
                          <a:cs typeface="Times New Roman" panose="02020603050405020304" pitchFamily="18" charset="0"/>
                        </a:rPr>
                        <a:t> lo </a:t>
                      </a:r>
                      <a:r>
                        <a:rPr lang="en-US" sz="700" dirty="0" err="1">
                          <a:solidFill>
                            <a:schemeClr val="bg1"/>
                          </a:solidFill>
                          <a:effectLst/>
                          <a:latin typeface="Times New Roman" panose="02020603050405020304" pitchFamily="18" charset="0"/>
                          <a:cs typeface="Times New Roman" panose="02020603050405020304" pitchFamily="18" charset="0"/>
                        </a:rPr>
                        <a:t>ngại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về</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quyền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truy</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cập</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cá</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nhân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dù</a:t>
                      </a:r>
                      <a:r>
                        <a:rPr lang="en-US" sz="700" dirty="0">
                          <a:solidFill>
                            <a:schemeClr val="bg1"/>
                          </a:solidFill>
                          <a:effectLst/>
                          <a:latin typeface="Times New Roman" panose="02020603050405020304" pitchFamily="18" charset="0"/>
                          <a:cs typeface="Times New Roman" panose="02020603050405020304" pitchFamily="18" charset="0"/>
                        </a:rPr>
                        <a:t> Google </a:t>
                      </a:r>
                      <a:r>
                        <a:rPr lang="en-US" sz="700" dirty="0" err="1">
                          <a:solidFill>
                            <a:schemeClr val="bg1"/>
                          </a:solidFill>
                          <a:effectLst/>
                          <a:latin typeface="Times New Roman" panose="02020603050405020304" pitchFamily="18" charset="0"/>
                          <a:cs typeface="Times New Roman" panose="02020603050405020304" pitchFamily="18" charset="0"/>
                        </a:rPr>
                        <a:t>cung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cấp</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tùy</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chọn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tắt</a:t>
                      </a:r>
                      <a:r>
                        <a:rPr lang="en-US" sz="700" dirty="0">
                          <a:solidFill>
                            <a:schemeClr val="bg1"/>
                          </a:solidFill>
                          <a:effectLst/>
                          <a:latin typeface="Times New Roman" panose="02020603050405020304" pitchFamily="18" charset="0"/>
                          <a:cs typeface="Times New Roman" panose="02020603050405020304" pitchFamily="18" charset="0"/>
                        </a:rPr>
                        <a:t>.</a:t>
                      </a:r>
                      <a:endParaRPr lang="vi-VN" sz="7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extLst>
                  <a:ext uri="{0D108BD9-81ED-4DB2-BD59-A6C34878D82A}">
                    <a16:rowId xmlns:a16="http://schemas.microsoft.com/office/drawing/2014/main" val="1720440084"/>
                  </a:ext>
                </a:extLst>
              </a:tr>
              <a:tr h="683260">
                <a:tc>
                  <a:txBody>
                    <a:bodyPr/>
                    <a:lstStyle/>
                    <a:p>
                      <a:pPr algn="ctr">
                        <a:lnSpc>
                          <a:spcPct val="115000"/>
                        </a:lnSpc>
                        <a:spcBef>
                          <a:spcPts val="600"/>
                        </a:spcBef>
                        <a:buNone/>
                      </a:pPr>
                      <a:r>
                        <a:rPr lang="en-US" sz="700" b="1" dirty="0">
                          <a:solidFill>
                            <a:schemeClr val="bg1"/>
                          </a:solidFill>
                          <a:effectLst/>
                          <a:latin typeface="Times New Roman" panose="02020603050405020304" pitchFamily="18" charset="0"/>
                          <a:cs typeface="Times New Roman" panose="02020603050405020304" pitchFamily="18" charset="0"/>
                        </a:rPr>
                        <a:t>DeepSeek</a:t>
                      </a:r>
                      <a:endParaRPr lang="vi-VN" sz="7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tc>
                  <a:txBody>
                    <a:bodyPr/>
                    <a:lstStyle/>
                    <a:p>
                      <a:r>
                        <a:rPr lang="en-US" sz="700" dirty="0">
                          <a:solidFill>
                            <a:schemeClr val="bg1"/>
                          </a:solidFill>
                          <a:effectLst/>
                          <a:latin typeface="Times New Roman" panose="02020603050405020304" pitchFamily="18" charset="0"/>
                          <a:cs typeface="Times New Roman" panose="02020603050405020304" pitchFamily="18" charset="0"/>
                        </a:rPr>
                        <a:t>DeepSeek AI</a:t>
                      </a:r>
                      <a:endParaRPr lang="vi-VN" sz="1400" dirty="0">
                        <a:latin typeface="Times New Roman" panose="02020603050405020304" pitchFamily="18" charset="0"/>
                        <a:cs typeface="Times New Roman" panose="02020603050405020304" pitchFamily="18" charset="0"/>
                      </a:endParaRPr>
                    </a:p>
                  </a:txBody>
                  <a:tcPr marL="3301" marR="3301" marT="2201" marB="2201" anchor="ctr"/>
                </a:tc>
                <a:tc>
                  <a:txBody>
                    <a:bodyPr/>
                    <a:lstStyle/>
                    <a:p>
                      <a:r>
                        <a:rPr lang="en-US" sz="700" dirty="0">
                          <a:solidFill>
                            <a:schemeClr val="bg1"/>
                          </a:solidFill>
                          <a:effectLst/>
                          <a:latin typeface="Times New Roman" panose="02020603050405020304" pitchFamily="18" charset="0"/>
                          <a:cs typeface="Times New Roman" panose="02020603050405020304" pitchFamily="18" charset="0"/>
                        </a:rPr>
                        <a:t>Thu </a:t>
                      </a:r>
                      <a:r>
                        <a:rPr lang="en-US" sz="700" dirty="0" err="1">
                          <a:solidFill>
                            <a:schemeClr val="bg1"/>
                          </a:solidFill>
                          <a:effectLst/>
                          <a:latin typeface="Times New Roman" panose="02020603050405020304" pitchFamily="18" charset="0"/>
                          <a:cs typeface="Times New Roman" panose="02020603050405020304" pitchFamily="18" charset="0"/>
                        </a:rPr>
                        <a:t>thập</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nhiều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cá</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nhân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tên</a:t>
                      </a:r>
                      <a:r>
                        <a:rPr lang="en-US" sz="700" dirty="0">
                          <a:solidFill>
                            <a:schemeClr val="bg1"/>
                          </a:solidFill>
                          <a:effectLst/>
                          <a:latin typeface="Times New Roman" panose="02020603050405020304" pitchFamily="18" charset="0"/>
                          <a:cs typeface="Times New Roman" panose="02020603050405020304" pitchFamily="18" charset="0"/>
                        </a:rPr>
                        <a:t>, email, </a:t>
                      </a:r>
                      <a:r>
                        <a:rPr lang="en-US" sz="700" dirty="0" err="1">
                          <a:solidFill>
                            <a:schemeClr val="bg1"/>
                          </a:solidFill>
                          <a:effectLst/>
                          <a:latin typeface="Times New Roman" panose="02020603050405020304" pitchFamily="18" charset="0"/>
                          <a:cs typeface="Times New Roman" panose="02020603050405020304" pitchFamily="18" charset="0"/>
                        </a:rPr>
                        <a:t>lịch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sử</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trò</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chuyện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thiết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bị</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mẫu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gõ</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phím</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thông</a:t>
                      </a:r>
                      <a:r>
                        <a:rPr lang="en-US" sz="700" dirty="0">
                          <a:solidFill>
                            <a:schemeClr val="bg1"/>
                          </a:solidFill>
                          <a:effectLst/>
                          <a:latin typeface="Times New Roman" panose="02020603050405020304" pitchFamily="18" charset="0"/>
                          <a:cs typeface="Times New Roman" panose="02020603050405020304" pitchFamily="18" charset="0"/>
                        </a:rPr>
                        <a:t> tin </a:t>
                      </a:r>
                      <a:r>
                        <a:rPr lang="en-US" sz="700" dirty="0" err="1">
                          <a:solidFill>
                            <a:schemeClr val="bg1"/>
                          </a:solidFill>
                          <a:effectLst/>
                          <a:latin typeface="Times New Roman" panose="02020603050405020304" pitchFamily="18" charset="0"/>
                          <a:cs typeface="Times New Roman" panose="02020603050405020304" pitchFamily="18" charset="0"/>
                        </a:rPr>
                        <a:t>thanh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toán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cải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thiện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dịch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vụ</a:t>
                      </a:r>
                      <a:r>
                        <a:rPr lang="en-US" sz="700" dirty="0">
                          <a:solidFill>
                            <a:schemeClr val="bg1"/>
                          </a:solidFill>
                          <a:effectLst/>
                          <a:latin typeface="Times New Roman" panose="02020603050405020304" pitchFamily="18" charset="0"/>
                          <a:cs typeface="Times New Roman" panose="02020603050405020304" pitchFamily="18" charset="0"/>
                        </a:rPr>
                        <a:t>.</a:t>
                      </a:r>
                      <a:endParaRPr lang="vi-VN" sz="1400" dirty="0">
                        <a:latin typeface="Times New Roman" panose="02020603050405020304" pitchFamily="18" charset="0"/>
                        <a:cs typeface="Times New Roman" panose="02020603050405020304" pitchFamily="18" charset="0"/>
                      </a:endParaRPr>
                    </a:p>
                  </a:txBody>
                  <a:tcPr marL="3301" marR="3301" marT="2201" marB="2201" anchor="ctr"/>
                </a:tc>
                <a:tc>
                  <a:txBody>
                    <a:bodyPr/>
                    <a:lstStyle/>
                    <a:p>
                      <a:r>
                        <a:rPr lang="en-US" sz="700" dirty="0" err="1">
                          <a:solidFill>
                            <a:schemeClr val="bg1"/>
                          </a:solidFill>
                          <a:effectLst/>
                          <a:latin typeface="Times New Roman" panose="02020603050405020304" pitchFamily="18" charset="0"/>
                          <a:cs typeface="Times New Roman" panose="02020603050405020304" pitchFamily="18" charset="0"/>
                        </a:rPr>
                        <a:t>Thấp</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hơn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Chính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sách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cho</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biết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có</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được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lưu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và</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sử</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dụng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cải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thiện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dịch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vụ</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khiến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mô</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hình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này</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kém</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lý</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tưởng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cho</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các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tổ</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chức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cần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quyền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riêng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tư</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cao</a:t>
                      </a:r>
                      <a:r>
                        <a:rPr lang="en-US" sz="700" dirty="0">
                          <a:solidFill>
                            <a:schemeClr val="bg1"/>
                          </a:solidFill>
                          <a:effectLst/>
                          <a:latin typeface="Times New Roman" panose="02020603050405020304" pitchFamily="18" charset="0"/>
                          <a:cs typeface="Times New Roman" panose="02020603050405020304" pitchFamily="18" charset="0"/>
                        </a:rPr>
                        <a:t>.</a:t>
                      </a:r>
                      <a:endParaRPr lang="vi-VN" sz="1400" dirty="0">
                        <a:latin typeface="Times New Roman" panose="02020603050405020304" pitchFamily="18" charset="0"/>
                        <a:cs typeface="Times New Roman" panose="02020603050405020304" pitchFamily="18" charset="0"/>
                      </a:endParaRPr>
                    </a:p>
                  </a:txBody>
                  <a:tcPr marL="3301" marR="3301" marT="2201" marB="2201" anchor="ctr"/>
                </a:tc>
                <a:tc>
                  <a:txBody>
                    <a:bodyPr/>
                    <a:lstStyle/>
                    <a:p>
                      <a:r>
                        <a:rPr lang="en-US" sz="700" dirty="0" err="1">
                          <a:solidFill>
                            <a:schemeClr val="bg1"/>
                          </a:solidFill>
                          <a:effectLst/>
                          <a:latin typeface="Times New Roman" panose="02020603050405020304" pitchFamily="18" charset="0"/>
                          <a:cs typeface="Times New Roman" panose="02020603050405020304" pitchFamily="18" charset="0"/>
                        </a:rPr>
                        <a:t>Rủi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ro</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Địa</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lý</a:t>
                      </a:r>
                      <a:r>
                        <a:rPr lang="en-US" sz="700" dirty="0">
                          <a:solidFill>
                            <a:schemeClr val="bg1"/>
                          </a:solidFill>
                          <a:effectLst/>
                          <a:latin typeface="Times New Roman" panose="02020603050405020304" pitchFamily="18" charset="0"/>
                          <a:cs typeface="Times New Roman" panose="02020603050405020304" pitchFamily="18" charset="0"/>
                        </a:rPr>
                        <a:t>. Công ty </a:t>
                      </a:r>
                      <a:r>
                        <a:rPr lang="en-US" sz="700" dirty="0" err="1">
                          <a:solidFill>
                            <a:schemeClr val="bg1"/>
                          </a:solidFill>
                          <a:effectLst/>
                          <a:latin typeface="Times New Roman" panose="02020603050405020304" pitchFamily="18" charset="0"/>
                          <a:cs typeface="Times New Roman" panose="02020603050405020304" pitchFamily="18" charset="0"/>
                        </a:rPr>
                        <a:t>có</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trụ</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sở</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tại</a:t>
                      </a:r>
                      <a:r>
                        <a:rPr lang="en-US" sz="700" dirty="0">
                          <a:solidFill>
                            <a:schemeClr val="bg1"/>
                          </a:solidFill>
                          <a:effectLst/>
                          <a:latin typeface="Times New Roman" panose="02020603050405020304" pitchFamily="18" charset="0"/>
                          <a:cs typeface="Times New Roman" panose="02020603050405020304" pitchFamily="18" charset="0"/>
                        </a:rPr>
                        <a:t> Trung Quốc,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người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dùng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theo</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một</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số</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báo</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cáo</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được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lưu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trữ</a:t>
                      </a:r>
                      <a:r>
                        <a:rPr lang="en-US" sz="700" dirty="0">
                          <a:solidFill>
                            <a:schemeClr val="bg1"/>
                          </a:solidFill>
                          <a:effectLst/>
                          <a:latin typeface="Times New Roman" panose="02020603050405020304" pitchFamily="18" charset="0"/>
                          <a:cs typeface="Times New Roman" panose="02020603050405020304" pitchFamily="18" charset="0"/>
                        </a:rPr>
                        <a:t> ở </a:t>
                      </a:r>
                      <a:r>
                        <a:rPr lang="en-US" sz="700" dirty="0" err="1">
                          <a:solidFill>
                            <a:schemeClr val="bg1"/>
                          </a:solidFill>
                          <a:effectLst/>
                          <a:latin typeface="Times New Roman" panose="02020603050405020304" pitchFamily="18" charset="0"/>
                          <a:cs typeface="Times New Roman" panose="02020603050405020304" pitchFamily="18" charset="0"/>
                        </a:rPr>
                        <a:t>đó</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gây</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ra</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mối</a:t>
                      </a:r>
                      <a:r>
                        <a:rPr lang="en-US" sz="700" dirty="0">
                          <a:solidFill>
                            <a:schemeClr val="bg1"/>
                          </a:solidFill>
                          <a:effectLst/>
                          <a:latin typeface="Times New Roman" panose="02020603050405020304" pitchFamily="18" charset="0"/>
                          <a:cs typeface="Times New Roman" panose="02020603050405020304" pitchFamily="18" charset="0"/>
                        </a:rPr>
                        <a:t> lo </a:t>
                      </a:r>
                      <a:r>
                        <a:rPr lang="en-US" sz="700" dirty="0" err="1">
                          <a:solidFill>
                            <a:schemeClr val="bg1"/>
                          </a:solidFill>
                          <a:effectLst/>
                          <a:latin typeface="Times New Roman" panose="02020603050405020304" pitchFamily="18" charset="0"/>
                          <a:cs typeface="Times New Roman" panose="02020603050405020304" pitchFamily="18" charset="0"/>
                        </a:rPr>
                        <a:t>ngại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về</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pháp</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lý</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và</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yêu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cầu</a:t>
                      </a:r>
                      <a:r>
                        <a:rPr lang="en-US" sz="700" dirty="0">
                          <a:solidFill>
                            <a:schemeClr val="bg1"/>
                          </a:solidFill>
                          <a:effectLst/>
                          <a:latin typeface="Times New Roman" panose="02020603050405020304" pitchFamily="18" charset="0"/>
                          <a:cs typeface="Times New Roman" panose="02020603050405020304" pitchFamily="18" charset="0"/>
                        </a:rPr>
                        <a:t> chia </a:t>
                      </a:r>
                      <a:r>
                        <a:rPr lang="en-US" sz="700" dirty="0" err="1">
                          <a:solidFill>
                            <a:schemeClr val="bg1"/>
                          </a:solidFill>
                          <a:effectLst/>
                          <a:latin typeface="Times New Roman" panose="02020603050405020304" pitchFamily="18" charset="0"/>
                          <a:cs typeface="Times New Roman" panose="02020603050405020304" pitchFamily="18" charset="0"/>
                        </a:rPr>
                        <a:t>sẻ</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từ</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chính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phủ</a:t>
                      </a:r>
                      <a:r>
                        <a:rPr lang="en-US" sz="700" dirty="0">
                          <a:solidFill>
                            <a:schemeClr val="bg1"/>
                          </a:solidFill>
                          <a:effectLst/>
                          <a:latin typeface="Times New Roman" panose="02020603050405020304" pitchFamily="18" charset="0"/>
                          <a:cs typeface="Times New Roman" panose="02020603050405020304" pitchFamily="18" charset="0"/>
                        </a:rPr>
                        <a:t>.</a:t>
                      </a:r>
                      <a:endParaRPr lang="vi-VN" sz="1400" dirty="0">
                        <a:latin typeface="Times New Roman" panose="02020603050405020304" pitchFamily="18" charset="0"/>
                        <a:cs typeface="Times New Roman" panose="02020603050405020304" pitchFamily="18" charset="0"/>
                      </a:endParaRPr>
                    </a:p>
                  </a:txBody>
                  <a:tcPr marL="3301" marR="3301" marT="2201" marB="2201" anchor="ctr"/>
                </a:tc>
                <a:extLst>
                  <a:ext uri="{0D108BD9-81ED-4DB2-BD59-A6C34878D82A}">
                    <a16:rowId xmlns:a16="http://schemas.microsoft.com/office/drawing/2014/main" val="1164523989"/>
                  </a:ext>
                </a:extLst>
              </a:tr>
              <a:tr h="872576">
                <a:tc>
                  <a:txBody>
                    <a:bodyPr/>
                    <a:lstStyle/>
                    <a:p>
                      <a:pPr algn="ctr">
                        <a:lnSpc>
                          <a:spcPct val="115000"/>
                        </a:lnSpc>
                        <a:spcBef>
                          <a:spcPts val="600"/>
                        </a:spcBef>
                        <a:buNone/>
                      </a:pPr>
                      <a:r>
                        <a:rPr lang="en-US" sz="700" b="1" dirty="0">
                          <a:solidFill>
                            <a:schemeClr val="bg1"/>
                          </a:solidFill>
                          <a:effectLst/>
                          <a:latin typeface="Times New Roman" panose="02020603050405020304" pitchFamily="18" charset="0"/>
                          <a:cs typeface="Times New Roman" panose="02020603050405020304" pitchFamily="18" charset="0"/>
                        </a:rPr>
                        <a:t>Grok</a:t>
                      </a:r>
                      <a:endParaRPr lang="vi-VN" sz="7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01" marR="3301" marT="2201" marB="2201" anchor="ctr"/>
                </a:tc>
                <a:tc>
                  <a:txBody>
                    <a:bodyPr/>
                    <a:lstStyle/>
                    <a:p>
                      <a:r>
                        <a:rPr lang="en-US" sz="700" dirty="0" err="1">
                          <a:solidFill>
                            <a:schemeClr val="bg1"/>
                          </a:solidFill>
                          <a:effectLst/>
                          <a:latin typeface="Times New Roman" panose="02020603050405020304" pitchFamily="18" charset="0"/>
                          <a:cs typeface="Times New Roman" panose="02020603050405020304" pitchFamily="18" charset="0"/>
                        </a:rPr>
                        <a:t>xAI</a:t>
                      </a:r>
                      <a:endParaRPr lang="vi-VN" sz="1400" dirty="0">
                        <a:latin typeface="Times New Roman" panose="02020603050405020304" pitchFamily="18" charset="0"/>
                        <a:cs typeface="Times New Roman" panose="02020603050405020304" pitchFamily="18" charset="0"/>
                      </a:endParaRPr>
                    </a:p>
                  </a:txBody>
                  <a:tcPr marL="3301" marR="3301" marT="2201" marB="2201" anchor="ctr"/>
                </a:tc>
                <a:tc>
                  <a:txBody>
                    <a:bodyPr/>
                    <a:lstStyle/>
                    <a:p>
                      <a:r>
                        <a:rPr lang="en-US" sz="700" dirty="0" err="1">
                          <a:solidFill>
                            <a:schemeClr val="bg1"/>
                          </a:solidFill>
                          <a:effectLst/>
                          <a:latin typeface="Times New Roman" panose="02020603050405020304" pitchFamily="18" charset="0"/>
                          <a:cs typeface="Times New Roman" panose="02020603050405020304" pitchFamily="18" charset="0"/>
                        </a:rPr>
                        <a:t>Sử</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dụng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công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khai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từ</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nền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tảng</a:t>
                      </a:r>
                      <a:r>
                        <a:rPr lang="en-US" sz="700" dirty="0">
                          <a:solidFill>
                            <a:schemeClr val="bg1"/>
                          </a:solidFill>
                          <a:effectLst/>
                          <a:latin typeface="Times New Roman" panose="02020603050405020304" pitchFamily="18" charset="0"/>
                          <a:cs typeface="Times New Roman" panose="02020603050405020304" pitchFamily="18" charset="0"/>
                        </a:rPr>
                        <a:t> X (Twitter) </a:t>
                      </a:r>
                      <a:r>
                        <a:rPr lang="en-US" sz="700" dirty="0" err="1">
                          <a:solidFill>
                            <a:schemeClr val="bg1"/>
                          </a:solidFill>
                          <a:effectLst/>
                          <a:latin typeface="Times New Roman" panose="02020603050405020304" pitchFamily="18" charset="0"/>
                          <a:cs typeface="Times New Roman" panose="02020603050405020304" pitchFamily="18" charset="0"/>
                        </a:rPr>
                        <a:t>để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huấn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luyện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Đối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với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tương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tác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trực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tiếp</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nhập</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của</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bạn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có</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được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sử</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dụng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cho</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mục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đích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huấn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luyện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trừ</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khi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bạn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chọn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không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tham</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gia</a:t>
                      </a:r>
                      <a:r>
                        <a:rPr lang="en-US" sz="700" dirty="0">
                          <a:solidFill>
                            <a:schemeClr val="bg1"/>
                          </a:solidFill>
                          <a:effectLst/>
                          <a:latin typeface="Times New Roman" panose="02020603050405020304" pitchFamily="18" charset="0"/>
                          <a:cs typeface="Times New Roman" panose="02020603050405020304" pitchFamily="18" charset="0"/>
                        </a:rPr>
                        <a:t>).</a:t>
                      </a:r>
                      <a:endParaRPr lang="vi-VN" sz="1400" dirty="0">
                        <a:latin typeface="Times New Roman" panose="02020603050405020304" pitchFamily="18" charset="0"/>
                        <a:cs typeface="Times New Roman" panose="02020603050405020304" pitchFamily="18" charset="0"/>
                      </a:endParaRPr>
                    </a:p>
                  </a:txBody>
                  <a:tcPr marL="3301" marR="3301" marT="2201" marB="2201" anchor="ctr"/>
                </a:tc>
                <a:tc>
                  <a:txBody>
                    <a:bodyPr/>
                    <a:lstStyle/>
                    <a:p>
                      <a:r>
                        <a:rPr lang="en-US" sz="700" dirty="0">
                          <a:solidFill>
                            <a:schemeClr val="bg1"/>
                          </a:solidFill>
                          <a:effectLst/>
                          <a:latin typeface="Times New Roman" panose="02020603050405020304" pitchFamily="18" charset="0"/>
                          <a:cs typeface="Times New Roman" panose="02020603050405020304" pitchFamily="18" charset="0"/>
                        </a:rPr>
                        <a:t>Trung </a:t>
                      </a:r>
                      <a:r>
                        <a:rPr lang="en-US" sz="700" dirty="0" err="1">
                          <a:solidFill>
                            <a:schemeClr val="bg1"/>
                          </a:solidFill>
                          <a:effectLst/>
                          <a:latin typeface="Times New Roman" panose="02020603050405020304" pitchFamily="18" charset="0"/>
                          <a:cs typeface="Times New Roman" panose="02020603050405020304" pitchFamily="18" charset="0"/>
                        </a:rPr>
                        <a:t>bình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Người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dùng</a:t>
                      </a:r>
                      <a:r>
                        <a:rPr lang="en-US" sz="700" dirty="0">
                          <a:solidFill>
                            <a:schemeClr val="bg1"/>
                          </a:solidFill>
                          <a:effectLst/>
                          <a:latin typeface="Times New Roman" panose="02020603050405020304" pitchFamily="18" charset="0"/>
                          <a:cs typeface="Times New Roman" panose="02020603050405020304" pitchFamily="18" charset="0"/>
                        </a:rPr>
                        <a:t> X </a:t>
                      </a:r>
                      <a:r>
                        <a:rPr lang="en-US" sz="700" dirty="0" err="1">
                          <a:solidFill>
                            <a:schemeClr val="bg1"/>
                          </a:solidFill>
                          <a:effectLst/>
                          <a:latin typeface="Times New Roman" panose="02020603050405020304" pitchFamily="18" charset="0"/>
                          <a:cs typeface="Times New Roman" panose="02020603050405020304" pitchFamily="18" charset="0"/>
                        </a:rPr>
                        <a:t>có</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chọn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không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tham</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gia</a:t>
                      </a:r>
                      <a:r>
                        <a:rPr lang="en-US" sz="700" dirty="0">
                          <a:solidFill>
                            <a:schemeClr val="bg1"/>
                          </a:solidFill>
                          <a:effectLst/>
                          <a:latin typeface="Times New Roman" panose="02020603050405020304" pitchFamily="18" charset="0"/>
                          <a:cs typeface="Times New Roman" panose="02020603050405020304" pitchFamily="18" charset="0"/>
                        </a:rPr>
                        <a:t> (opt-out) </a:t>
                      </a:r>
                      <a:r>
                        <a:rPr lang="en-US" sz="700" dirty="0" err="1">
                          <a:solidFill>
                            <a:schemeClr val="bg1"/>
                          </a:solidFill>
                          <a:effectLst/>
                          <a:latin typeface="Times New Roman" panose="02020603050405020304" pitchFamily="18" charset="0"/>
                          <a:cs typeface="Times New Roman" panose="02020603050405020304" pitchFamily="18" charset="0"/>
                        </a:rPr>
                        <a:t>việc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sử</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dụng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công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khai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của</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họ</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huấn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luyện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mô</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hình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Có</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xóa</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lịch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sử</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trò</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chuyện</a:t>
                      </a:r>
                      <a:r>
                        <a:rPr lang="en-US" sz="700" dirty="0">
                          <a:solidFill>
                            <a:schemeClr val="bg1"/>
                          </a:solidFill>
                          <a:effectLst/>
                          <a:latin typeface="Times New Roman" panose="02020603050405020304" pitchFamily="18" charset="0"/>
                          <a:cs typeface="Times New Roman" panose="02020603050405020304" pitchFamily="18" charset="0"/>
                        </a:rPr>
                        <a:t> Grok.</a:t>
                      </a:r>
                      <a:endParaRPr lang="vi-VN" sz="1400" dirty="0">
                        <a:latin typeface="Times New Roman" panose="02020603050405020304" pitchFamily="18" charset="0"/>
                        <a:cs typeface="Times New Roman" panose="02020603050405020304" pitchFamily="18" charset="0"/>
                      </a:endParaRPr>
                    </a:p>
                  </a:txBody>
                  <a:tcPr marL="3301" marR="3301" marT="2201" marB="2201" anchor="ctr"/>
                </a:tc>
                <a:tc>
                  <a:txBody>
                    <a:bodyPr/>
                    <a:lstStyle/>
                    <a:p>
                      <a:r>
                        <a:rPr lang="en-US" sz="700" dirty="0" err="1">
                          <a:solidFill>
                            <a:schemeClr val="bg1"/>
                          </a:solidFill>
                          <a:effectLst/>
                          <a:latin typeface="Times New Roman" panose="02020603050405020304" pitchFamily="18" charset="0"/>
                          <a:cs typeface="Times New Roman" panose="02020603050405020304" pitchFamily="18" charset="0"/>
                        </a:rPr>
                        <a:t>Sự</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tích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hợp</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sâu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với</a:t>
                      </a:r>
                      <a:r>
                        <a:rPr lang="en-US" sz="700" dirty="0">
                          <a:solidFill>
                            <a:schemeClr val="bg1"/>
                          </a:solidFill>
                          <a:effectLst/>
                          <a:latin typeface="Times New Roman" panose="02020603050405020304" pitchFamily="18" charset="0"/>
                          <a:cs typeface="Times New Roman" panose="02020603050405020304" pitchFamily="18" charset="0"/>
                        </a:rPr>
                        <a:t> X (Twitter) </a:t>
                      </a:r>
                      <a:r>
                        <a:rPr lang="en-US" sz="700" dirty="0" err="1">
                          <a:solidFill>
                            <a:schemeClr val="bg1"/>
                          </a:solidFill>
                          <a:effectLst/>
                          <a:latin typeface="Times New Roman" panose="02020603050405020304" pitchFamily="18" charset="0"/>
                          <a:cs typeface="Times New Roman" panose="02020603050405020304" pitchFamily="18" charset="0"/>
                        </a:rPr>
                        <a:t>có</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nghĩa</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là</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công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khai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của</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bạn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trên</a:t>
                      </a:r>
                      <a:r>
                        <a:rPr lang="en-US" sz="700" dirty="0">
                          <a:solidFill>
                            <a:schemeClr val="bg1"/>
                          </a:solidFill>
                          <a:effectLst/>
                          <a:latin typeface="Times New Roman" panose="02020603050405020304" pitchFamily="18" charset="0"/>
                          <a:cs typeface="Times New Roman" panose="02020603050405020304" pitchFamily="18" charset="0"/>
                        </a:rPr>
                        <a:t> X </a:t>
                      </a:r>
                      <a:r>
                        <a:rPr lang="en-US" sz="700" dirty="0" err="1">
                          <a:solidFill>
                            <a:schemeClr val="bg1"/>
                          </a:solidFill>
                          <a:effectLst/>
                          <a:latin typeface="Times New Roman" panose="02020603050405020304" pitchFamily="18" charset="0"/>
                          <a:cs typeface="Times New Roman" panose="02020603050405020304" pitchFamily="18" charset="0"/>
                        </a:rPr>
                        <a:t>có</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thể</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được</a:t>
                      </a:r>
                      <a:r>
                        <a:rPr lang="en-US" sz="700" dirty="0">
                          <a:solidFill>
                            <a:schemeClr val="bg1"/>
                          </a:solidFill>
                          <a:effectLst/>
                          <a:latin typeface="Times New Roman" panose="02020603050405020304" pitchFamily="18" charset="0"/>
                          <a:cs typeface="Times New Roman" panose="02020603050405020304" pitchFamily="18" charset="0"/>
                        </a:rPr>
                        <a:t> Grok </a:t>
                      </a:r>
                      <a:r>
                        <a:rPr lang="en-US" sz="700" dirty="0" err="1">
                          <a:solidFill>
                            <a:schemeClr val="bg1"/>
                          </a:solidFill>
                          <a:effectLst/>
                          <a:latin typeface="Times New Roman" panose="02020603050405020304" pitchFamily="18" charset="0"/>
                          <a:cs typeface="Times New Roman" panose="02020603050405020304" pitchFamily="18" charset="0"/>
                        </a:rPr>
                        <a:t>tiếp</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cận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và</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sử</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dụng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Dữ</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liệu</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mặc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định</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của</a:t>
                      </a:r>
                      <a:r>
                        <a:rPr lang="en-US" sz="700" dirty="0">
                          <a:solidFill>
                            <a:schemeClr val="bg1"/>
                          </a:solidFill>
                          <a:effectLst/>
                          <a:latin typeface="Times New Roman" panose="02020603050405020304" pitchFamily="18" charset="0"/>
                          <a:cs typeface="Times New Roman" panose="02020603050405020304" pitchFamily="18" charset="0"/>
                        </a:rPr>
                        <a:t> Grok </a:t>
                      </a:r>
                      <a:r>
                        <a:rPr lang="en-US" sz="700" dirty="0" err="1">
                          <a:solidFill>
                            <a:schemeClr val="bg1"/>
                          </a:solidFill>
                          <a:effectLst/>
                          <a:latin typeface="Times New Roman" panose="02020603050405020304" pitchFamily="18" charset="0"/>
                          <a:cs typeface="Times New Roman" panose="02020603050405020304" pitchFamily="18" charset="0"/>
                        </a:rPr>
                        <a:t>thường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được</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cấp</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quyền</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sử</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dụng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rộng</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rãi</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cho</a:t>
                      </a:r>
                      <a:r>
                        <a:rPr lang="en-US" sz="700" dirty="0">
                          <a:solidFill>
                            <a:schemeClr val="bg1"/>
                          </a:solidFill>
                          <a:effectLst/>
                          <a:latin typeface="Times New Roman" panose="02020603050405020304" pitchFamily="18" charset="0"/>
                          <a:cs typeface="Times New Roman" panose="02020603050405020304" pitchFamily="18" charset="0"/>
                        </a:rPr>
                        <a:t> </a:t>
                      </a:r>
                      <a:r>
                        <a:rPr lang="en-US" sz="700" dirty="0" err="1">
                          <a:solidFill>
                            <a:schemeClr val="bg1"/>
                          </a:solidFill>
                          <a:effectLst/>
                          <a:latin typeface="Times New Roman" panose="02020603050405020304" pitchFamily="18" charset="0"/>
                          <a:cs typeface="Times New Roman" panose="02020603050405020304" pitchFamily="18" charset="0"/>
                        </a:rPr>
                        <a:t>xAI</a:t>
                      </a:r>
                      <a:r>
                        <a:rPr lang="en-US" sz="700" dirty="0">
                          <a:solidFill>
                            <a:schemeClr val="bg1"/>
                          </a:solidFill>
                          <a:effectLst/>
                          <a:latin typeface="Times New Roman" panose="02020603050405020304" pitchFamily="18" charset="0"/>
                          <a:cs typeface="Times New Roman" panose="02020603050405020304" pitchFamily="18" charset="0"/>
                        </a:rPr>
                        <a:t>.</a:t>
                      </a:r>
                      <a:endParaRPr lang="vi-VN" sz="1400" dirty="0">
                        <a:latin typeface="Times New Roman" panose="02020603050405020304" pitchFamily="18" charset="0"/>
                        <a:cs typeface="Times New Roman" panose="02020603050405020304" pitchFamily="18" charset="0"/>
                      </a:endParaRPr>
                    </a:p>
                  </a:txBody>
                  <a:tcPr marL="3301" marR="3301" marT="2201" marB="2201" anchor="ctr"/>
                </a:tc>
                <a:extLst>
                  <a:ext uri="{0D108BD9-81ED-4DB2-BD59-A6C34878D82A}">
                    <a16:rowId xmlns:a16="http://schemas.microsoft.com/office/drawing/2014/main" val="18990929"/>
                  </a:ext>
                </a:extLst>
              </a:tr>
            </a:tbl>
          </a:graphicData>
        </a:graphic>
      </p:graphicFrame>
      <p:sp>
        <p:nvSpPr>
          <p:cNvPr id="11" name="Rectangle 1">
            <a:extLst>
              <a:ext uri="{FF2B5EF4-FFF2-40B4-BE49-F238E27FC236}">
                <a16:creationId xmlns:a16="http://schemas.microsoft.com/office/drawing/2014/main" id="{5E1D1D48-F70B-D610-9006-E253DA94B0BE}"/>
              </a:ext>
            </a:extLst>
          </p:cNvPr>
          <p:cNvSpPr>
            <a:spLocks noGrp="1" noChangeArrowheads="1"/>
          </p:cNvSpPr>
          <p:nvPr>
            <p:ph type="body" idx="1"/>
          </p:nvPr>
        </p:nvSpPr>
        <p:spPr bwMode="auto">
          <a:xfrm>
            <a:off x="499943" y="1930436"/>
            <a:ext cx="1370394" cy="2000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01568" rIns="9144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2400" b="1"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kumimoji="0" lang="vi-VN" altLang="vi-VN" sz="24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ảo mật</a:t>
            </a:r>
            <a:endParaRPr kumimoji="0" lang="en-US" altLang="vi-VN" sz="24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24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vi-VN" sz="24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VÀ</a:t>
            </a: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24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quyền riêng tư</a:t>
            </a:r>
            <a:endParaRPr kumimoji="0" lang="vi-VN" altLang="vi-VN" sz="2400" b="1"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Tx/>
              <a:buFontTx/>
              <a:buAutoNum type="arabicPeriod"/>
              <a:tabLst/>
            </a:pPr>
            <a:endParaRPr kumimoji="0" lang="vi-VN" altLang="vi-VN" sz="24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31051374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FBFD9EAE-962B-65A7-CE27-1347A79906B8}"/>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430B438B-1D27-C2B0-5DE8-D10C34C95408}"/>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AF4CD277-6B83-5925-57F8-67D10883AE25}"/>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mj-lt"/>
              </a:rPr>
              <a:t>CHƯƠNG 3: CÁC KHÍA CẠNH CHÍNH</a:t>
            </a:r>
            <a:endParaRPr b="1" dirty="0">
              <a:latin typeface="+mj-lt"/>
            </a:endParaRPr>
          </a:p>
        </p:txBody>
      </p:sp>
      <p:grpSp>
        <p:nvGrpSpPr>
          <p:cNvPr id="797" name="Google Shape;797;p42">
            <a:extLst>
              <a:ext uri="{FF2B5EF4-FFF2-40B4-BE49-F238E27FC236}">
                <a16:creationId xmlns:a16="http://schemas.microsoft.com/office/drawing/2014/main" id="{556519BD-314E-761D-5B9F-A7E03F8FA518}"/>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81A45F3F-5D1E-CE01-7B71-3816439CB973}"/>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A25965B6-1D11-4BB1-1DB6-6D6687FC5333}"/>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93B804A0-7E61-F712-0809-90612B8FEF99}"/>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A91A90DA-E44D-63E2-B229-6D14D2786B2D}"/>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22CBFEE0-864E-F7DF-59B3-913B8AD58AEC}"/>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F56E5BA3-1E5B-0D5B-FE38-EB81CB0FE2B4}"/>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54B23305-5CAF-694E-4C92-915AA330F6AD}"/>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BE9ED883-9493-D18C-1F63-A7E26C2FAB9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7D5077E7-79A5-B76A-0174-7D0C6FD8CB7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9208BB6C-64A8-6BED-FB80-1997F702C201}"/>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B2EDF208-CA20-C3A7-EC1C-57B3679CB11E}"/>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18541DC3-773B-C176-F8A3-D5AFE4697D97}"/>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437FEAFE-EF39-B669-DEE8-90155B92BB46}"/>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86EC08AB-CBD5-19F3-2859-A1DDA78F6F43}"/>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96566DBB-1908-684E-A50F-3BBDE50DD387}"/>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019C2B8E-68B8-3E81-5619-4203866FABA7}"/>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0FB45E44-70B9-45E4-E088-7CFBC775AF7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5481EC4D-9388-A575-33E4-A415711C7F96}"/>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6" name="Google Shape;796;p42">
            <a:extLst>
              <a:ext uri="{FF2B5EF4-FFF2-40B4-BE49-F238E27FC236}">
                <a16:creationId xmlns:a16="http://schemas.microsoft.com/office/drawing/2014/main" id="{B64AF7AA-EC6B-CD09-4E28-C08888D5CBFA}"/>
              </a:ext>
            </a:extLst>
          </p:cNvPr>
          <p:cNvSpPr txBox="1">
            <a:spLocks noGrp="1"/>
          </p:cNvSpPr>
          <p:nvPr>
            <p:ph type="body" idx="1"/>
          </p:nvPr>
        </p:nvSpPr>
        <p:spPr>
          <a:xfrm>
            <a:off x="713225" y="1246560"/>
            <a:ext cx="7704000" cy="2594700"/>
          </a:xfrm>
          <a:prstGeom prst="rect">
            <a:avLst/>
          </a:prstGeom>
        </p:spPr>
        <p:txBody>
          <a:bodyPr spcFirstLastPara="1" wrap="square" lIns="91425" tIns="91425" rIns="91425" bIns="91425" anchor="t" anchorCtr="0">
            <a:noAutofit/>
          </a:bodyPr>
          <a:lstStyle/>
          <a:p>
            <a:pPr marL="596900" lvl="1" indent="0">
              <a:buNone/>
            </a:pPr>
            <a:r>
              <a:rPr lang="vi-VN" sz="1200" b="1" dirty="0">
                <a:latin typeface="+mj-lt"/>
              </a:rPr>
              <a:t>Khả năng xử lí ngôn ngữ</a:t>
            </a:r>
          </a:p>
          <a:p>
            <a:pPr lvl="1"/>
            <a:r>
              <a:rPr lang="vi-VN" sz="1300" dirty="0">
                <a:latin typeface="+mj-lt"/>
              </a:rPr>
              <a:t>ChatGPT (GPT-4/GPT-4o)</a:t>
            </a:r>
          </a:p>
          <a:p>
            <a:pPr lvl="0"/>
            <a:r>
              <a:rPr lang="vi-VN" sz="1100" dirty="0">
                <a:latin typeface="+mj-lt"/>
              </a:rPr>
              <a:t>Điểm mạnh cốt lõi: Tính tự nhiên và tính sáng tạo.</a:t>
            </a:r>
          </a:p>
          <a:p>
            <a:r>
              <a:rPr lang="vi-VN" sz="1100" dirty="0">
                <a:latin typeface="+mj-lt"/>
              </a:rPr>
              <a:t> ChatGPT được đánh giá cao về khả năng viết văn, thơ, kịch bản, và duy trì một cuộc trò chuyện kéo dài mà vẫn giữ được ngữ cảnh và giọng văn nhất quán. GPT-4o cải thiện đáng kể tốc độ và khả năng xử lý giọng nói, làm cho trải nghiệm ngôn ngữ trở nên mượt mà hơn.</a:t>
            </a:r>
          </a:p>
          <a:p>
            <a:pPr lvl="1"/>
            <a:r>
              <a:rPr lang="vi-VN" sz="1300" dirty="0">
                <a:latin typeface="+mj-lt"/>
              </a:rPr>
              <a:t>Gemini (Ultra/Pro)</a:t>
            </a:r>
          </a:p>
          <a:p>
            <a:pPr lvl="0"/>
            <a:r>
              <a:rPr lang="vi-VN" sz="1100" dirty="0">
                <a:latin typeface="+mj-lt"/>
              </a:rPr>
              <a:t>Điểm mạnh cốt lõi: Suy luận phức tạp và Tính chính xác theo ngữ cảnh. </a:t>
            </a:r>
          </a:p>
          <a:p>
            <a:r>
              <a:rPr lang="vi-VN" sz="1100" dirty="0">
                <a:latin typeface="+mj-lt"/>
              </a:rPr>
              <a:t>Nhờ được huấn luyện trên bộ dữ liệu đa dạng và tích hợp Google Search, Gemini có khả năng tổng hợp thông tin và đưa ra các câu trả lời chính xác và chi tiết. Khả năng suy luận ngôn ngữ của nó (ví dụ: giải thích một sơ đồ hoặc một công thức) rất mạnh mẽ.</a:t>
            </a:r>
          </a:p>
          <a:p>
            <a:pPr lvl="1"/>
            <a:r>
              <a:rPr lang="vi-VN" sz="1300" dirty="0">
                <a:latin typeface="+mj-lt"/>
              </a:rPr>
              <a:t>DeepSeek</a:t>
            </a:r>
          </a:p>
          <a:p>
            <a:pPr lvl="0"/>
            <a:r>
              <a:rPr lang="vi-VN" sz="1100" dirty="0">
                <a:latin typeface="+mj-lt"/>
              </a:rPr>
              <a:t>Điểm mạnh cốt lõi: Ngôn ngữ kỹ thuật và Cấu trúc Logic.</a:t>
            </a:r>
          </a:p>
          <a:p>
            <a:r>
              <a:rPr lang="vi-VN" sz="1100" dirty="0">
                <a:latin typeface="+mj-lt"/>
              </a:rPr>
              <a:t> DeepSeek tỏa sáng trong các lĩnh vực yêu cầu tính logic cao như giải toán, lập trình (tạo, giải thích và sửa lỗi mã), và các tác vụ theo hướng dữ liệu. Văn bản DeepSeek tạo ra thường ngắn gọn và tập trung vào thông tin cốt lõi, ít lan man.</a:t>
            </a:r>
          </a:p>
          <a:p>
            <a:pPr lvl="1"/>
            <a:r>
              <a:rPr lang="vi-VN" sz="1300" dirty="0">
                <a:latin typeface="+mj-lt"/>
              </a:rPr>
              <a:t>Grok</a:t>
            </a:r>
          </a:p>
          <a:p>
            <a:pPr lvl="0"/>
            <a:r>
              <a:rPr lang="vi-VN" sz="1100" dirty="0">
                <a:latin typeface="+mj-lt"/>
              </a:rPr>
              <a:t>Điểm mạnh cốt lõi: Ngôn ngữ thời gian thực và Cá tính riêng. </a:t>
            </a:r>
          </a:p>
          <a:p>
            <a:r>
              <a:rPr lang="vi-VN" sz="1100" dirty="0">
                <a:latin typeface="+mj-lt"/>
              </a:rPr>
              <a:t>Grok sử dụng ngôn ngữ để thể hiện một cá tính độc đáo – đôi khi hài hước, châm biếm, và không ngại trả lời các câu hỏi gây tranh cãi. Khả năng xử lý ngôn ngữ của nó được tối ưu hóa để tương tác với dữ liệu thời gian thực từ X, cho phép nó hiểu và thảo luận về các chủ đề đang </a:t>
            </a:r>
            <a:r>
              <a:rPr lang="vi-VN" sz="1100" i="1" dirty="0">
                <a:latin typeface="+mj-lt"/>
              </a:rPr>
              <a:t>hot</a:t>
            </a:r>
            <a:r>
              <a:rPr lang="vi-VN" sz="1100" dirty="0">
                <a:latin typeface="+mj-lt"/>
              </a:rPr>
              <a:t> một cách nhanh chóng.</a:t>
            </a:r>
          </a:p>
        </p:txBody>
      </p:sp>
      <p:grpSp>
        <p:nvGrpSpPr>
          <p:cNvPr id="2" name="Google Shape;804;p42">
            <a:extLst>
              <a:ext uri="{FF2B5EF4-FFF2-40B4-BE49-F238E27FC236}">
                <a16:creationId xmlns:a16="http://schemas.microsoft.com/office/drawing/2014/main" id="{BE8E9E3A-DDB7-2DA4-696E-2A2FF6143CB7}"/>
              </a:ext>
            </a:extLst>
          </p:cNvPr>
          <p:cNvGrpSpPr/>
          <p:nvPr/>
        </p:nvGrpSpPr>
        <p:grpSpPr>
          <a:xfrm>
            <a:off x="8034802" y="4079585"/>
            <a:ext cx="1096749" cy="1020364"/>
            <a:chOff x="827350" y="3629733"/>
            <a:chExt cx="1431600" cy="1332067"/>
          </a:xfrm>
        </p:grpSpPr>
        <p:sp>
          <p:nvSpPr>
            <p:cNvPr id="3" name="Google Shape;805;p42">
              <a:extLst>
                <a:ext uri="{FF2B5EF4-FFF2-40B4-BE49-F238E27FC236}">
                  <a16:creationId xmlns:a16="http://schemas.microsoft.com/office/drawing/2014/main" id="{B573D648-18F5-B5D3-02E8-8B1DC623E561}"/>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06;p42">
              <a:extLst>
                <a:ext uri="{FF2B5EF4-FFF2-40B4-BE49-F238E27FC236}">
                  <a16:creationId xmlns:a16="http://schemas.microsoft.com/office/drawing/2014/main" id="{C2FB5250-ED8D-6A43-64D8-54C79627C0D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07;p42">
              <a:extLst>
                <a:ext uri="{FF2B5EF4-FFF2-40B4-BE49-F238E27FC236}">
                  <a16:creationId xmlns:a16="http://schemas.microsoft.com/office/drawing/2014/main" id="{73B2D070-E919-6BE8-F49B-8BE923B11629}"/>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804;p42">
            <a:extLst>
              <a:ext uri="{FF2B5EF4-FFF2-40B4-BE49-F238E27FC236}">
                <a16:creationId xmlns:a16="http://schemas.microsoft.com/office/drawing/2014/main" id="{478ADA95-86C0-476B-9650-7CE8BB02CB89}"/>
              </a:ext>
            </a:extLst>
          </p:cNvPr>
          <p:cNvGrpSpPr/>
          <p:nvPr/>
        </p:nvGrpSpPr>
        <p:grpSpPr>
          <a:xfrm>
            <a:off x="8187202" y="4231985"/>
            <a:ext cx="1096749" cy="1020364"/>
            <a:chOff x="827350" y="3629733"/>
            <a:chExt cx="1431600" cy="1332067"/>
          </a:xfrm>
        </p:grpSpPr>
        <p:sp>
          <p:nvSpPr>
            <p:cNvPr id="7" name="Google Shape;805;p42">
              <a:extLst>
                <a:ext uri="{FF2B5EF4-FFF2-40B4-BE49-F238E27FC236}">
                  <a16:creationId xmlns:a16="http://schemas.microsoft.com/office/drawing/2014/main" id="{04B4AF40-0E87-034E-CF43-6F94C9C98F05}"/>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06;p42">
              <a:extLst>
                <a:ext uri="{FF2B5EF4-FFF2-40B4-BE49-F238E27FC236}">
                  <a16:creationId xmlns:a16="http://schemas.microsoft.com/office/drawing/2014/main" id="{638D96F1-2E4A-EC60-022B-39EE3A07B9B8}"/>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07;p42">
              <a:extLst>
                <a:ext uri="{FF2B5EF4-FFF2-40B4-BE49-F238E27FC236}">
                  <a16:creationId xmlns:a16="http://schemas.microsoft.com/office/drawing/2014/main" id="{BE3B91B0-DFE4-0F73-D32F-F37066408301}"/>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2599292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B230BB71-C3A0-76B1-896F-A5B5CBEE481E}"/>
            </a:ext>
          </a:extLst>
        </p:cNvPr>
        <p:cNvGrpSpPr/>
        <p:nvPr/>
      </p:nvGrpSpPr>
      <p:grpSpPr>
        <a:xfrm>
          <a:off x="0" y="0"/>
          <a:ext cx="0" cy="0"/>
          <a:chOff x="0" y="0"/>
          <a:chExt cx="0" cy="0"/>
        </a:xfrm>
      </p:grpSpPr>
      <p:sp>
        <p:nvSpPr>
          <p:cNvPr id="396" name="Google Shape;396;p33">
            <a:extLst>
              <a:ext uri="{FF2B5EF4-FFF2-40B4-BE49-F238E27FC236}">
                <a16:creationId xmlns:a16="http://schemas.microsoft.com/office/drawing/2014/main" id="{B49E6475-5D66-B02D-5C61-8605B1CF10EE}"/>
              </a:ext>
            </a:extLst>
          </p:cNvPr>
          <p:cNvSpPr/>
          <p:nvPr/>
        </p:nvSpPr>
        <p:spPr>
          <a:xfrm>
            <a:off x="1339813" y="1228150"/>
            <a:ext cx="2911500" cy="24768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a:extLst>
              <a:ext uri="{FF2B5EF4-FFF2-40B4-BE49-F238E27FC236}">
                <a16:creationId xmlns:a16="http://schemas.microsoft.com/office/drawing/2014/main" id="{7F8D6918-9570-CC56-EC5A-109551E2A03C}"/>
              </a:ext>
            </a:extLst>
          </p:cNvPr>
          <p:cNvSpPr txBox="1">
            <a:spLocks noGrp="1"/>
          </p:cNvSpPr>
          <p:nvPr>
            <p:ph type="title"/>
          </p:nvPr>
        </p:nvSpPr>
        <p:spPr>
          <a:xfrm>
            <a:off x="4221641" y="1910050"/>
            <a:ext cx="3312300" cy="1113000"/>
          </a:xfrm>
          <a:prstGeom prst="rect">
            <a:avLst/>
          </a:prstGeom>
        </p:spPr>
        <p:txBody>
          <a:bodyPr spcFirstLastPara="1" wrap="square" lIns="91425" tIns="91425" rIns="91425" bIns="91425" anchor="b" anchorCtr="0">
            <a:noAutofit/>
          </a:bodyPr>
          <a:lstStyle/>
          <a:p>
            <a:pPr lvl="0" algn="ctr"/>
            <a:r>
              <a:rPr lang="vi-VN" sz="2800" b="1" dirty="0">
                <a:latin typeface="+mn-lt"/>
              </a:rPr>
              <a:t>ƯU ĐIỂM VÀ NHƯỢC ĐIỂM</a:t>
            </a:r>
          </a:p>
        </p:txBody>
      </p:sp>
      <p:sp>
        <p:nvSpPr>
          <p:cNvPr id="399" name="Google Shape;399;p33">
            <a:extLst>
              <a:ext uri="{FF2B5EF4-FFF2-40B4-BE49-F238E27FC236}">
                <a16:creationId xmlns:a16="http://schemas.microsoft.com/office/drawing/2014/main" id="{429820BE-F7AE-589E-C4BC-826C2F72F0C0}"/>
              </a:ext>
            </a:extLst>
          </p:cNvPr>
          <p:cNvSpPr txBox="1">
            <a:spLocks noGrp="1"/>
          </p:cNvSpPr>
          <p:nvPr>
            <p:ph type="title" idx="2"/>
          </p:nvPr>
        </p:nvSpPr>
        <p:spPr>
          <a:xfrm>
            <a:off x="1931113" y="1872250"/>
            <a:ext cx="1951458" cy="118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grpSp>
        <p:nvGrpSpPr>
          <p:cNvPr id="400" name="Google Shape;400;p33">
            <a:extLst>
              <a:ext uri="{FF2B5EF4-FFF2-40B4-BE49-F238E27FC236}">
                <a16:creationId xmlns:a16="http://schemas.microsoft.com/office/drawing/2014/main" id="{EAAA4255-FF1B-D1F9-3330-3EABECA88ACB}"/>
              </a:ext>
            </a:extLst>
          </p:cNvPr>
          <p:cNvGrpSpPr/>
          <p:nvPr/>
        </p:nvGrpSpPr>
        <p:grpSpPr>
          <a:xfrm rot="10800000">
            <a:off x="8057882" y="382596"/>
            <a:ext cx="288601" cy="1096693"/>
            <a:chOff x="1006700" y="2603975"/>
            <a:chExt cx="55450" cy="210700"/>
          </a:xfrm>
        </p:grpSpPr>
        <p:sp>
          <p:nvSpPr>
            <p:cNvPr id="401" name="Google Shape;401;p33">
              <a:extLst>
                <a:ext uri="{FF2B5EF4-FFF2-40B4-BE49-F238E27FC236}">
                  <a16:creationId xmlns:a16="http://schemas.microsoft.com/office/drawing/2014/main" id="{4F101D37-9285-CC8E-A927-92FAABE15A38}"/>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a:extLst>
                <a:ext uri="{FF2B5EF4-FFF2-40B4-BE49-F238E27FC236}">
                  <a16:creationId xmlns:a16="http://schemas.microsoft.com/office/drawing/2014/main" id="{0913D6FE-14BF-C3DC-2D33-33D423A26613}"/>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a:extLst>
                <a:ext uri="{FF2B5EF4-FFF2-40B4-BE49-F238E27FC236}">
                  <a16:creationId xmlns:a16="http://schemas.microsoft.com/office/drawing/2014/main" id="{969915B8-BA27-CA97-2723-A3D75203DEE0}"/>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a:extLst>
                <a:ext uri="{FF2B5EF4-FFF2-40B4-BE49-F238E27FC236}">
                  <a16:creationId xmlns:a16="http://schemas.microsoft.com/office/drawing/2014/main" id="{CC73F39C-3915-944F-D576-B37A61946265}"/>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a:extLst>
                <a:ext uri="{FF2B5EF4-FFF2-40B4-BE49-F238E27FC236}">
                  <a16:creationId xmlns:a16="http://schemas.microsoft.com/office/drawing/2014/main" id="{F153FAE6-DB3D-714B-ADB5-FD9EE06F61F7}"/>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a:extLst>
                <a:ext uri="{FF2B5EF4-FFF2-40B4-BE49-F238E27FC236}">
                  <a16:creationId xmlns:a16="http://schemas.microsoft.com/office/drawing/2014/main" id="{6B22CE54-90FB-50AA-B899-27927305755A}"/>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a:extLst>
              <a:ext uri="{FF2B5EF4-FFF2-40B4-BE49-F238E27FC236}">
                <a16:creationId xmlns:a16="http://schemas.microsoft.com/office/drawing/2014/main" id="{280A6547-57B7-590F-4E97-0FE19D10414E}"/>
              </a:ext>
            </a:extLst>
          </p:cNvPr>
          <p:cNvGrpSpPr/>
          <p:nvPr/>
        </p:nvGrpSpPr>
        <p:grpSpPr>
          <a:xfrm>
            <a:off x="558602" y="508321"/>
            <a:ext cx="781224" cy="726909"/>
            <a:chOff x="827350" y="3629733"/>
            <a:chExt cx="1431600" cy="1332067"/>
          </a:xfrm>
        </p:grpSpPr>
        <p:sp>
          <p:nvSpPr>
            <p:cNvPr id="408" name="Google Shape;408;p33">
              <a:extLst>
                <a:ext uri="{FF2B5EF4-FFF2-40B4-BE49-F238E27FC236}">
                  <a16:creationId xmlns:a16="http://schemas.microsoft.com/office/drawing/2014/main" id="{3C7BC27B-85D1-58DE-6639-D000ED39A1D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a:extLst>
                <a:ext uri="{FF2B5EF4-FFF2-40B4-BE49-F238E27FC236}">
                  <a16:creationId xmlns:a16="http://schemas.microsoft.com/office/drawing/2014/main" id="{7A906EB4-A60B-2C91-D214-71F0D4691C8C}"/>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a:extLst>
                <a:ext uri="{FF2B5EF4-FFF2-40B4-BE49-F238E27FC236}">
                  <a16:creationId xmlns:a16="http://schemas.microsoft.com/office/drawing/2014/main" id="{381558B2-A362-19C5-0497-D81FFAC548F8}"/>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a:extLst>
              <a:ext uri="{FF2B5EF4-FFF2-40B4-BE49-F238E27FC236}">
                <a16:creationId xmlns:a16="http://schemas.microsoft.com/office/drawing/2014/main" id="{3832E392-84DE-1C3A-34C0-B32BF80EC6D6}"/>
              </a:ext>
            </a:extLst>
          </p:cNvPr>
          <p:cNvGrpSpPr/>
          <p:nvPr/>
        </p:nvGrpSpPr>
        <p:grpSpPr>
          <a:xfrm>
            <a:off x="1387564" y="321673"/>
            <a:ext cx="356325" cy="331552"/>
            <a:chOff x="827350" y="3629733"/>
            <a:chExt cx="1431600" cy="1332067"/>
          </a:xfrm>
        </p:grpSpPr>
        <p:sp>
          <p:nvSpPr>
            <p:cNvPr id="412" name="Google Shape;412;p33">
              <a:extLst>
                <a:ext uri="{FF2B5EF4-FFF2-40B4-BE49-F238E27FC236}">
                  <a16:creationId xmlns:a16="http://schemas.microsoft.com/office/drawing/2014/main" id="{50C10E4B-5300-A805-63C3-6607C5FFF2C5}"/>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C889C0DF-7C87-C3D0-7F37-5A70F78D84B2}"/>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661C4028-6D59-BC41-B931-D0DB34A4D950}"/>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a:extLst>
              <a:ext uri="{FF2B5EF4-FFF2-40B4-BE49-F238E27FC236}">
                <a16:creationId xmlns:a16="http://schemas.microsoft.com/office/drawing/2014/main" id="{7C4EB62D-52CB-DC42-834C-B020B61CD87E}"/>
              </a:ext>
            </a:extLst>
          </p:cNvPr>
          <p:cNvGrpSpPr/>
          <p:nvPr/>
        </p:nvGrpSpPr>
        <p:grpSpPr>
          <a:xfrm>
            <a:off x="7535601" y="3848738"/>
            <a:ext cx="895180" cy="832942"/>
            <a:chOff x="827350" y="3629733"/>
            <a:chExt cx="1431600" cy="1332067"/>
          </a:xfrm>
        </p:grpSpPr>
        <p:sp>
          <p:nvSpPr>
            <p:cNvPr id="416" name="Google Shape;416;p33">
              <a:extLst>
                <a:ext uri="{FF2B5EF4-FFF2-40B4-BE49-F238E27FC236}">
                  <a16:creationId xmlns:a16="http://schemas.microsoft.com/office/drawing/2014/main" id="{71DA81CD-FF8F-1E09-FA96-5C841AB73EE3}"/>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45BB5876-4BEF-F74C-6A99-F7AAA7C0D62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2AF5FA4E-8BBC-4A62-98C9-AC37F50D821D}"/>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a:extLst>
              <a:ext uri="{FF2B5EF4-FFF2-40B4-BE49-F238E27FC236}">
                <a16:creationId xmlns:a16="http://schemas.microsoft.com/office/drawing/2014/main" id="{3E3EBF26-DE0B-843E-EBD3-A5837D40EE98}"/>
              </a:ext>
            </a:extLst>
          </p:cNvPr>
          <p:cNvGrpSpPr/>
          <p:nvPr/>
        </p:nvGrpSpPr>
        <p:grpSpPr>
          <a:xfrm>
            <a:off x="7902683" y="2980240"/>
            <a:ext cx="598982" cy="557337"/>
            <a:chOff x="827350" y="3629733"/>
            <a:chExt cx="1431600" cy="1332067"/>
          </a:xfrm>
        </p:grpSpPr>
        <p:sp>
          <p:nvSpPr>
            <p:cNvPr id="420" name="Google Shape;420;p33">
              <a:extLst>
                <a:ext uri="{FF2B5EF4-FFF2-40B4-BE49-F238E27FC236}">
                  <a16:creationId xmlns:a16="http://schemas.microsoft.com/office/drawing/2014/main" id="{759AA264-5939-5A17-4A49-496210CEC78B}"/>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37D0493E-332D-AAC8-26E2-C8F1FAE3D2F6}"/>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1723E4C4-F168-99E6-0CB0-3DCB2812EF9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a:extLst>
              <a:ext uri="{FF2B5EF4-FFF2-40B4-BE49-F238E27FC236}">
                <a16:creationId xmlns:a16="http://schemas.microsoft.com/office/drawing/2014/main" id="{D88DA8F7-AEDE-00D6-5818-CC23B1D981CC}"/>
              </a:ext>
            </a:extLst>
          </p:cNvPr>
          <p:cNvGrpSpPr/>
          <p:nvPr/>
        </p:nvGrpSpPr>
        <p:grpSpPr>
          <a:xfrm>
            <a:off x="6634531" y="4239131"/>
            <a:ext cx="464268" cy="431989"/>
            <a:chOff x="827350" y="3629733"/>
            <a:chExt cx="1431600" cy="1332067"/>
          </a:xfrm>
        </p:grpSpPr>
        <p:sp>
          <p:nvSpPr>
            <p:cNvPr id="424" name="Google Shape;424;p33">
              <a:extLst>
                <a:ext uri="{FF2B5EF4-FFF2-40B4-BE49-F238E27FC236}">
                  <a16:creationId xmlns:a16="http://schemas.microsoft.com/office/drawing/2014/main" id="{59CC3A7F-ADA7-C51D-CB6A-84F85D68D4E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611CB65B-82BD-7618-44B7-806CA5ABBAC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DC846C30-58D8-D833-E756-A054EC21E1BD}"/>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a:extLst>
              <a:ext uri="{FF2B5EF4-FFF2-40B4-BE49-F238E27FC236}">
                <a16:creationId xmlns:a16="http://schemas.microsoft.com/office/drawing/2014/main" id="{EB5E0E33-84DC-FAD9-9F1C-D5C4BCA154CC}"/>
              </a:ext>
            </a:extLst>
          </p:cNvPr>
          <p:cNvGrpSpPr/>
          <p:nvPr/>
        </p:nvGrpSpPr>
        <p:grpSpPr>
          <a:xfrm rot="5400000">
            <a:off x="962657" y="3906771"/>
            <a:ext cx="288601" cy="1096693"/>
            <a:chOff x="1006700" y="2603975"/>
            <a:chExt cx="55450" cy="210700"/>
          </a:xfrm>
        </p:grpSpPr>
        <p:sp>
          <p:nvSpPr>
            <p:cNvPr id="428" name="Google Shape;428;p33">
              <a:extLst>
                <a:ext uri="{FF2B5EF4-FFF2-40B4-BE49-F238E27FC236}">
                  <a16:creationId xmlns:a16="http://schemas.microsoft.com/office/drawing/2014/main" id="{0B6BA876-BE77-8140-68EF-DE94435B802D}"/>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F966FE2D-7A5A-992C-F12F-07FFBFBFC190}"/>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1C62ED08-EFD3-C0EB-6A22-51B9AFA41F11}"/>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a:extLst>
                <a:ext uri="{FF2B5EF4-FFF2-40B4-BE49-F238E27FC236}">
                  <a16:creationId xmlns:a16="http://schemas.microsoft.com/office/drawing/2014/main" id="{91F6F345-5EE8-6DC2-AE6E-025D4C0AA251}"/>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a:extLst>
                <a:ext uri="{FF2B5EF4-FFF2-40B4-BE49-F238E27FC236}">
                  <a16:creationId xmlns:a16="http://schemas.microsoft.com/office/drawing/2014/main" id="{E67FC60F-6572-C1B0-6706-D44F95ACF89C}"/>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a:extLst>
                <a:ext uri="{FF2B5EF4-FFF2-40B4-BE49-F238E27FC236}">
                  <a16:creationId xmlns:a16="http://schemas.microsoft.com/office/drawing/2014/main" id="{A44D531F-487E-4580-E5CA-094E02D9DD37}"/>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640050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4798E60C-2A22-0F41-CD0B-307A8AA846C3}"/>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2A594C3E-0D7D-FEEE-2226-E4977954C3F7}"/>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2CF29B16-29E4-8618-7A4F-4B78ECD9CDFF}"/>
              </a:ext>
            </a:extLst>
          </p:cNvPr>
          <p:cNvSpPr txBox="1">
            <a:spLocks noGrp="1"/>
          </p:cNvSpPr>
          <p:nvPr>
            <p:ph type="title"/>
          </p:nvPr>
        </p:nvSpPr>
        <p:spPr>
          <a:xfrm>
            <a:off x="628823" y="556957"/>
            <a:ext cx="842585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mj-lt"/>
              </a:rPr>
              <a:t>CHƯƠNG 4 : ƯU VÀ NHƯỢC ĐIỂM</a:t>
            </a:r>
            <a:endParaRPr b="1" dirty="0">
              <a:latin typeface="+mj-lt"/>
            </a:endParaRPr>
          </a:p>
        </p:txBody>
      </p:sp>
      <p:grpSp>
        <p:nvGrpSpPr>
          <p:cNvPr id="797" name="Google Shape;797;p42">
            <a:extLst>
              <a:ext uri="{FF2B5EF4-FFF2-40B4-BE49-F238E27FC236}">
                <a16:creationId xmlns:a16="http://schemas.microsoft.com/office/drawing/2014/main" id="{CA630AAF-DF32-4CE6-088A-78BC8FF442D8}"/>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79056006-30D5-DBD9-031C-17B93BFD73F0}"/>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5FA5188E-5640-E102-36F1-13602451DF6D}"/>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3B0532AF-DA30-4259-645A-494C750094BD}"/>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30927767-FA44-6B60-0102-CAA9DC77510C}"/>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8E760F88-46C2-04E7-E5B8-FC9B4F7B52AA}"/>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E94DC7FD-E184-A4BA-62D3-74D7B8CC6CCD}"/>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6D695F0C-6C05-4257-CD20-8AC8DC717BC8}"/>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158651B3-8712-B395-8F94-390127992D4C}"/>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09FF1B6A-80AF-4B2E-96C9-61233897969D}"/>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B76E635E-8CB8-B8E3-AFF8-71B905412D58}"/>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C18FB989-7882-CC7C-2309-5E04B1648EA9}"/>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D9DFDD28-D17A-D71F-264A-DA70F2DB2549}"/>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EA954746-ED27-49C4-BD60-03DA32A75566}"/>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C8A76BC9-3A28-3892-76E7-BDE760DCB334}"/>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3328126B-6E51-AC0A-9421-F1744D26991A}"/>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159169DA-5921-5332-B4E7-AB1AD0B8110C}"/>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C1DA3FD4-C6FC-0D18-F2C5-F1B129996518}"/>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5282149C-5F34-BFED-27F0-DAADE45226A2}"/>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 name="Table 1">
            <a:extLst>
              <a:ext uri="{FF2B5EF4-FFF2-40B4-BE49-F238E27FC236}">
                <a16:creationId xmlns:a16="http://schemas.microsoft.com/office/drawing/2014/main" id="{7155A0D4-6A5B-C8D0-2FB4-CAFAC77A4064}"/>
              </a:ext>
            </a:extLst>
          </p:cNvPr>
          <p:cNvGraphicFramePr>
            <a:graphicFrameLocks noGrp="1"/>
          </p:cNvGraphicFramePr>
          <p:nvPr/>
        </p:nvGraphicFramePr>
        <p:xfrm>
          <a:off x="1889971" y="1149051"/>
          <a:ext cx="6487173" cy="3465324"/>
        </p:xfrm>
        <a:graphic>
          <a:graphicData uri="http://schemas.openxmlformats.org/drawingml/2006/table">
            <a:tbl>
              <a:tblPr firstRow="1" firstCol="1" bandRow="1">
                <a:tableStyleId>{7D39478E-FE93-4580-9B40-B0A813745C6C}</a:tableStyleId>
              </a:tblPr>
              <a:tblGrid>
                <a:gridCol w="1777308">
                  <a:extLst>
                    <a:ext uri="{9D8B030D-6E8A-4147-A177-3AD203B41FA5}">
                      <a16:colId xmlns:a16="http://schemas.microsoft.com/office/drawing/2014/main" val="3892541821"/>
                    </a:ext>
                  </a:extLst>
                </a:gridCol>
                <a:gridCol w="1955038">
                  <a:extLst>
                    <a:ext uri="{9D8B030D-6E8A-4147-A177-3AD203B41FA5}">
                      <a16:colId xmlns:a16="http://schemas.microsoft.com/office/drawing/2014/main" val="1865537153"/>
                    </a:ext>
                  </a:extLst>
                </a:gridCol>
                <a:gridCol w="2754827">
                  <a:extLst>
                    <a:ext uri="{9D8B030D-6E8A-4147-A177-3AD203B41FA5}">
                      <a16:colId xmlns:a16="http://schemas.microsoft.com/office/drawing/2014/main" val="2308729652"/>
                    </a:ext>
                  </a:extLst>
                </a:gridCol>
              </a:tblGrid>
              <a:tr h="423005">
                <a:tc>
                  <a:txBody>
                    <a:bodyPr/>
                    <a:lstStyle/>
                    <a:p>
                      <a:pPr>
                        <a:lnSpc>
                          <a:spcPct val="107000"/>
                        </a:lnSpc>
                        <a:spcBef>
                          <a:spcPts val="600"/>
                        </a:spcBef>
                        <a:spcAft>
                          <a:spcPts val="300"/>
                        </a:spcAft>
                        <a:buNone/>
                        <a:tabLst>
                          <a:tab pos="654050" algn="l"/>
                        </a:tabLst>
                      </a:pPr>
                      <a:r>
                        <a:rPr lang="vi-VN" sz="1100" b="1" dirty="0">
                          <a:solidFill>
                            <a:schemeClr val="bg1"/>
                          </a:solidFill>
                          <a:effectLst/>
                          <a:latin typeface="+mj-lt"/>
                        </a:rPr>
                        <a:t>Mô hình</a:t>
                      </a:r>
                      <a:endParaRPr lang="vi-VN" sz="1100" b="1" dirty="0">
                        <a:solidFill>
                          <a:schemeClr val="bg1"/>
                        </a:solidFill>
                        <a:effectLst/>
                        <a:latin typeface="+mj-lt"/>
                        <a:ea typeface="Arial" panose="020B0604020202020204" pitchFamily="34" charset="0"/>
                      </a:endParaRPr>
                    </a:p>
                  </a:txBody>
                  <a:tcPr marL="81443" marR="81443" marT="54295" marB="54295" anchor="ctr"/>
                </a:tc>
                <a:tc>
                  <a:txBody>
                    <a:bodyPr/>
                    <a:lstStyle/>
                    <a:p>
                      <a:r>
                        <a:rPr lang="vi-VN" sz="1100" b="1">
                          <a:solidFill>
                            <a:schemeClr val="bg1"/>
                          </a:solidFill>
                          <a:effectLst/>
                          <a:latin typeface="+mj-lt"/>
                        </a:rPr>
                        <a:t>Ưu điểm Nổi bật</a:t>
                      </a:r>
                      <a:endParaRPr lang="vi-VN" sz="1800"/>
                    </a:p>
                  </a:txBody>
                  <a:tcPr marL="81443" marR="81443" marT="54295" marB="54295" anchor="ctr"/>
                </a:tc>
                <a:tc>
                  <a:txBody>
                    <a:bodyPr/>
                    <a:lstStyle/>
                    <a:p>
                      <a:r>
                        <a:rPr lang="vi-VN" sz="1100" b="1">
                          <a:solidFill>
                            <a:schemeClr val="bg1"/>
                          </a:solidFill>
                          <a:effectLst/>
                          <a:latin typeface="+mj-lt"/>
                        </a:rPr>
                        <a:t>Tính năng/Lĩnh vực Xuất sắc</a:t>
                      </a:r>
                      <a:endParaRPr lang="vi-VN" sz="1800"/>
                    </a:p>
                  </a:txBody>
                  <a:tcPr marL="81443" marR="81443" marT="54295" marB="54295" anchor="ctr"/>
                </a:tc>
                <a:extLst>
                  <a:ext uri="{0D108BD9-81ED-4DB2-BD59-A6C34878D82A}">
                    <a16:rowId xmlns:a16="http://schemas.microsoft.com/office/drawing/2014/main" val="3466399175"/>
                  </a:ext>
                </a:extLst>
              </a:tr>
              <a:tr h="748324">
                <a:tc>
                  <a:txBody>
                    <a:bodyPr/>
                    <a:lstStyle/>
                    <a:p>
                      <a:pPr>
                        <a:lnSpc>
                          <a:spcPct val="107000"/>
                        </a:lnSpc>
                        <a:spcBef>
                          <a:spcPts val="600"/>
                        </a:spcBef>
                        <a:spcAft>
                          <a:spcPts val="300"/>
                        </a:spcAft>
                        <a:buNone/>
                        <a:tabLst>
                          <a:tab pos="654050" algn="l"/>
                        </a:tabLst>
                      </a:pPr>
                      <a:r>
                        <a:rPr lang="vi-VN" sz="1100" b="1" dirty="0">
                          <a:solidFill>
                            <a:schemeClr val="bg1"/>
                          </a:solidFill>
                          <a:effectLst/>
                          <a:latin typeface="+mj-lt"/>
                        </a:rPr>
                        <a:t>ChatGPT (OpenAI)</a:t>
                      </a:r>
                      <a:endParaRPr lang="vi-VN" sz="1100" b="1" dirty="0">
                        <a:solidFill>
                          <a:schemeClr val="bg1"/>
                        </a:solidFill>
                        <a:effectLst/>
                        <a:latin typeface="+mj-lt"/>
                        <a:ea typeface="Arial" panose="020B0604020202020204" pitchFamily="34" charset="0"/>
                      </a:endParaRPr>
                    </a:p>
                  </a:txBody>
                  <a:tcPr marL="81443" marR="81443" marT="54295" marB="54295" anchor="ctr"/>
                </a:tc>
                <a:tc>
                  <a:txBody>
                    <a:bodyPr/>
                    <a:lstStyle/>
                    <a:p>
                      <a:r>
                        <a:rPr lang="vi-VN" sz="1100" dirty="0">
                          <a:solidFill>
                            <a:schemeClr val="bg1"/>
                          </a:solidFill>
                          <a:effectLst/>
                          <a:latin typeface="+mj-lt"/>
                        </a:rPr>
                        <a:t>Đa năng &amp; Sáng tạo</a:t>
                      </a:r>
                      <a:endParaRPr lang="vi-VN" sz="1800" dirty="0"/>
                    </a:p>
                  </a:txBody>
                  <a:tcPr marL="81443" marR="81443" marT="54295" marB="54295" anchor="ctr"/>
                </a:tc>
                <a:tc>
                  <a:txBody>
                    <a:bodyPr/>
                    <a:lstStyle/>
                    <a:p>
                      <a:r>
                        <a:rPr lang="vi-VN" sz="1100">
                          <a:solidFill>
                            <a:schemeClr val="bg1"/>
                          </a:solidFill>
                          <a:effectLst/>
                          <a:latin typeface="+mj-lt"/>
                        </a:rPr>
                        <a:t>Giao tiếp tự nhiên, viết sáng tạo, phát triển ứng dụng (API/Plugins), hệ sinh thái mạnh nhất.</a:t>
                      </a:r>
                      <a:endParaRPr lang="vi-VN" sz="1800"/>
                    </a:p>
                  </a:txBody>
                  <a:tcPr marL="81443" marR="81443" marT="54295" marB="54295" anchor="ctr"/>
                </a:tc>
                <a:extLst>
                  <a:ext uri="{0D108BD9-81ED-4DB2-BD59-A6C34878D82A}">
                    <a16:rowId xmlns:a16="http://schemas.microsoft.com/office/drawing/2014/main" val="3564673110"/>
                  </a:ext>
                </a:extLst>
              </a:tr>
              <a:tr h="910983">
                <a:tc>
                  <a:txBody>
                    <a:bodyPr/>
                    <a:lstStyle/>
                    <a:p>
                      <a:pPr>
                        <a:lnSpc>
                          <a:spcPct val="107000"/>
                        </a:lnSpc>
                        <a:spcBef>
                          <a:spcPts val="600"/>
                        </a:spcBef>
                        <a:spcAft>
                          <a:spcPts val="300"/>
                        </a:spcAft>
                        <a:buNone/>
                        <a:tabLst>
                          <a:tab pos="654050" algn="l"/>
                        </a:tabLst>
                      </a:pPr>
                      <a:r>
                        <a:rPr lang="vi-VN" sz="1100" b="1" dirty="0">
                          <a:solidFill>
                            <a:schemeClr val="bg1"/>
                          </a:solidFill>
                          <a:effectLst/>
                          <a:latin typeface="+mj-lt"/>
                        </a:rPr>
                        <a:t>Gemini (Google)</a:t>
                      </a:r>
                      <a:endParaRPr lang="vi-VN" sz="1100" b="1" dirty="0">
                        <a:solidFill>
                          <a:schemeClr val="bg1"/>
                        </a:solidFill>
                        <a:effectLst/>
                        <a:latin typeface="+mj-lt"/>
                        <a:ea typeface="Arial" panose="020B0604020202020204" pitchFamily="34" charset="0"/>
                      </a:endParaRPr>
                    </a:p>
                  </a:txBody>
                  <a:tcPr marL="81443" marR="81443" marT="54295" marB="54295" anchor="ctr"/>
                </a:tc>
                <a:tc>
                  <a:txBody>
                    <a:bodyPr/>
                    <a:lstStyle/>
                    <a:p>
                      <a:r>
                        <a:rPr lang="vi-VN" sz="1100" dirty="0">
                          <a:solidFill>
                            <a:schemeClr val="bg1"/>
                          </a:solidFill>
                          <a:effectLst/>
                          <a:latin typeface="+mj-lt"/>
                        </a:rPr>
                        <a:t>Đa phương thức Gốc &amp; Tích hợp</a:t>
                      </a:r>
                      <a:endParaRPr lang="vi-VN" sz="1800" dirty="0"/>
                    </a:p>
                  </a:txBody>
                  <a:tcPr marL="81443" marR="81443" marT="54295" marB="54295" anchor="ctr"/>
                </a:tc>
                <a:tc>
                  <a:txBody>
                    <a:bodyPr/>
                    <a:lstStyle/>
                    <a:p>
                      <a:r>
                        <a:rPr lang="vi-VN" sz="1100" dirty="0">
                          <a:solidFill>
                            <a:schemeClr val="bg1"/>
                          </a:solidFill>
                          <a:effectLst/>
                          <a:latin typeface="+mj-lt"/>
                        </a:rPr>
                        <a:t>Xử lý và suy luận liền mạch từ văn bản, hình ảnh, âm thanh, video. Tích hợp sâu với Google Search, Drive, Gmail.</a:t>
                      </a:r>
                      <a:endParaRPr lang="vi-VN" sz="1800" dirty="0"/>
                    </a:p>
                  </a:txBody>
                  <a:tcPr marL="81443" marR="81443" marT="54295" marB="54295" anchor="ctr"/>
                </a:tc>
                <a:extLst>
                  <a:ext uri="{0D108BD9-81ED-4DB2-BD59-A6C34878D82A}">
                    <a16:rowId xmlns:a16="http://schemas.microsoft.com/office/drawing/2014/main" val="1570895318"/>
                  </a:ext>
                </a:extLst>
              </a:tr>
              <a:tr h="748324">
                <a:tc>
                  <a:txBody>
                    <a:bodyPr/>
                    <a:lstStyle/>
                    <a:p>
                      <a:pPr>
                        <a:lnSpc>
                          <a:spcPct val="107000"/>
                        </a:lnSpc>
                        <a:spcBef>
                          <a:spcPts val="600"/>
                        </a:spcBef>
                        <a:spcAft>
                          <a:spcPts val="300"/>
                        </a:spcAft>
                        <a:buNone/>
                        <a:tabLst>
                          <a:tab pos="654050" algn="l"/>
                        </a:tabLst>
                      </a:pPr>
                      <a:r>
                        <a:rPr lang="vi-VN" sz="1100" b="1" dirty="0">
                          <a:solidFill>
                            <a:schemeClr val="bg1"/>
                          </a:solidFill>
                          <a:effectLst/>
                          <a:latin typeface="+mj-lt"/>
                        </a:rPr>
                        <a:t>DeepSeek</a:t>
                      </a:r>
                      <a:endParaRPr lang="vi-VN" sz="1100" b="1" dirty="0">
                        <a:solidFill>
                          <a:schemeClr val="bg1"/>
                        </a:solidFill>
                        <a:effectLst/>
                        <a:latin typeface="+mj-lt"/>
                        <a:ea typeface="Arial" panose="020B0604020202020204" pitchFamily="34" charset="0"/>
                      </a:endParaRPr>
                    </a:p>
                  </a:txBody>
                  <a:tcPr marL="81443" marR="81443" marT="54295" marB="54295" anchor="ctr"/>
                </a:tc>
                <a:tc>
                  <a:txBody>
                    <a:bodyPr/>
                    <a:lstStyle/>
                    <a:p>
                      <a:r>
                        <a:rPr lang="vi-VN" sz="1100" dirty="0">
                          <a:solidFill>
                            <a:schemeClr val="bg1"/>
                          </a:solidFill>
                          <a:effectLst/>
                          <a:latin typeface="+mj-lt"/>
                        </a:rPr>
                        <a:t>Hiệu suất Kỹ thuật &amp; Chi phí</a:t>
                      </a:r>
                      <a:endParaRPr lang="vi-VN" sz="1800" dirty="0"/>
                    </a:p>
                  </a:txBody>
                  <a:tcPr marL="81443" marR="81443" marT="54295" marB="54295" anchor="ctr"/>
                </a:tc>
                <a:tc>
                  <a:txBody>
                    <a:bodyPr/>
                    <a:lstStyle/>
                    <a:p>
                      <a:r>
                        <a:rPr lang="vi-VN" sz="1100" dirty="0">
                          <a:solidFill>
                            <a:schemeClr val="bg1"/>
                          </a:solidFill>
                          <a:effectLst/>
                          <a:latin typeface="+mj-lt"/>
                        </a:rPr>
                        <a:t>Xuất sắc trong Lập trình (Code) và Toán học. Tốc độ suy luận rất nhanh nhờ kiến trúc MoE.</a:t>
                      </a:r>
                      <a:endParaRPr lang="vi-VN" sz="1800" dirty="0"/>
                    </a:p>
                  </a:txBody>
                  <a:tcPr marL="81443" marR="81443" marT="54295" marB="54295" anchor="ctr"/>
                </a:tc>
                <a:extLst>
                  <a:ext uri="{0D108BD9-81ED-4DB2-BD59-A6C34878D82A}">
                    <a16:rowId xmlns:a16="http://schemas.microsoft.com/office/drawing/2014/main" val="1146534717"/>
                  </a:ext>
                </a:extLst>
              </a:tr>
              <a:tr h="585664">
                <a:tc>
                  <a:txBody>
                    <a:bodyPr/>
                    <a:lstStyle/>
                    <a:p>
                      <a:pPr>
                        <a:lnSpc>
                          <a:spcPct val="107000"/>
                        </a:lnSpc>
                        <a:spcBef>
                          <a:spcPts val="600"/>
                        </a:spcBef>
                        <a:spcAft>
                          <a:spcPts val="300"/>
                        </a:spcAft>
                        <a:buNone/>
                        <a:tabLst>
                          <a:tab pos="654050" algn="l"/>
                        </a:tabLst>
                      </a:pPr>
                      <a:r>
                        <a:rPr lang="vi-VN" sz="1100" b="1" dirty="0">
                          <a:solidFill>
                            <a:schemeClr val="bg1"/>
                          </a:solidFill>
                          <a:effectLst/>
                          <a:latin typeface="+mj-lt"/>
                        </a:rPr>
                        <a:t>Grok (xAI)</a:t>
                      </a:r>
                      <a:endParaRPr lang="vi-VN" sz="1100" b="1" dirty="0">
                        <a:solidFill>
                          <a:schemeClr val="bg1"/>
                        </a:solidFill>
                        <a:effectLst/>
                        <a:latin typeface="+mj-lt"/>
                        <a:ea typeface="Arial" panose="020B0604020202020204" pitchFamily="34" charset="0"/>
                      </a:endParaRPr>
                    </a:p>
                  </a:txBody>
                  <a:tcPr marL="81443" marR="81443" marT="54295" marB="54295" anchor="ctr"/>
                </a:tc>
                <a:tc>
                  <a:txBody>
                    <a:bodyPr/>
                    <a:lstStyle/>
                    <a:p>
                      <a:pPr>
                        <a:lnSpc>
                          <a:spcPct val="107000"/>
                        </a:lnSpc>
                        <a:spcBef>
                          <a:spcPts val="600"/>
                        </a:spcBef>
                        <a:spcAft>
                          <a:spcPts val="300"/>
                        </a:spcAft>
                        <a:buNone/>
                        <a:tabLst>
                          <a:tab pos="654050" algn="l"/>
                        </a:tabLst>
                      </a:pPr>
                      <a:r>
                        <a:rPr lang="vi-VN" sz="1100" dirty="0">
                          <a:solidFill>
                            <a:schemeClr val="bg1"/>
                          </a:solidFill>
                          <a:effectLst/>
                          <a:latin typeface="+mj-lt"/>
                        </a:rPr>
                        <a:t>Thời gian thực &amp; Cá tính</a:t>
                      </a:r>
                      <a:endParaRPr lang="vi-VN" sz="1100" dirty="0">
                        <a:solidFill>
                          <a:schemeClr val="bg1"/>
                        </a:solidFill>
                        <a:effectLst/>
                        <a:latin typeface="+mj-lt"/>
                        <a:ea typeface="Arial" panose="020B0604020202020204" pitchFamily="34" charset="0"/>
                      </a:endParaRPr>
                    </a:p>
                  </a:txBody>
                  <a:tcPr marL="81443" marR="81443" marT="54295" marB="54295" anchor="ctr"/>
                </a:tc>
                <a:tc>
                  <a:txBody>
                    <a:bodyPr/>
                    <a:lstStyle/>
                    <a:p>
                      <a:pPr>
                        <a:lnSpc>
                          <a:spcPct val="107000"/>
                        </a:lnSpc>
                        <a:spcBef>
                          <a:spcPts val="600"/>
                        </a:spcBef>
                        <a:spcAft>
                          <a:spcPts val="300"/>
                        </a:spcAft>
                        <a:buNone/>
                        <a:tabLst>
                          <a:tab pos="654050" algn="l"/>
                        </a:tabLst>
                      </a:pPr>
                      <a:r>
                        <a:rPr lang="vi-VN" sz="1100" dirty="0">
                          <a:solidFill>
                            <a:schemeClr val="bg1"/>
                          </a:solidFill>
                          <a:effectLst/>
                          <a:latin typeface="+mj-lt"/>
                        </a:rPr>
                        <a:t>Truy cập dữ liệu trực tiếp từ X/Twitter (real-time). Phong cách giao tiếp độc đáo (hài hước, sắc sảo).</a:t>
                      </a:r>
                      <a:endParaRPr lang="vi-VN" sz="1100" dirty="0">
                        <a:solidFill>
                          <a:schemeClr val="bg1"/>
                        </a:solidFill>
                        <a:effectLst/>
                        <a:latin typeface="+mj-lt"/>
                        <a:ea typeface="Arial" panose="020B0604020202020204" pitchFamily="34" charset="0"/>
                      </a:endParaRPr>
                    </a:p>
                  </a:txBody>
                  <a:tcPr marL="81443" marR="81443" marT="54295" marB="54295" anchor="ctr"/>
                </a:tc>
                <a:extLst>
                  <a:ext uri="{0D108BD9-81ED-4DB2-BD59-A6C34878D82A}">
                    <a16:rowId xmlns:a16="http://schemas.microsoft.com/office/drawing/2014/main" val="396395810"/>
                  </a:ext>
                </a:extLst>
              </a:tr>
            </a:tbl>
          </a:graphicData>
        </a:graphic>
      </p:graphicFrame>
      <p:sp>
        <p:nvSpPr>
          <p:cNvPr id="3" name="Rectangle 1">
            <a:extLst>
              <a:ext uri="{FF2B5EF4-FFF2-40B4-BE49-F238E27FC236}">
                <a16:creationId xmlns:a16="http://schemas.microsoft.com/office/drawing/2014/main" id="{F58282FE-C443-B096-B77E-3CF4E2E5D2AF}"/>
              </a:ext>
            </a:extLst>
          </p:cNvPr>
          <p:cNvSpPr>
            <a:spLocks noGrp="1" noChangeArrowheads="1"/>
          </p:cNvSpPr>
          <p:nvPr>
            <p:ph type="body" idx="1"/>
          </p:nvPr>
        </p:nvSpPr>
        <p:spPr bwMode="auto">
          <a:xfrm>
            <a:off x="638893" y="2357171"/>
            <a:ext cx="1149674" cy="769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50784" numCol="1" anchor="ctr" anchorCtr="0" compatLnSpc="1">
            <a:prstTxWarp prst="textNoShape">
              <a:avLst/>
            </a:prstTxWarp>
            <a:spAutoFit/>
          </a:bodyPr>
          <a:lstStyle>
            <a:lvl1pPr eaLnBrk="0" fontAlgn="base" hangingPunct="0">
              <a:spcBef>
                <a:spcPct val="0"/>
              </a:spcBef>
              <a:spcAft>
                <a:spcPct val="0"/>
              </a:spcAft>
              <a:tabLst>
                <a:tab pos="65405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65405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65405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65405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65405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65405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65405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65405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65405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654050" algn="l"/>
              </a:tabLst>
            </a:pPr>
            <a:r>
              <a:rPr kumimoji="0" lang="vi-VN" altLang="vi-VN" sz="2000" b="1"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a:t>
            </a:r>
            <a:r>
              <a:rPr kumimoji="0" lang="vi-VN" altLang="vi-VN" sz="20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o sánh</a:t>
            </a:r>
            <a:endParaRPr kumimoji="0" lang="en-US" altLang="vi-VN" sz="20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654050" algn="l"/>
              </a:tabLst>
            </a:pPr>
            <a:r>
              <a:rPr kumimoji="0" lang="vi-VN" altLang="vi-VN" sz="20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ưu điểm</a:t>
            </a:r>
            <a:endParaRPr kumimoji="0" lang="vi-VN" altLang="vi-VN" sz="2000" b="1"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33633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60FE2937-02BB-70B7-920B-C930778C1C33}"/>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1D1571B7-BEEF-FE1A-B18D-E5645BCBE4B9}"/>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72C64E60-E41C-BB75-096C-53CB3B6584DE}"/>
              </a:ext>
            </a:extLst>
          </p:cNvPr>
          <p:cNvSpPr txBox="1">
            <a:spLocks noGrp="1"/>
          </p:cNvSpPr>
          <p:nvPr>
            <p:ph type="title"/>
          </p:nvPr>
        </p:nvSpPr>
        <p:spPr>
          <a:xfrm>
            <a:off x="628823" y="556957"/>
            <a:ext cx="842585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mj-lt"/>
              </a:rPr>
              <a:t>CHƯƠNG 4 : ƯU VÀ NHƯỢC ĐIỂM</a:t>
            </a:r>
            <a:endParaRPr b="1" dirty="0">
              <a:latin typeface="+mj-lt"/>
            </a:endParaRPr>
          </a:p>
        </p:txBody>
      </p:sp>
      <p:grpSp>
        <p:nvGrpSpPr>
          <p:cNvPr id="797" name="Google Shape;797;p42">
            <a:extLst>
              <a:ext uri="{FF2B5EF4-FFF2-40B4-BE49-F238E27FC236}">
                <a16:creationId xmlns:a16="http://schemas.microsoft.com/office/drawing/2014/main" id="{C7E446DB-BC6F-1EFD-95B0-7A44F942C7AC}"/>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C18BD8E0-8AE8-92B6-13BC-766315850C67}"/>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45A518BA-AEAD-C671-3937-06113AEEDFB2}"/>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09AE92BF-C6D2-C042-BA85-317C63E18759}"/>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802D9779-7F9D-3123-92D7-3F7233D22DE3}"/>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87F96CD0-EB36-16BA-DC82-7DAD5A8F239D}"/>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8822C1D3-39D3-8526-A867-FA8E0994446B}"/>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FD0F3CCC-910E-82BF-8BC3-F3E827FD0DFD}"/>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9579A98F-5E17-050A-1087-C87580BE98CF}"/>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F62F3763-ABBC-E14C-553F-7AD5921E3B0D}"/>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A6A7ADB6-923A-E97E-628B-C989380AED4A}"/>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188E186C-C0B7-9371-338D-3448521A3327}"/>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61425F33-D4DC-D766-9FB0-6396B58F05D5}"/>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6DE503D1-44CB-BDDE-5DC0-63D7274266AE}"/>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C56670D9-E7E9-3868-8050-12D867DCC520}"/>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B6BC6AB3-DFF7-E34A-7A9B-FBC7645DECC7}"/>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494741CC-4DA3-36EB-DAD2-5AB7C8DCF71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23BF0A5E-9196-319E-34D6-F6347117A506}"/>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852D5848-8711-3F00-29BC-5B60538224EB}"/>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5" name="Table 4">
            <a:extLst>
              <a:ext uri="{FF2B5EF4-FFF2-40B4-BE49-F238E27FC236}">
                <a16:creationId xmlns:a16="http://schemas.microsoft.com/office/drawing/2014/main" id="{6EE8C40F-4102-82D8-A672-B32976CB2902}"/>
              </a:ext>
            </a:extLst>
          </p:cNvPr>
          <p:cNvGraphicFramePr>
            <a:graphicFrameLocks noGrp="1"/>
          </p:cNvGraphicFramePr>
          <p:nvPr>
            <p:extLst>
              <p:ext uri="{D42A27DB-BD31-4B8C-83A1-F6EECF244321}">
                <p14:modId xmlns:p14="http://schemas.microsoft.com/office/powerpoint/2010/main" val="1356903994"/>
              </p:ext>
            </p:extLst>
          </p:nvPr>
        </p:nvGraphicFramePr>
        <p:xfrm>
          <a:off x="2060210" y="1176314"/>
          <a:ext cx="6336976" cy="3355838"/>
        </p:xfrm>
        <a:graphic>
          <a:graphicData uri="http://schemas.openxmlformats.org/drawingml/2006/table">
            <a:tbl>
              <a:tblPr firstRow="1" firstCol="1" bandRow="1">
                <a:tableStyleId>{7D39478E-FE93-4580-9B40-B0A813745C6C}</a:tableStyleId>
              </a:tblPr>
              <a:tblGrid>
                <a:gridCol w="2139733">
                  <a:extLst>
                    <a:ext uri="{9D8B030D-6E8A-4147-A177-3AD203B41FA5}">
                      <a16:colId xmlns:a16="http://schemas.microsoft.com/office/drawing/2014/main" val="21158229"/>
                    </a:ext>
                  </a:extLst>
                </a:gridCol>
                <a:gridCol w="2084917">
                  <a:extLst>
                    <a:ext uri="{9D8B030D-6E8A-4147-A177-3AD203B41FA5}">
                      <a16:colId xmlns:a16="http://schemas.microsoft.com/office/drawing/2014/main" val="3336407289"/>
                    </a:ext>
                  </a:extLst>
                </a:gridCol>
                <a:gridCol w="2112326">
                  <a:extLst>
                    <a:ext uri="{9D8B030D-6E8A-4147-A177-3AD203B41FA5}">
                      <a16:colId xmlns:a16="http://schemas.microsoft.com/office/drawing/2014/main" val="3454427915"/>
                    </a:ext>
                  </a:extLst>
                </a:gridCol>
              </a:tblGrid>
              <a:tr h="335642">
                <a:tc>
                  <a:txBody>
                    <a:bodyPr/>
                    <a:lstStyle/>
                    <a:p>
                      <a:pPr>
                        <a:lnSpc>
                          <a:spcPct val="107000"/>
                        </a:lnSpc>
                        <a:spcBef>
                          <a:spcPts val="600"/>
                        </a:spcBef>
                        <a:spcAft>
                          <a:spcPts val="300"/>
                        </a:spcAft>
                        <a:buNone/>
                        <a:tabLst>
                          <a:tab pos="654050" algn="l"/>
                        </a:tabLst>
                      </a:pPr>
                      <a:r>
                        <a:rPr lang="vi-VN" sz="1100" b="1" dirty="0">
                          <a:solidFill>
                            <a:schemeClr val="bg1"/>
                          </a:solidFill>
                          <a:effectLst/>
                          <a:latin typeface="+mj-lt"/>
                        </a:rPr>
                        <a:t>Mô hình</a:t>
                      </a:r>
                      <a:endParaRPr lang="vi-VN" sz="1100" b="1" dirty="0">
                        <a:solidFill>
                          <a:schemeClr val="bg1"/>
                        </a:solidFill>
                        <a:effectLst/>
                        <a:latin typeface="+mj-lt"/>
                        <a:ea typeface="Arial" panose="020B0604020202020204" pitchFamily="34" charset="0"/>
                      </a:endParaRPr>
                    </a:p>
                  </a:txBody>
                  <a:tcPr marL="106889" marR="106889" marT="71260" marB="71260" anchor="ctr"/>
                </a:tc>
                <a:tc>
                  <a:txBody>
                    <a:bodyPr/>
                    <a:lstStyle/>
                    <a:p>
                      <a:pPr>
                        <a:lnSpc>
                          <a:spcPct val="107000"/>
                        </a:lnSpc>
                        <a:spcBef>
                          <a:spcPts val="600"/>
                        </a:spcBef>
                        <a:spcAft>
                          <a:spcPts val="300"/>
                        </a:spcAft>
                        <a:buNone/>
                        <a:tabLst>
                          <a:tab pos="654050" algn="l"/>
                        </a:tabLst>
                      </a:pPr>
                      <a:r>
                        <a:rPr lang="vi-VN" sz="1100" b="1" dirty="0">
                          <a:solidFill>
                            <a:schemeClr val="bg1"/>
                          </a:solidFill>
                          <a:effectLst/>
                          <a:latin typeface="+mj-lt"/>
                        </a:rPr>
                        <a:t>Hạn chế Chính</a:t>
                      </a:r>
                      <a:endParaRPr lang="vi-VN" sz="1100" b="1" dirty="0">
                        <a:solidFill>
                          <a:schemeClr val="bg1"/>
                        </a:solidFill>
                        <a:effectLst/>
                        <a:latin typeface="+mj-lt"/>
                        <a:ea typeface="Arial" panose="020B0604020202020204" pitchFamily="34" charset="0"/>
                      </a:endParaRPr>
                    </a:p>
                  </a:txBody>
                  <a:tcPr marL="106889" marR="106889" marT="71260" marB="71260" anchor="ctr"/>
                </a:tc>
                <a:tc>
                  <a:txBody>
                    <a:bodyPr/>
                    <a:lstStyle/>
                    <a:p>
                      <a:pPr>
                        <a:lnSpc>
                          <a:spcPct val="107000"/>
                        </a:lnSpc>
                        <a:spcBef>
                          <a:spcPts val="600"/>
                        </a:spcBef>
                        <a:spcAft>
                          <a:spcPts val="300"/>
                        </a:spcAft>
                        <a:buNone/>
                        <a:tabLst>
                          <a:tab pos="654050" algn="l"/>
                        </a:tabLst>
                      </a:pPr>
                      <a:r>
                        <a:rPr lang="vi-VN" sz="1100" b="1" dirty="0">
                          <a:solidFill>
                            <a:schemeClr val="bg1"/>
                          </a:solidFill>
                          <a:effectLst/>
                          <a:latin typeface="+mj-lt"/>
                        </a:rPr>
                        <a:t>Rủi ro về Bảo mật/Pháp lý</a:t>
                      </a:r>
                      <a:endParaRPr lang="vi-VN" sz="1100" b="1" dirty="0">
                        <a:solidFill>
                          <a:schemeClr val="bg1"/>
                        </a:solidFill>
                        <a:effectLst/>
                        <a:latin typeface="+mj-lt"/>
                        <a:ea typeface="Arial" panose="020B0604020202020204" pitchFamily="34" charset="0"/>
                      </a:endParaRPr>
                    </a:p>
                  </a:txBody>
                  <a:tcPr marL="106889" marR="106889" marT="71260" marB="71260" anchor="ctr"/>
                </a:tc>
                <a:extLst>
                  <a:ext uri="{0D108BD9-81ED-4DB2-BD59-A6C34878D82A}">
                    <a16:rowId xmlns:a16="http://schemas.microsoft.com/office/drawing/2014/main" val="770814298"/>
                  </a:ext>
                </a:extLst>
              </a:tr>
              <a:tr h="755049">
                <a:tc>
                  <a:txBody>
                    <a:bodyPr/>
                    <a:lstStyle/>
                    <a:p>
                      <a:pPr>
                        <a:lnSpc>
                          <a:spcPct val="107000"/>
                        </a:lnSpc>
                        <a:spcBef>
                          <a:spcPts val="600"/>
                        </a:spcBef>
                        <a:spcAft>
                          <a:spcPts val="300"/>
                        </a:spcAft>
                        <a:buNone/>
                        <a:tabLst>
                          <a:tab pos="654050" algn="l"/>
                        </a:tabLst>
                      </a:pPr>
                      <a:r>
                        <a:rPr lang="vi-VN" sz="1100" b="1" dirty="0">
                          <a:solidFill>
                            <a:schemeClr val="bg1"/>
                          </a:solidFill>
                          <a:effectLst/>
                          <a:latin typeface="+mj-lt"/>
                        </a:rPr>
                        <a:t>ChatGPT (OpenAI)</a:t>
                      </a:r>
                      <a:endParaRPr lang="vi-VN" sz="1100" b="1" dirty="0">
                        <a:solidFill>
                          <a:schemeClr val="bg1"/>
                        </a:solidFill>
                        <a:effectLst/>
                        <a:latin typeface="+mj-lt"/>
                        <a:ea typeface="Arial" panose="020B0604020202020204" pitchFamily="34" charset="0"/>
                      </a:endParaRPr>
                    </a:p>
                  </a:txBody>
                  <a:tcPr marL="106889" marR="106889" marT="71260" marB="71260" anchor="ctr"/>
                </a:tc>
                <a:tc>
                  <a:txBody>
                    <a:bodyPr/>
                    <a:lstStyle/>
                    <a:p>
                      <a:pPr>
                        <a:lnSpc>
                          <a:spcPct val="107000"/>
                        </a:lnSpc>
                        <a:spcBef>
                          <a:spcPts val="600"/>
                        </a:spcBef>
                        <a:spcAft>
                          <a:spcPts val="300"/>
                        </a:spcAft>
                        <a:buNone/>
                        <a:tabLst>
                          <a:tab pos="654050" algn="l"/>
                        </a:tabLst>
                      </a:pPr>
                      <a:r>
                        <a:rPr lang="vi-VN" sz="1100" dirty="0">
                          <a:solidFill>
                            <a:schemeClr val="bg1"/>
                          </a:solidFill>
                          <a:effectLst/>
                          <a:latin typeface="+mj-lt"/>
                        </a:rPr>
                        <a:t>Chi phí cao cho phiên bản cao cấp. Vẫn có hiện tượng Hallucinations (thông tin sai).</a:t>
                      </a:r>
                      <a:endParaRPr lang="vi-VN" sz="1100" dirty="0">
                        <a:solidFill>
                          <a:schemeClr val="bg1"/>
                        </a:solidFill>
                        <a:effectLst/>
                        <a:latin typeface="+mj-lt"/>
                        <a:ea typeface="Arial" panose="020B0604020202020204" pitchFamily="34" charset="0"/>
                      </a:endParaRPr>
                    </a:p>
                  </a:txBody>
                  <a:tcPr marL="106889" marR="106889" marT="71260" marB="71260" anchor="ctr"/>
                </a:tc>
                <a:tc>
                  <a:txBody>
                    <a:bodyPr/>
                    <a:lstStyle/>
                    <a:p>
                      <a:pPr>
                        <a:lnSpc>
                          <a:spcPct val="107000"/>
                        </a:lnSpc>
                        <a:spcBef>
                          <a:spcPts val="600"/>
                        </a:spcBef>
                        <a:spcAft>
                          <a:spcPts val="300"/>
                        </a:spcAft>
                        <a:buNone/>
                        <a:tabLst>
                          <a:tab pos="654050" algn="l"/>
                        </a:tabLst>
                      </a:pPr>
                      <a:r>
                        <a:rPr lang="vi-VN" sz="1100">
                          <a:solidFill>
                            <a:schemeClr val="bg1"/>
                          </a:solidFill>
                          <a:effectLst/>
                          <a:latin typeface="+mj-lt"/>
                        </a:rPr>
                        <a:t>Rủi ro rò rỉ dữ liệu lịch sử nếu không tắt tính năng huấn luyện mô hình.</a:t>
                      </a:r>
                      <a:endParaRPr lang="vi-VN" sz="1100">
                        <a:solidFill>
                          <a:schemeClr val="bg1"/>
                        </a:solidFill>
                        <a:effectLst/>
                        <a:latin typeface="+mj-lt"/>
                        <a:ea typeface="Arial" panose="020B0604020202020204" pitchFamily="34" charset="0"/>
                      </a:endParaRPr>
                    </a:p>
                  </a:txBody>
                  <a:tcPr marL="106889" marR="106889" marT="71260" marB="71260" anchor="ctr"/>
                </a:tc>
                <a:extLst>
                  <a:ext uri="{0D108BD9-81ED-4DB2-BD59-A6C34878D82A}">
                    <a16:rowId xmlns:a16="http://schemas.microsoft.com/office/drawing/2014/main" val="782582162"/>
                  </a:ext>
                </a:extLst>
              </a:tr>
              <a:tr h="755049">
                <a:tc>
                  <a:txBody>
                    <a:bodyPr/>
                    <a:lstStyle/>
                    <a:p>
                      <a:pPr>
                        <a:lnSpc>
                          <a:spcPct val="107000"/>
                        </a:lnSpc>
                        <a:spcBef>
                          <a:spcPts val="600"/>
                        </a:spcBef>
                        <a:spcAft>
                          <a:spcPts val="300"/>
                        </a:spcAft>
                        <a:buNone/>
                        <a:tabLst>
                          <a:tab pos="654050" algn="l"/>
                        </a:tabLst>
                      </a:pPr>
                      <a:r>
                        <a:rPr lang="vi-VN" sz="1100" b="1" dirty="0">
                          <a:solidFill>
                            <a:schemeClr val="bg1"/>
                          </a:solidFill>
                          <a:effectLst/>
                          <a:latin typeface="+mj-lt"/>
                        </a:rPr>
                        <a:t>Gemini (Google)</a:t>
                      </a:r>
                      <a:endParaRPr lang="vi-VN" sz="1100" b="1" dirty="0">
                        <a:solidFill>
                          <a:schemeClr val="bg1"/>
                        </a:solidFill>
                        <a:effectLst/>
                        <a:latin typeface="+mj-lt"/>
                        <a:ea typeface="Arial" panose="020B0604020202020204" pitchFamily="34" charset="0"/>
                      </a:endParaRPr>
                    </a:p>
                  </a:txBody>
                  <a:tcPr marL="106889" marR="106889" marT="71260" marB="71260" anchor="ctr"/>
                </a:tc>
                <a:tc>
                  <a:txBody>
                    <a:bodyPr/>
                    <a:lstStyle/>
                    <a:p>
                      <a:pPr>
                        <a:lnSpc>
                          <a:spcPct val="107000"/>
                        </a:lnSpc>
                        <a:spcBef>
                          <a:spcPts val="600"/>
                        </a:spcBef>
                        <a:spcAft>
                          <a:spcPts val="300"/>
                        </a:spcAft>
                        <a:buNone/>
                        <a:tabLst>
                          <a:tab pos="654050" algn="l"/>
                        </a:tabLst>
                      </a:pPr>
                      <a:r>
                        <a:rPr lang="vi-VN" sz="1100" dirty="0">
                          <a:solidFill>
                            <a:schemeClr val="bg1"/>
                          </a:solidFill>
                          <a:effectLst/>
                          <a:latin typeface="+mj-lt"/>
                        </a:rPr>
                        <a:t>Xu hướng quá thận trọng trong các chủ đề nhạy cảm.</a:t>
                      </a:r>
                      <a:endParaRPr lang="vi-VN" sz="1100" dirty="0">
                        <a:solidFill>
                          <a:schemeClr val="bg1"/>
                        </a:solidFill>
                        <a:effectLst/>
                        <a:latin typeface="+mj-lt"/>
                        <a:ea typeface="Arial" panose="020B0604020202020204" pitchFamily="34" charset="0"/>
                      </a:endParaRPr>
                    </a:p>
                  </a:txBody>
                  <a:tcPr marL="106889" marR="106889" marT="71260" marB="71260" anchor="ctr"/>
                </a:tc>
                <a:tc>
                  <a:txBody>
                    <a:bodyPr/>
                    <a:lstStyle/>
                    <a:p>
                      <a:pPr>
                        <a:lnSpc>
                          <a:spcPct val="107000"/>
                        </a:lnSpc>
                        <a:spcBef>
                          <a:spcPts val="600"/>
                        </a:spcBef>
                        <a:spcAft>
                          <a:spcPts val="300"/>
                        </a:spcAft>
                        <a:buNone/>
                        <a:tabLst>
                          <a:tab pos="654050" algn="l"/>
                        </a:tabLst>
                      </a:pPr>
                      <a:r>
                        <a:rPr lang="vi-VN" sz="1100">
                          <a:solidFill>
                            <a:schemeClr val="bg1"/>
                          </a:solidFill>
                          <a:effectLst/>
                          <a:latin typeface="+mj-lt"/>
                        </a:rPr>
                        <a:t>Lo ngại về Quyền riêng tư do tích hợp sâu vào các dịch vụ cá nhân của Google.</a:t>
                      </a:r>
                      <a:endParaRPr lang="vi-VN" sz="1100">
                        <a:solidFill>
                          <a:schemeClr val="bg1"/>
                        </a:solidFill>
                        <a:effectLst/>
                        <a:latin typeface="+mj-lt"/>
                        <a:ea typeface="Arial" panose="020B0604020202020204" pitchFamily="34" charset="0"/>
                      </a:endParaRPr>
                    </a:p>
                  </a:txBody>
                  <a:tcPr marL="106889" marR="106889" marT="71260" marB="71260" anchor="ctr"/>
                </a:tc>
                <a:extLst>
                  <a:ext uri="{0D108BD9-81ED-4DB2-BD59-A6C34878D82A}">
                    <a16:rowId xmlns:a16="http://schemas.microsoft.com/office/drawing/2014/main" val="421768343"/>
                  </a:ext>
                </a:extLst>
              </a:tr>
              <a:tr h="755049">
                <a:tc>
                  <a:txBody>
                    <a:bodyPr/>
                    <a:lstStyle/>
                    <a:p>
                      <a:pPr>
                        <a:lnSpc>
                          <a:spcPct val="107000"/>
                        </a:lnSpc>
                        <a:spcBef>
                          <a:spcPts val="600"/>
                        </a:spcBef>
                        <a:spcAft>
                          <a:spcPts val="300"/>
                        </a:spcAft>
                        <a:buNone/>
                        <a:tabLst>
                          <a:tab pos="654050" algn="l"/>
                        </a:tabLst>
                      </a:pPr>
                      <a:r>
                        <a:rPr lang="vi-VN" sz="1100" b="1" dirty="0">
                          <a:solidFill>
                            <a:schemeClr val="bg1"/>
                          </a:solidFill>
                          <a:effectLst/>
                          <a:latin typeface="+mj-lt"/>
                        </a:rPr>
                        <a:t>DeepSeek</a:t>
                      </a:r>
                      <a:endParaRPr lang="vi-VN" sz="1100" b="1" dirty="0">
                        <a:solidFill>
                          <a:schemeClr val="bg1"/>
                        </a:solidFill>
                        <a:effectLst/>
                        <a:latin typeface="+mj-lt"/>
                        <a:ea typeface="Arial" panose="020B0604020202020204" pitchFamily="34" charset="0"/>
                      </a:endParaRPr>
                    </a:p>
                  </a:txBody>
                  <a:tcPr marL="106889" marR="106889" marT="71260" marB="71260" anchor="ctr"/>
                </a:tc>
                <a:tc>
                  <a:txBody>
                    <a:bodyPr/>
                    <a:lstStyle/>
                    <a:p>
                      <a:pPr>
                        <a:lnSpc>
                          <a:spcPct val="107000"/>
                        </a:lnSpc>
                        <a:spcBef>
                          <a:spcPts val="600"/>
                        </a:spcBef>
                        <a:spcAft>
                          <a:spcPts val="300"/>
                        </a:spcAft>
                        <a:buNone/>
                        <a:tabLst>
                          <a:tab pos="654050" algn="l"/>
                        </a:tabLst>
                      </a:pPr>
                      <a:r>
                        <a:rPr lang="vi-VN" sz="1100" dirty="0">
                          <a:solidFill>
                            <a:schemeClr val="bg1"/>
                          </a:solidFill>
                          <a:effectLst/>
                          <a:latin typeface="+mj-lt"/>
                        </a:rPr>
                        <a:t>Kém tự nhiên và sáng tạo trong ngôn ngữ tổng quát. Khả năng đa phương thức yếu.</a:t>
                      </a:r>
                      <a:endParaRPr lang="vi-VN" sz="1100" dirty="0">
                        <a:solidFill>
                          <a:schemeClr val="bg1"/>
                        </a:solidFill>
                        <a:effectLst/>
                        <a:latin typeface="+mj-lt"/>
                        <a:ea typeface="Arial" panose="020B0604020202020204" pitchFamily="34" charset="0"/>
                      </a:endParaRPr>
                    </a:p>
                  </a:txBody>
                  <a:tcPr marL="106889" marR="106889" marT="71260" marB="71260" anchor="ctr"/>
                </a:tc>
                <a:tc>
                  <a:txBody>
                    <a:bodyPr/>
                    <a:lstStyle/>
                    <a:p>
                      <a:pPr>
                        <a:lnSpc>
                          <a:spcPct val="107000"/>
                        </a:lnSpc>
                        <a:spcBef>
                          <a:spcPts val="600"/>
                        </a:spcBef>
                        <a:spcAft>
                          <a:spcPts val="300"/>
                        </a:spcAft>
                        <a:buNone/>
                        <a:tabLst>
                          <a:tab pos="654050" algn="l"/>
                        </a:tabLst>
                      </a:pPr>
                      <a:r>
                        <a:rPr lang="vi-VN" sz="1100" dirty="0">
                          <a:solidFill>
                            <a:schemeClr val="bg1"/>
                          </a:solidFill>
                          <a:effectLst/>
                          <a:latin typeface="+mj-lt"/>
                        </a:rPr>
                        <a:t>Rủi ro Địa lý/Pháp lý do trụ sở công ty (liên quan đến luật bảo vệ dữ liệu).</a:t>
                      </a:r>
                      <a:endParaRPr lang="vi-VN" sz="1100" dirty="0">
                        <a:solidFill>
                          <a:schemeClr val="bg1"/>
                        </a:solidFill>
                        <a:effectLst/>
                        <a:latin typeface="+mj-lt"/>
                        <a:ea typeface="Arial" panose="020B0604020202020204" pitchFamily="34" charset="0"/>
                      </a:endParaRPr>
                    </a:p>
                  </a:txBody>
                  <a:tcPr marL="106889" marR="106889" marT="71260" marB="71260" anchor="ctr"/>
                </a:tc>
                <a:extLst>
                  <a:ext uri="{0D108BD9-81ED-4DB2-BD59-A6C34878D82A}">
                    <a16:rowId xmlns:a16="http://schemas.microsoft.com/office/drawing/2014/main" val="3558330585"/>
                  </a:ext>
                </a:extLst>
              </a:tr>
              <a:tr h="755049">
                <a:tc>
                  <a:txBody>
                    <a:bodyPr/>
                    <a:lstStyle/>
                    <a:p>
                      <a:pPr>
                        <a:lnSpc>
                          <a:spcPct val="107000"/>
                        </a:lnSpc>
                        <a:spcBef>
                          <a:spcPts val="600"/>
                        </a:spcBef>
                        <a:spcAft>
                          <a:spcPts val="300"/>
                        </a:spcAft>
                        <a:buNone/>
                        <a:tabLst>
                          <a:tab pos="654050" algn="l"/>
                        </a:tabLst>
                      </a:pPr>
                      <a:r>
                        <a:rPr lang="vi-VN" sz="1100" b="1" dirty="0">
                          <a:solidFill>
                            <a:schemeClr val="bg1"/>
                          </a:solidFill>
                          <a:effectLst/>
                          <a:latin typeface="+mj-lt"/>
                        </a:rPr>
                        <a:t>Grok (xAI)</a:t>
                      </a:r>
                      <a:endParaRPr lang="vi-VN" sz="1100" b="1" dirty="0">
                        <a:solidFill>
                          <a:schemeClr val="bg1"/>
                        </a:solidFill>
                        <a:effectLst/>
                        <a:latin typeface="+mj-lt"/>
                        <a:ea typeface="Arial" panose="020B0604020202020204" pitchFamily="34" charset="0"/>
                      </a:endParaRPr>
                    </a:p>
                  </a:txBody>
                  <a:tcPr marL="106889" marR="106889" marT="71260" marB="71260" anchor="ctr"/>
                </a:tc>
                <a:tc>
                  <a:txBody>
                    <a:bodyPr/>
                    <a:lstStyle/>
                    <a:p>
                      <a:pPr>
                        <a:lnSpc>
                          <a:spcPct val="107000"/>
                        </a:lnSpc>
                        <a:spcBef>
                          <a:spcPts val="600"/>
                        </a:spcBef>
                        <a:spcAft>
                          <a:spcPts val="300"/>
                        </a:spcAft>
                        <a:buNone/>
                        <a:tabLst>
                          <a:tab pos="654050" algn="l"/>
                        </a:tabLst>
                      </a:pPr>
                      <a:r>
                        <a:rPr lang="vi-VN" sz="1100" dirty="0">
                          <a:solidFill>
                            <a:schemeClr val="bg1"/>
                          </a:solidFill>
                          <a:effectLst/>
                          <a:latin typeface="+mj-lt"/>
                        </a:rPr>
                        <a:t>Độ tin cậy thấp do phong cách mạnh mẽ. Hạn chế truy cập (chỉ dành cho X Premium+).</a:t>
                      </a:r>
                      <a:endParaRPr lang="vi-VN" sz="1100" dirty="0">
                        <a:solidFill>
                          <a:schemeClr val="bg1"/>
                        </a:solidFill>
                        <a:effectLst/>
                        <a:latin typeface="+mj-lt"/>
                        <a:ea typeface="Arial" panose="020B0604020202020204" pitchFamily="34" charset="0"/>
                      </a:endParaRPr>
                    </a:p>
                  </a:txBody>
                  <a:tcPr marL="106889" marR="106889" marT="71260" marB="71260" anchor="ctr"/>
                </a:tc>
                <a:tc>
                  <a:txBody>
                    <a:bodyPr/>
                    <a:lstStyle/>
                    <a:p>
                      <a:pPr>
                        <a:lnSpc>
                          <a:spcPct val="107000"/>
                        </a:lnSpc>
                        <a:spcBef>
                          <a:spcPts val="600"/>
                        </a:spcBef>
                        <a:spcAft>
                          <a:spcPts val="300"/>
                        </a:spcAft>
                        <a:buNone/>
                        <a:tabLst>
                          <a:tab pos="654050" algn="l"/>
                        </a:tabLst>
                      </a:pPr>
                      <a:r>
                        <a:rPr lang="vi-VN" sz="1100" dirty="0">
                          <a:solidFill>
                            <a:schemeClr val="bg1"/>
                          </a:solidFill>
                          <a:effectLst/>
                          <a:latin typeface="+mj-lt"/>
                        </a:rPr>
                        <a:t>Dữ liệu có thể bị thiên vị theo luồng tin tức của X (Twitter).</a:t>
                      </a:r>
                      <a:endParaRPr lang="vi-VN" sz="1100" dirty="0">
                        <a:solidFill>
                          <a:schemeClr val="bg1"/>
                        </a:solidFill>
                        <a:effectLst/>
                        <a:latin typeface="+mj-lt"/>
                        <a:ea typeface="Arial" panose="020B0604020202020204" pitchFamily="34" charset="0"/>
                      </a:endParaRPr>
                    </a:p>
                  </a:txBody>
                  <a:tcPr marL="106889" marR="106889" marT="71260" marB="71260" anchor="ctr"/>
                </a:tc>
                <a:extLst>
                  <a:ext uri="{0D108BD9-81ED-4DB2-BD59-A6C34878D82A}">
                    <a16:rowId xmlns:a16="http://schemas.microsoft.com/office/drawing/2014/main" val="4292452637"/>
                  </a:ext>
                </a:extLst>
              </a:tr>
            </a:tbl>
          </a:graphicData>
        </a:graphic>
      </p:graphicFrame>
      <p:sp>
        <p:nvSpPr>
          <p:cNvPr id="6" name="Rectangle 2">
            <a:extLst>
              <a:ext uri="{FF2B5EF4-FFF2-40B4-BE49-F238E27FC236}">
                <a16:creationId xmlns:a16="http://schemas.microsoft.com/office/drawing/2014/main" id="{FE8E2B6C-A572-9359-BA57-C44403F8C411}"/>
              </a:ext>
            </a:extLst>
          </p:cNvPr>
          <p:cNvSpPr>
            <a:spLocks noGrp="1" noChangeArrowheads="1"/>
          </p:cNvSpPr>
          <p:nvPr>
            <p:ph type="body" idx="1"/>
          </p:nvPr>
        </p:nvSpPr>
        <p:spPr bwMode="auto">
          <a:xfrm>
            <a:off x="720000" y="2261332"/>
            <a:ext cx="1354858" cy="98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50784" numCol="1" anchor="ctr" anchorCtr="0" compatLnSpc="1">
            <a:prstTxWarp prst="textNoShape">
              <a:avLst/>
            </a:prstTxWarp>
            <a:spAutoFit/>
          </a:bodyPr>
          <a:lstStyle>
            <a:lvl1pPr eaLnBrk="0" fontAlgn="base" hangingPunct="0">
              <a:spcBef>
                <a:spcPct val="0"/>
              </a:spcBef>
              <a:spcAft>
                <a:spcPct val="0"/>
              </a:spcAft>
              <a:tabLst>
                <a:tab pos="65405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65405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65405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65405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65405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65405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65405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65405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65405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654050" algn="l"/>
              </a:tabLst>
            </a:pPr>
            <a:r>
              <a:rPr kumimoji="0" lang="vi-VN" altLang="vi-VN" sz="1800" b="1"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a:t>
            </a:r>
            <a:r>
              <a:rPr kumimoji="0" lang="vi-VN" altLang="vi-VN" sz="18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o sánh </a:t>
            </a:r>
            <a:endParaRPr kumimoji="0" lang="en-US" altLang="vi-VN" sz="18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654050" algn="l"/>
              </a:tabLst>
            </a:pPr>
            <a:r>
              <a:rPr kumimoji="0" lang="vi-VN" altLang="vi-VN" sz="1800" b="1" i="0" u="none" strike="noStrike" cap="none" normalizeH="0" baseline="0" dirty="0" bmk="">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nhược điểm</a:t>
            </a:r>
            <a:endParaRPr kumimoji="0" lang="vi-VN" altLang="vi-VN" sz="1800" b="1"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654050" algn="l"/>
              </a:tabLst>
            </a:pPr>
            <a:endParaRPr kumimoji="0" lang="vi-VN" altLang="vi-VN" sz="18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7293210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8882183D-8447-3A5B-42BB-41D64FF6D057}"/>
            </a:ext>
          </a:extLst>
        </p:cNvPr>
        <p:cNvGrpSpPr/>
        <p:nvPr/>
      </p:nvGrpSpPr>
      <p:grpSpPr>
        <a:xfrm>
          <a:off x="0" y="0"/>
          <a:ext cx="0" cy="0"/>
          <a:chOff x="0" y="0"/>
          <a:chExt cx="0" cy="0"/>
        </a:xfrm>
      </p:grpSpPr>
      <p:sp>
        <p:nvSpPr>
          <p:cNvPr id="396" name="Google Shape;396;p33">
            <a:extLst>
              <a:ext uri="{FF2B5EF4-FFF2-40B4-BE49-F238E27FC236}">
                <a16:creationId xmlns:a16="http://schemas.microsoft.com/office/drawing/2014/main" id="{BD533B7A-74E4-8E4A-D882-2D44DFADA4E2}"/>
              </a:ext>
            </a:extLst>
          </p:cNvPr>
          <p:cNvSpPr/>
          <p:nvPr/>
        </p:nvSpPr>
        <p:spPr>
          <a:xfrm>
            <a:off x="1339813" y="1228150"/>
            <a:ext cx="2911500" cy="24768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a:extLst>
              <a:ext uri="{FF2B5EF4-FFF2-40B4-BE49-F238E27FC236}">
                <a16:creationId xmlns:a16="http://schemas.microsoft.com/office/drawing/2014/main" id="{E1BBDE63-435E-1E5A-FDA8-7A693BD43CF2}"/>
              </a:ext>
            </a:extLst>
          </p:cNvPr>
          <p:cNvSpPr txBox="1">
            <a:spLocks noGrp="1"/>
          </p:cNvSpPr>
          <p:nvPr>
            <p:ph type="title"/>
          </p:nvPr>
        </p:nvSpPr>
        <p:spPr>
          <a:xfrm>
            <a:off x="4251313" y="1640692"/>
            <a:ext cx="3312300" cy="1113000"/>
          </a:xfrm>
          <a:prstGeom prst="rect">
            <a:avLst/>
          </a:prstGeom>
        </p:spPr>
        <p:txBody>
          <a:bodyPr spcFirstLastPara="1" wrap="square" lIns="91425" tIns="91425" rIns="91425" bIns="91425" anchor="b" anchorCtr="0">
            <a:noAutofit/>
          </a:bodyPr>
          <a:lstStyle/>
          <a:p>
            <a:pPr lvl="0" algn="ctr"/>
            <a:r>
              <a:rPr lang="en-US" sz="2800" b="1" dirty="0" err="1">
                <a:latin typeface="+mn-lt"/>
              </a:rPr>
              <a:t>Ứng</a:t>
            </a:r>
            <a:r>
              <a:rPr lang="en-US" sz="2800" b="1" dirty="0">
                <a:latin typeface="+mn-lt"/>
              </a:rPr>
              <a:t> </a:t>
            </a:r>
            <a:r>
              <a:rPr lang="en-US" sz="2800" b="1" dirty="0" err="1">
                <a:latin typeface="+mn-lt"/>
              </a:rPr>
              <a:t>dụng</a:t>
            </a:r>
            <a:r>
              <a:rPr lang="en-US" sz="2800" b="1" dirty="0">
                <a:latin typeface="+mn-lt"/>
              </a:rPr>
              <a:t> </a:t>
            </a:r>
            <a:r>
              <a:rPr lang="en-US" sz="2800" b="1" dirty="0" err="1">
                <a:latin typeface="+mn-lt"/>
              </a:rPr>
              <a:t>thực</a:t>
            </a:r>
            <a:r>
              <a:rPr lang="en-US" sz="2800" b="1" dirty="0">
                <a:latin typeface="+mn-lt"/>
              </a:rPr>
              <a:t> </a:t>
            </a:r>
            <a:r>
              <a:rPr lang="en-US" sz="2800" b="1" dirty="0" err="1">
                <a:latin typeface="+mn-lt"/>
              </a:rPr>
              <a:t>tế</a:t>
            </a:r>
            <a:endParaRPr lang="vi-VN" sz="2800" b="1" dirty="0">
              <a:latin typeface="+mn-lt"/>
            </a:endParaRPr>
          </a:p>
        </p:txBody>
      </p:sp>
      <p:sp>
        <p:nvSpPr>
          <p:cNvPr id="399" name="Google Shape;399;p33">
            <a:extLst>
              <a:ext uri="{FF2B5EF4-FFF2-40B4-BE49-F238E27FC236}">
                <a16:creationId xmlns:a16="http://schemas.microsoft.com/office/drawing/2014/main" id="{8B08C285-D9D0-A2F2-6EE2-B030E0005BE0}"/>
              </a:ext>
            </a:extLst>
          </p:cNvPr>
          <p:cNvSpPr txBox="1">
            <a:spLocks noGrp="1"/>
          </p:cNvSpPr>
          <p:nvPr>
            <p:ph type="title" idx="2"/>
          </p:nvPr>
        </p:nvSpPr>
        <p:spPr>
          <a:xfrm>
            <a:off x="1931113" y="1872250"/>
            <a:ext cx="1951458" cy="118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grpSp>
        <p:nvGrpSpPr>
          <p:cNvPr id="400" name="Google Shape;400;p33">
            <a:extLst>
              <a:ext uri="{FF2B5EF4-FFF2-40B4-BE49-F238E27FC236}">
                <a16:creationId xmlns:a16="http://schemas.microsoft.com/office/drawing/2014/main" id="{34901420-DC26-F579-FD70-4FC8D17CC412}"/>
              </a:ext>
            </a:extLst>
          </p:cNvPr>
          <p:cNvGrpSpPr/>
          <p:nvPr/>
        </p:nvGrpSpPr>
        <p:grpSpPr>
          <a:xfrm rot="10800000">
            <a:off x="8057882" y="382596"/>
            <a:ext cx="288601" cy="1096693"/>
            <a:chOff x="1006700" y="2603975"/>
            <a:chExt cx="55450" cy="210700"/>
          </a:xfrm>
        </p:grpSpPr>
        <p:sp>
          <p:nvSpPr>
            <p:cNvPr id="401" name="Google Shape;401;p33">
              <a:extLst>
                <a:ext uri="{FF2B5EF4-FFF2-40B4-BE49-F238E27FC236}">
                  <a16:creationId xmlns:a16="http://schemas.microsoft.com/office/drawing/2014/main" id="{806CDC56-7E0D-FD90-0FB1-AAA606DDE6F5}"/>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a:extLst>
                <a:ext uri="{FF2B5EF4-FFF2-40B4-BE49-F238E27FC236}">
                  <a16:creationId xmlns:a16="http://schemas.microsoft.com/office/drawing/2014/main" id="{8AC342D0-CCF4-BFB5-7C1E-456F14787CCD}"/>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a:extLst>
                <a:ext uri="{FF2B5EF4-FFF2-40B4-BE49-F238E27FC236}">
                  <a16:creationId xmlns:a16="http://schemas.microsoft.com/office/drawing/2014/main" id="{83D24AF9-3C3C-F0D6-C284-28844FF83F76}"/>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a:extLst>
                <a:ext uri="{FF2B5EF4-FFF2-40B4-BE49-F238E27FC236}">
                  <a16:creationId xmlns:a16="http://schemas.microsoft.com/office/drawing/2014/main" id="{F99BC35F-7437-2423-BF10-C458A913906B}"/>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a:extLst>
                <a:ext uri="{FF2B5EF4-FFF2-40B4-BE49-F238E27FC236}">
                  <a16:creationId xmlns:a16="http://schemas.microsoft.com/office/drawing/2014/main" id="{A87BF3D1-5A08-FB83-F6FF-5AFC29592A93}"/>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a:extLst>
                <a:ext uri="{FF2B5EF4-FFF2-40B4-BE49-F238E27FC236}">
                  <a16:creationId xmlns:a16="http://schemas.microsoft.com/office/drawing/2014/main" id="{ED9A16E1-0A29-E160-E87B-4B83688CBA98}"/>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a:extLst>
              <a:ext uri="{FF2B5EF4-FFF2-40B4-BE49-F238E27FC236}">
                <a16:creationId xmlns:a16="http://schemas.microsoft.com/office/drawing/2014/main" id="{EAA0356B-1E1A-26DE-1123-22139DFAC6D1}"/>
              </a:ext>
            </a:extLst>
          </p:cNvPr>
          <p:cNvGrpSpPr/>
          <p:nvPr/>
        </p:nvGrpSpPr>
        <p:grpSpPr>
          <a:xfrm>
            <a:off x="558602" y="508321"/>
            <a:ext cx="781224" cy="726909"/>
            <a:chOff x="827350" y="3629733"/>
            <a:chExt cx="1431600" cy="1332067"/>
          </a:xfrm>
        </p:grpSpPr>
        <p:sp>
          <p:nvSpPr>
            <p:cNvPr id="408" name="Google Shape;408;p33">
              <a:extLst>
                <a:ext uri="{FF2B5EF4-FFF2-40B4-BE49-F238E27FC236}">
                  <a16:creationId xmlns:a16="http://schemas.microsoft.com/office/drawing/2014/main" id="{DA3C692A-61A4-86EF-21F9-E02F0B7D247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a:extLst>
                <a:ext uri="{FF2B5EF4-FFF2-40B4-BE49-F238E27FC236}">
                  <a16:creationId xmlns:a16="http://schemas.microsoft.com/office/drawing/2014/main" id="{C77AA6C6-5C25-5F9C-50CF-1DF826742255}"/>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a:extLst>
                <a:ext uri="{FF2B5EF4-FFF2-40B4-BE49-F238E27FC236}">
                  <a16:creationId xmlns:a16="http://schemas.microsoft.com/office/drawing/2014/main" id="{D44556E8-B7C9-3177-E5B7-252FABA82DBE}"/>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a:extLst>
              <a:ext uri="{FF2B5EF4-FFF2-40B4-BE49-F238E27FC236}">
                <a16:creationId xmlns:a16="http://schemas.microsoft.com/office/drawing/2014/main" id="{4DCBBCEC-FBE8-7903-A23F-F65210F9B8F3}"/>
              </a:ext>
            </a:extLst>
          </p:cNvPr>
          <p:cNvGrpSpPr/>
          <p:nvPr/>
        </p:nvGrpSpPr>
        <p:grpSpPr>
          <a:xfrm>
            <a:off x="1387564" y="321673"/>
            <a:ext cx="356325" cy="331552"/>
            <a:chOff x="827350" y="3629733"/>
            <a:chExt cx="1431600" cy="1332067"/>
          </a:xfrm>
        </p:grpSpPr>
        <p:sp>
          <p:nvSpPr>
            <p:cNvPr id="412" name="Google Shape;412;p33">
              <a:extLst>
                <a:ext uri="{FF2B5EF4-FFF2-40B4-BE49-F238E27FC236}">
                  <a16:creationId xmlns:a16="http://schemas.microsoft.com/office/drawing/2014/main" id="{54319C50-43D9-0627-8F41-5926EF717650}"/>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19F16FAB-9AFA-A5BB-B741-B2C5532151C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CC62B852-CBC5-AEF3-0CCA-2027A9886E61}"/>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a:extLst>
              <a:ext uri="{FF2B5EF4-FFF2-40B4-BE49-F238E27FC236}">
                <a16:creationId xmlns:a16="http://schemas.microsoft.com/office/drawing/2014/main" id="{7C138967-A28E-E3B2-4CAD-70F9FE47AE25}"/>
              </a:ext>
            </a:extLst>
          </p:cNvPr>
          <p:cNvGrpSpPr/>
          <p:nvPr/>
        </p:nvGrpSpPr>
        <p:grpSpPr>
          <a:xfrm>
            <a:off x="7535601" y="3848738"/>
            <a:ext cx="895180" cy="832942"/>
            <a:chOff x="827350" y="3629733"/>
            <a:chExt cx="1431600" cy="1332067"/>
          </a:xfrm>
        </p:grpSpPr>
        <p:sp>
          <p:nvSpPr>
            <p:cNvPr id="416" name="Google Shape;416;p33">
              <a:extLst>
                <a:ext uri="{FF2B5EF4-FFF2-40B4-BE49-F238E27FC236}">
                  <a16:creationId xmlns:a16="http://schemas.microsoft.com/office/drawing/2014/main" id="{14079101-C836-2A3F-BE85-7791630E7B8E}"/>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5039AF8C-8548-837B-3990-B5A39D8834D5}"/>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EA7C116B-938A-BD2E-D16B-9CADA111C26A}"/>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a:extLst>
              <a:ext uri="{FF2B5EF4-FFF2-40B4-BE49-F238E27FC236}">
                <a16:creationId xmlns:a16="http://schemas.microsoft.com/office/drawing/2014/main" id="{0F03D46E-13F4-1EAD-1150-1F3D1342DCA5}"/>
              </a:ext>
            </a:extLst>
          </p:cNvPr>
          <p:cNvGrpSpPr/>
          <p:nvPr/>
        </p:nvGrpSpPr>
        <p:grpSpPr>
          <a:xfrm>
            <a:off x="7902683" y="2980240"/>
            <a:ext cx="598982" cy="557337"/>
            <a:chOff x="827350" y="3629733"/>
            <a:chExt cx="1431600" cy="1332067"/>
          </a:xfrm>
        </p:grpSpPr>
        <p:sp>
          <p:nvSpPr>
            <p:cNvPr id="420" name="Google Shape;420;p33">
              <a:extLst>
                <a:ext uri="{FF2B5EF4-FFF2-40B4-BE49-F238E27FC236}">
                  <a16:creationId xmlns:a16="http://schemas.microsoft.com/office/drawing/2014/main" id="{6E367C1F-81F1-53FA-B7B2-F6E437154FDA}"/>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3D638431-8117-BEDD-CEBC-34436DB9E512}"/>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56682A2A-1F89-E3AF-B6B0-D893CF9F58AA}"/>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a:extLst>
              <a:ext uri="{FF2B5EF4-FFF2-40B4-BE49-F238E27FC236}">
                <a16:creationId xmlns:a16="http://schemas.microsoft.com/office/drawing/2014/main" id="{24118999-4FAB-E727-380A-7E58497F11BA}"/>
              </a:ext>
            </a:extLst>
          </p:cNvPr>
          <p:cNvGrpSpPr/>
          <p:nvPr/>
        </p:nvGrpSpPr>
        <p:grpSpPr>
          <a:xfrm>
            <a:off x="6634531" y="4239131"/>
            <a:ext cx="464268" cy="431989"/>
            <a:chOff x="827350" y="3629733"/>
            <a:chExt cx="1431600" cy="1332067"/>
          </a:xfrm>
        </p:grpSpPr>
        <p:sp>
          <p:nvSpPr>
            <p:cNvPr id="424" name="Google Shape;424;p33">
              <a:extLst>
                <a:ext uri="{FF2B5EF4-FFF2-40B4-BE49-F238E27FC236}">
                  <a16:creationId xmlns:a16="http://schemas.microsoft.com/office/drawing/2014/main" id="{A9CE22FC-A6B6-3512-D90A-9DC2A98BE98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38F0D20B-3C06-622D-7502-D3898D6B84BB}"/>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543BE785-F7AC-D9AA-65B4-E731E2CD880B}"/>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a:extLst>
              <a:ext uri="{FF2B5EF4-FFF2-40B4-BE49-F238E27FC236}">
                <a16:creationId xmlns:a16="http://schemas.microsoft.com/office/drawing/2014/main" id="{7BF682FE-238D-94F2-F2F6-FB87EE8C7BD8}"/>
              </a:ext>
            </a:extLst>
          </p:cNvPr>
          <p:cNvGrpSpPr/>
          <p:nvPr/>
        </p:nvGrpSpPr>
        <p:grpSpPr>
          <a:xfrm rot="5400000">
            <a:off x="962657" y="3906771"/>
            <a:ext cx="288601" cy="1096693"/>
            <a:chOff x="1006700" y="2603975"/>
            <a:chExt cx="55450" cy="210700"/>
          </a:xfrm>
        </p:grpSpPr>
        <p:sp>
          <p:nvSpPr>
            <p:cNvPr id="428" name="Google Shape;428;p33">
              <a:extLst>
                <a:ext uri="{FF2B5EF4-FFF2-40B4-BE49-F238E27FC236}">
                  <a16:creationId xmlns:a16="http://schemas.microsoft.com/office/drawing/2014/main" id="{0DEC9A99-B6FC-FAED-D5AD-444B95D442B7}"/>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47D1845A-8B06-07E1-FF12-D8420B74CB7D}"/>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C5552CD5-7B46-0C64-7904-ABFB338B42F0}"/>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a:extLst>
                <a:ext uri="{FF2B5EF4-FFF2-40B4-BE49-F238E27FC236}">
                  <a16:creationId xmlns:a16="http://schemas.microsoft.com/office/drawing/2014/main" id="{BD450BD9-55A3-9E72-8796-1CEDB6F92707}"/>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a:extLst>
                <a:ext uri="{FF2B5EF4-FFF2-40B4-BE49-F238E27FC236}">
                  <a16:creationId xmlns:a16="http://schemas.microsoft.com/office/drawing/2014/main" id="{CBB51A78-C401-C7D4-1285-E3C1C085014D}"/>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a:extLst>
                <a:ext uri="{FF2B5EF4-FFF2-40B4-BE49-F238E27FC236}">
                  <a16:creationId xmlns:a16="http://schemas.microsoft.com/office/drawing/2014/main" id="{890B02CB-CF22-36F1-C950-0CD26FDEE5C5}"/>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412511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6FDF2C90-85A7-78DF-47E6-30C9BC92DADF}"/>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843E5D7F-4A16-4443-9F33-6725E227CAD4}"/>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5520D152-EAAB-A442-9B45-5BBE7B7CF80A}"/>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mj-lt"/>
              </a:rPr>
              <a:t>CHƯƠNG 5: ỨNG DỤNG THỰC TẾ</a:t>
            </a:r>
            <a:endParaRPr b="1" dirty="0">
              <a:latin typeface="+mj-lt"/>
            </a:endParaRPr>
          </a:p>
        </p:txBody>
      </p:sp>
      <p:grpSp>
        <p:nvGrpSpPr>
          <p:cNvPr id="797" name="Google Shape;797;p42">
            <a:extLst>
              <a:ext uri="{FF2B5EF4-FFF2-40B4-BE49-F238E27FC236}">
                <a16:creationId xmlns:a16="http://schemas.microsoft.com/office/drawing/2014/main" id="{EE8EB87C-E824-A679-849F-8D99D2E6D986}"/>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A1D1C8B5-2E9C-578D-C4E2-240537C11B33}"/>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6E141C16-12FD-F4F8-75EB-02D17C74252E}"/>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0956880B-5BDC-75C0-5325-A3DD173AFA24}"/>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C9571ED2-36F0-FB47-048B-4EA1398E2D65}"/>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8000E984-4113-30A2-21F3-064C08A86207}"/>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4380633C-8C40-48DC-6249-1AE0EA22548E}"/>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1168D72C-2EF6-C448-26C3-C94A8BDCDA85}"/>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52BEF7E9-DE9B-4860-907B-4AFDC120DE5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98F66857-36A6-1505-032A-A4B78BCB4E85}"/>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4132E605-30E3-9078-727C-7B4B6FA88B4E}"/>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B9258416-91CB-6BE9-720D-D3BE5B62F479}"/>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90CD0F0D-F101-6E09-ECBD-C083C7A80EF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C06EE58A-8E99-1AD8-EB97-4A5C47EBB855}"/>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DAEEC75D-CA7A-E6AD-9562-824C4D8367B2}"/>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AA5FD395-B46A-CDD1-D56C-9F17CDF11717}"/>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6CB840FE-39C5-F82D-5D35-6ED92EAAEBBA}"/>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3761951A-188B-2592-0A14-349F5DBD7197}"/>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8299436B-4CEF-0E1F-C99C-C13314A0074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6" name="Google Shape;796;p42">
            <a:extLst>
              <a:ext uri="{FF2B5EF4-FFF2-40B4-BE49-F238E27FC236}">
                <a16:creationId xmlns:a16="http://schemas.microsoft.com/office/drawing/2014/main" id="{958776FF-581B-2511-3CFA-67B2122D3407}"/>
              </a:ext>
            </a:extLst>
          </p:cNvPr>
          <p:cNvSpPr txBox="1">
            <a:spLocks noGrp="1"/>
          </p:cNvSpPr>
          <p:nvPr>
            <p:ph type="body" idx="1"/>
          </p:nvPr>
        </p:nvSpPr>
        <p:spPr>
          <a:xfrm>
            <a:off x="713225" y="1246560"/>
            <a:ext cx="7704000" cy="2594700"/>
          </a:xfrm>
          <a:prstGeom prst="rect">
            <a:avLst/>
          </a:prstGeom>
        </p:spPr>
        <p:txBody>
          <a:bodyPr spcFirstLastPara="1" wrap="square" lIns="91425" tIns="91425" rIns="91425" bIns="91425" anchor="t" anchorCtr="0">
            <a:noAutofit/>
          </a:bodyPr>
          <a:lstStyle/>
          <a:p>
            <a:pPr lvl="1"/>
            <a:r>
              <a:rPr lang="vi-VN" b="1" dirty="0"/>
              <a:t>Dạy học – Giải bài – Tạo nội dung</a:t>
            </a:r>
          </a:p>
          <a:p>
            <a:r>
              <a:rPr lang="vi-VN" dirty="0"/>
              <a:t>Các mô hình AI như ChatGPT và GeminiAI đã trở thành công cụ không thể thiếu trong giáo dục nhờ hỗ trợ trải nghiệm học tập cá nhân hóa. ChatGPT, chẳng hạn, rất giỏi tạo nội dung giáo dục như giáo án hoặc bài giảng giải thích, giúp giảm tải công việc cho giáo viên. Một nghiên cứu của Kasneci và cộng sự (2023) cho thấy học sinh sử dụng ChatGPT để hỗ trợ bài tập đã cải thiện hiểu biết về các chủ đề phức tạp, với 70% báo cáo rằng họ tăng mức độ hứng thú.</a:t>
            </a:r>
            <a:endParaRPr lang="vi-VN" sz="1100" dirty="0"/>
          </a:p>
          <a:p>
            <a:r>
              <a:rPr lang="vi-VN" dirty="0"/>
              <a:t>Tương tự, khả năng đa phương thức của GeminiAI cho phép tạo hình ảnh tương tác và câu đố, giúp các khái niệm trừu tượng trở nên dễ tiếp cận hơn. Đối với giải quyết vấn đề, Grok và Deepseek cung cấp hỗ trợ thời gian thực; Grok, với phong cách diễn giải dí dỏm, giúp học sinh sửa lỗi trong phương trình toán học, trong khi hiệu quả của Deepseek trong xử lý dữ liệu lớn hỗ trợ các mô phỏng giáo dục dựa trên dữ liệu.</a:t>
            </a:r>
            <a:endParaRPr lang="vi-VN" sz="1100" dirty="0"/>
          </a:p>
          <a:p>
            <a:r>
              <a:rPr lang="vi-VN" dirty="0"/>
              <a:t>Tuy nhiên, một hạn chế là nguy cơ phụ thuộc quá mức, như báo cáo của UNESCO (2023) cảnh báo rằng nội dung do AI tạo ra có thể duy trì định kiến nếu không được kiểm soát. Nhìn chung, các công cụ này dân chủ hóa giáo dục bằng cách cung cấp tài nguyên có thể mở rộng và thích ứng, nhưng giáo viên vẫn cần đảm bảo rằng tư duy phản biện được duy trì.</a:t>
            </a:r>
            <a:endParaRPr lang="vi-VN" sz="1100" dirty="0"/>
          </a:p>
        </p:txBody>
      </p:sp>
      <p:grpSp>
        <p:nvGrpSpPr>
          <p:cNvPr id="2" name="Google Shape;804;p42">
            <a:extLst>
              <a:ext uri="{FF2B5EF4-FFF2-40B4-BE49-F238E27FC236}">
                <a16:creationId xmlns:a16="http://schemas.microsoft.com/office/drawing/2014/main" id="{82F1E02A-8726-4EBC-0A4A-77218C9018AF}"/>
              </a:ext>
            </a:extLst>
          </p:cNvPr>
          <p:cNvGrpSpPr/>
          <p:nvPr/>
        </p:nvGrpSpPr>
        <p:grpSpPr>
          <a:xfrm>
            <a:off x="8034802" y="4079585"/>
            <a:ext cx="1096749" cy="1020364"/>
            <a:chOff x="827350" y="3629733"/>
            <a:chExt cx="1431600" cy="1332067"/>
          </a:xfrm>
        </p:grpSpPr>
        <p:sp>
          <p:nvSpPr>
            <p:cNvPr id="3" name="Google Shape;805;p42">
              <a:extLst>
                <a:ext uri="{FF2B5EF4-FFF2-40B4-BE49-F238E27FC236}">
                  <a16:creationId xmlns:a16="http://schemas.microsoft.com/office/drawing/2014/main" id="{A7AD542C-6FDC-82E1-9AE5-31DD2B05DB66}"/>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06;p42">
              <a:extLst>
                <a:ext uri="{FF2B5EF4-FFF2-40B4-BE49-F238E27FC236}">
                  <a16:creationId xmlns:a16="http://schemas.microsoft.com/office/drawing/2014/main" id="{C52024EF-F615-7047-A5DD-D65E42D9C058}"/>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07;p42">
              <a:extLst>
                <a:ext uri="{FF2B5EF4-FFF2-40B4-BE49-F238E27FC236}">
                  <a16:creationId xmlns:a16="http://schemas.microsoft.com/office/drawing/2014/main" id="{60D524B9-D0A8-74F4-3F76-82FF085EE47C}"/>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804;p42">
            <a:extLst>
              <a:ext uri="{FF2B5EF4-FFF2-40B4-BE49-F238E27FC236}">
                <a16:creationId xmlns:a16="http://schemas.microsoft.com/office/drawing/2014/main" id="{DB1C7997-90FA-8AF2-2D3A-BFC8E53F2A60}"/>
              </a:ext>
            </a:extLst>
          </p:cNvPr>
          <p:cNvGrpSpPr/>
          <p:nvPr/>
        </p:nvGrpSpPr>
        <p:grpSpPr>
          <a:xfrm>
            <a:off x="8187202" y="4231985"/>
            <a:ext cx="1096749" cy="1020364"/>
            <a:chOff x="827350" y="3629733"/>
            <a:chExt cx="1431600" cy="1332067"/>
          </a:xfrm>
        </p:grpSpPr>
        <p:sp>
          <p:nvSpPr>
            <p:cNvPr id="7" name="Google Shape;805;p42">
              <a:extLst>
                <a:ext uri="{FF2B5EF4-FFF2-40B4-BE49-F238E27FC236}">
                  <a16:creationId xmlns:a16="http://schemas.microsoft.com/office/drawing/2014/main" id="{7F33FAE4-4B83-CEDE-B0FC-F3A6C8D3A5D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06;p42">
              <a:extLst>
                <a:ext uri="{FF2B5EF4-FFF2-40B4-BE49-F238E27FC236}">
                  <a16:creationId xmlns:a16="http://schemas.microsoft.com/office/drawing/2014/main" id="{C211037B-6E77-A2BF-2371-27F3220C3E1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07;p42">
              <a:extLst>
                <a:ext uri="{FF2B5EF4-FFF2-40B4-BE49-F238E27FC236}">
                  <a16:creationId xmlns:a16="http://schemas.microsoft.com/office/drawing/2014/main" id="{049DF813-4C17-EF87-41D0-91A1D47A8546}"/>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4855447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DE6B1C67-92F4-2B8C-97FF-7CB98417DD82}"/>
            </a:ext>
          </a:extLst>
        </p:cNvPr>
        <p:cNvGrpSpPr/>
        <p:nvPr/>
      </p:nvGrpSpPr>
      <p:grpSpPr>
        <a:xfrm>
          <a:off x="0" y="0"/>
          <a:ext cx="0" cy="0"/>
          <a:chOff x="0" y="0"/>
          <a:chExt cx="0" cy="0"/>
        </a:xfrm>
      </p:grpSpPr>
      <p:grpSp>
        <p:nvGrpSpPr>
          <p:cNvPr id="400" name="Google Shape;400;p33">
            <a:extLst>
              <a:ext uri="{FF2B5EF4-FFF2-40B4-BE49-F238E27FC236}">
                <a16:creationId xmlns:a16="http://schemas.microsoft.com/office/drawing/2014/main" id="{A79E88A9-D25B-FCC0-7711-B7341F4FFEEF}"/>
              </a:ext>
            </a:extLst>
          </p:cNvPr>
          <p:cNvGrpSpPr/>
          <p:nvPr/>
        </p:nvGrpSpPr>
        <p:grpSpPr>
          <a:xfrm rot="10800000">
            <a:off x="8057882" y="382596"/>
            <a:ext cx="288601" cy="1096693"/>
            <a:chOff x="1006700" y="2603975"/>
            <a:chExt cx="55450" cy="210700"/>
          </a:xfrm>
        </p:grpSpPr>
        <p:sp>
          <p:nvSpPr>
            <p:cNvPr id="401" name="Google Shape;401;p33">
              <a:extLst>
                <a:ext uri="{FF2B5EF4-FFF2-40B4-BE49-F238E27FC236}">
                  <a16:creationId xmlns:a16="http://schemas.microsoft.com/office/drawing/2014/main" id="{3019B1C1-000A-9FA0-BFB9-BF150B77AF5A}"/>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a:extLst>
                <a:ext uri="{FF2B5EF4-FFF2-40B4-BE49-F238E27FC236}">
                  <a16:creationId xmlns:a16="http://schemas.microsoft.com/office/drawing/2014/main" id="{0550B38E-F289-8FEE-7BDC-6D6F7D2983E0}"/>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a:extLst>
                <a:ext uri="{FF2B5EF4-FFF2-40B4-BE49-F238E27FC236}">
                  <a16:creationId xmlns:a16="http://schemas.microsoft.com/office/drawing/2014/main" id="{6B6E30C8-CB0B-DC08-CC86-271721BA9DCB}"/>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a:extLst>
                <a:ext uri="{FF2B5EF4-FFF2-40B4-BE49-F238E27FC236}">
                  <a16:creationId xmlns:a16="http://schemas.microsoft.com/office/drawing/2014/main" id="{C905297C-B2EC-5FE8-F9D7-F3899EC57733}"/>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a:extLst>
                <a:ext uri="{FF2B5EF4-FFF2-40B4-BE49-F238E27FC236}">
                  <a16:creationId xmlns:a16="http://schemas.microsoft.com/office/drawing/2014/main" id="{3E432227-A0F2-C8BE-F221-83EDB5AC36E2}"/>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a:extLst>
                <a:ext uri="{FF2B5EF4-FFF2-40B4-BE49-F238E27FC236}">
                  <a16:creationId xmlns:a16="http://schemas.microsoft.com/office/drawing/2014/main" id="{1316B365-5C73-448D-ABCF-795F74EB3B8A}"/>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a:extLst>
              <a:ext uri="{FF2B5EF4-FFF2-40B4-BE49-F238E27FC236}">
                <a16:creationId xmlns:a16="http://schemas.microsoft.com/office/drawing/2014/main" id="{E1FF4512-0B70-1C58-4EAF-AEF6E53811C8}"/>
              </a:ext>
            </a:extLst>
          </p:cNvPr>
          <p:cNvGrpSpPr/>
          <p:nvPr/>
        </p:nvGrpSpPr>
        <p:grpSpPr>
          <a:xfrm>
            <a:off x="558602" y="508321"/>
            <a:ext cx="781224" cy="726909"/>
            <a:chOff x="827350" y="3629733"/>
            <a:chExt cx="1431600" cy="1332067"/>
          </a:xfrm>
        </p:grpSpPr>
        <p:sp>
          <p:nvSpPr>
            <p:cNvPr id="408" name="Google Shape;408;p33">
              <a:extLst>
                <a:ext uri="{FF2B5EF4-FFF2-40B4-BE49-F238E27FC236}">
                  <a16:creationId xmlns:a16="http://schemas.microsoft.com/office/drawing/2014/main" id="{A199BADA-BE2E-615C-1F0F-347937C9ECE2}"/>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a:extLst>
                <a:ext uri="{FF2B5EF4-FFF2-40B4-BE49-F238E27FC236}">
                  <a16:creationId xmlns:a16="http://schemas.microsoft.com/office/drawing/2014/main" id="{78E42D69-9ADD-3DDB-3C86-E4B5FE5F56E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a:extLst>
                <a:ext uri="{FF2B5EF4-FFF2-40B4-BE49-F238E27FC236}">
                  <a16:creationId xmlns:a16="http://schemas.microsoft.com/office/drawing/2014/main" id="{AF7E5371-577D-85D3-2F87-BC02BF46C2A4}"/>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a:extLst>
              <a:ext uri="{FF2B5EF4-FFF2-40B4-BE49-F238E27FC236}">
                <a16:creationId xmlns:a16="http://schemas.microsoft.com/office/drawing/2014/main" id="{FF57C72E-7ACA-303D-7E97-0853C31A3F69}"/>
              </a:ext>
            </a:extLst>
          </p:cNvPr>
          <p:cNvGrpSpPr/>
          <p:nvPr/>
        </p:nvGrpSpPr>
        <p:grpSpPr>
          <a:xfrm>
            <a:off x="1387564" y="321673"/>
            <a:ext cx="356325" cy="331552"/>
            <a:chOff x="827350" y="3629733"/>
            <a:chExt cx="1431600" cy="1332067"/>
          </a:xfrm>
        </p:grpSpPr>
        <p:sp>
          <p:nvSpPr>
            <p:cNvPr id="412" name="Google Shape;412;p33">
              <a:extLst>
                <a:ext uri="{FF2B5EF4-FFF2-40B4-BE49-F238E27FC236}">
                  <a16:creationId xmlns:a16="http://schemas.microsoft.com/office/drawing/2014/main" id="{AEF99AE9-003E-9185-ED46-4C755BBD58A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2626BDA1-7A8B-1F13-E450-A820A0596CC9}"/>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CC829858-E2FB-F073-4496-F2FE792E3303}"/>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a:extLst>
              <a:ext uri="{FF2B5EF4-FFF2-40B4-BE49-F238E27FC236}">
                <a16:creationId xmlns:a16="http://schemas.microsoft.com/office/drawing/2014/main" id="{D13F6288-0440-6FDF-D2B4-52BFB2F44EC5}"/>
              </a:ext>
            </a:extLst>
          </p:cNvPr>
          <p:cNvGrpSpPr/>
          <p:nvPr/>
        </p:nvGrpSpPr>
        <p:grpSpPr>
          <a:xfrm>
            <a:off x="7535601" y="3848738"/>
            <a:ext cx="895180" cy="832942"/>
            <a:chOff x="827350" y="3629733"/>
            <a:chExt cx="1431600" cy="1332067"/>
          </a:xfrm>
        </p:grpSpPr>
        <p:sp>
          <p:nvSpPr>
            <p:cNvPr id="416" name="Google Shape;416;p33">
              <a:extLst>
                <a:ext uri="{FF2B5EF4-FFF2-40B4-BE49-F238E27FC236}">
                  <a16:creationId xmlns:a16="http://schemas.microsoft.com/office/drawing/2014/main" id="{FFADAD52-AD9F-8720-B42C-FFAE8A620FAF}"/>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EEC2D9A6-7AD3-C1C5-4EC5-3B0045F26FEC}"/>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86909DC1-01D2-056D-C975-FC09366046F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a:extLst>
              <a:ext uri="{FF2B5EF4-FFF2-40B4-BE49-F238E27FC236}">
                <a16:creationId xmlns:a16="http://schemas.microsoft.com/office/drawing/2014/main" id="{CDA47C93-2A58-BE7C-1F26-EA15BCBA77BA}"/>
              </a:ext>
            </a:extLst>
          </p:cNvPr>
          <p:cNvGrpSpPr/>
          <p:nvPr/>
        </p:nvGrpSpPr>
        <p:grpSpPr>
          <a:xfrm>
            <a:off x="7902683" y="2980240"/>
            <a:ext cx="598982" cy="557337"/>
            <a:chOff x="827350" y="3629733"/>
            <a:chExt cx="1431600" cy="1332067"/>
          </a:xfrm>
        </p:grpSpPr>
        <p:sp>
          <p:nvSpPr>
            <p:cNvPr id="420" name="Google Shape;420;p33">
              <a:extLst>
                <a:ext uri="{FF2B5EF4-FFF2-40B4-BE49-F238E27FC236}">
                  <a16:creationId xmlns:a16="http://schemas.microsoft.com/office/drawing/2014/main" id="{8BCEE928-19BA-F507-0345-E0C03E7AFA03}"/>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83E4550B-0C59-9A14-72AB-82B4FAEC4567}"/>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0CDB4AC0-3396-31FA-15BD-B7292EDC086E}"/>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a:extLst>
              <a:ext uri="{FF2B5EF4-FFF2-40B4-BE49-F238E27FC236}">
                <a16:creationId xmlns:a16="http://schemas.microsoft.com/office/drawing/2014/main" id="{F18693D3-FD90-D5F7-7572-CCD50F23E139}"/>
              </a:ext>
            </a:extLst>
          </p:cNvPr>
          <p:cNvGrpSpPr/>
          <p:nvPr/>
        </p:nvGrpSpPr>
        <p:grpSpPr>
          <a:xfrm>
            <a:off x="6634531" y="4239131"/>
            <a:ext cx="464268" cy="431989"/>
            <a:chOff x="827350" y="3629733"/>
            <a:chExt cx="1431600" cy="1332067"/>
          </a:xfrm>
        </p:grpSpPr>
        <p:sp>
          <p:nvSpPr>
            <p:cNvPr id="424" name="Google Shape;424;p33">
              <a:extLst>
                <a:ext uri="{FF2B5EF4-FFF2-40B4-BE49-F238E27FC236}">
                  <a16:creationId xmlns:a16="http://schemas.microsoft.com/office/drawing/2014/main" id="{29CF6F11-B754-08E5-2C7F-F8A8B494C3B2}"/>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9294E072-8AEE-2B5A-EE08-E5FE4DACA5B7}"/>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0F380E0A-9E48-6594-5C5A-593DA8A34BBB}"/>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a:extLst>
              <a:ext uri="{FF2B5EF4-FFF2-40B4-BE49-F238E27FC236}">
                <a16:creationId xmlns:a16="http://schemas.microsoft.com/office/drawing/2014/main" id="{8D00D3B6-1FA5-66DD-D66F-59FDF45D0908}"/>
              </a:ext>
            </a:extLst>
          </p:cNvPr>
          <p:cNvGrpSpPr/>
          <p:nvPr/>
        </p:nvGrpSpPr>
        <p:grpSpPr>
          <a:xfrm rot="5400000">
            <a:off x="962657" y="3906771"/>
            <a:ext cx="288601" cy="1096693"/>
            <a:chOff x="1006700" y="2603975"/>
            <a:chExt cx="55450" cy="210700"/>
          </a:xfrm>
        </p:grpSpPr>
        <p:sp>
          <p:nvSpPr>
            <p:cNvPr id="428" name="Google Shape;428;p33">
              <a:extLst>
                <a:ext uri="{FF2B5EF4-FFF2-40B4-BE49-F238E27FC236}">
                  <a16:creationId xmlns:a16="http://schemas.microsoft.com/office/drawing/2014/main" id="{EC743A81-36F1-7F8D-E06D-8FD6F4BDE0B2}"/>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93F1E93C-4ED6-81CC-CDBB-0258E5C3C55C}"/>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00EBF8DA-D8F9-8352-A7A5-0DBBD52332FB}"/>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a:extLst>
                <a:ext uri="{FF2B5EF4-FFF2-40B4-BE49-F238E27FC236}">
                  <a16:creationId xmlns:a16="http://schemas.microsoft.com/office/drawing/2014/main" id="{03886286-3247-710B-07C0-C76DCD22684E}"/>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a:extLst>
                <a:ext uri="{FF2B5EF4-FFF2-40B4-BE49-F238E27FC236}">
                  <a16:creationId xmlns:a16="http://schemas.microsoft.com/office/drawing/2014/main" id="{F3A7F14B-586D-5A89-A286-E3E1371EE033}"/>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a:extLst>
                <a:ext uri="{FF2B5EF4-FFF2-40B4-BE49-F238E27FC236}">
                  <a16:creationId xmlns:a16="http://schemas.microsoft.com/office/drawing/2014/main" id="{DD42E29F-32F1-78AC-3E0B-9201ACBD8807}"/>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itle 2">
            <a:extLst>
              <a:ext uri="{FF2B5EF4-FFF2-40B4-BE49-F238E27FC236}">
                <a16:creationId xmlns:a16="http://schemas.microsoft.com/office/drawing/2014/main" id="{FBA809FD-BD77-90B5-67DF-3325EF2E7252}"/>
              </a:ext>
            </a:extLst>
          </p:cNvPr>
          <p:cNvSpPr>
            <a:spLocks noGrp="1"/>
          </p:cNvSpPr>
          <p:nvPr>
            <p:ph type="title"/>
          </p:nvPr>
        </p:nvSpPr>
        <p:spPr>
          <a:xfrm>
            <a:off x="962648" y="623454"/>
            <a:ext cx="7705800" cy="572700"/>
          </a:xfrm>
        </p:spPr>
        <p:txBody>
          <a:bodyPr/>
          <a:lstStyle/>
          <a:p>
            <a:r>
              <a:rPr lang="en-US" b="1" dirty="0">
                <a:solidFill>
                  <a:schemeClr val="bg1"/>
                </a:solidFill>
                <a:latin typeface="+mj-lt"/>
              </a:rPr>
              <a:t>MỘT SỐ HÌNH ẢNH MINH HOẠ</a:t>
            </a:r>
            <a:endParaRPr lang="vi-VN" b="1" dirty="0">
              <a:solidFill>
                <a:schemeClr val="bg1"/>
              </a:solidFill>
              <a:latin typeface="+mj-lt"/>
            </a:endParaRPr>
          </a:p>
        </p:txBody>
      </p:sp>
      <p:pic>
        <p:nvPicPr>
          <p:cNvPr id="10" name="Picture 9" descr="A purple and white robot&#10;&#10;AI-generated content may be incorrect.">
            <a:extLst>
              <a:ext uri="{FF2B5EF4-FFF2-40B4-BE49-F238E27FC236}">
                <a16:creationId xmlns:a16="http://schemas.microsoft.com/office/drawing/2014/main" id="{61AECE36-7B66-D778-437D-CAF6374E00B8}"/>
              </a:ext>
            </a:extLst>
          </p:cNvPr>
          <p:cNvPicPr>
            <a:picLocks noChangeAspect="1"/>
          </p:cNvPicPr>
          <p:nvPr/>
        </p:nvPicPr>
        <p:blipFill>
          <a:blip r:embed="rId3"/>
          <a:stretch>
            <a:fillRect/>
          </a:stretch>
        </p:blipFill>
        <p:spPr>
          <a:xfrm>
            <a:off x="770752" y="1426657"/>
            <a:ext cx="3862866" cy="21747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descr="A child and robot sitting at a table&#10;&#10;AI-generated content may be incorrect.">
            <a:extLst>
              <a:ext uri="{FF2B5EF4-FFF2-40B4-BE49-F238E27FC236}">
                <a16:creationId xmlns:a16="http://schemas.microsoft.com/office/drawing/2014/main" id="{F528A082-F8C4-2AA7-8E66-12658B8D787A}"/>
              </a:ext>
            </a:extLst>
          </p:cNvPr>
          <p:cNvPicPr>
            <a:picLocks noChangeAspect="1"/>
          </p:cNvPicPr>
          <p:nvPr/>
        </p:nvPicPr>
        <p:blipFill>
          <a:blip r:embed="rId4"/>
          <a:stretch>
            <a:fillRect/>
          </a:stretch>
        </p:blipFill>
        <p:spPr>
          <a:xfrm>
            <a:off x="5110382" y="2430469"/>
            <a:ext cx="3558066" cy="203254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360190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358F2F51-AFDA-5CE1-7E0D-B306AB1490C4}"/>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B46DE645-A083-2F7C-5CAD-13C3019CEF4D}"/>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1F013C7D-6619-5204-91AA-5CF92ECAB646}"/>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mj-lt"/>
              </a:rPr>
              <a:t>CHƯƠNG 5: ỨNG DỤNG THỰC TẾ</a:t>
            </a:r>
            <a:endParaRPr b="1" dirty="0">
              <a:latin typeface="+mj-lt"/>
            </a:endParaRPr>
          </a:p>
        </p:txBody>
      </p:sp>
      <p:grpSp>
        <p:nvGrpSpPr>
          <p:cNvPr id="797" name="Google Shape;797;p42">
            <a:extLst>
              <a:ext uri="{FF2B5EF4-FFF2-40B4-BE49-F238E27FC236}">
                <a16:creationId xmlns:a16="http://schemas.microsoft.com/office/drawing/2014/main" id="{48B83574-CD63-D777-9943-E9E0D043BECB}"/>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7903695B-CE6D-16A7-05CF-09C57285EDCC}"/>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B85472B1-A5FE-CFB2-F225-955A8D250CB7}"/>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40B22124-6C2A-9B74-204B-4C1ADC300AA1}"/>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A79C0215-0434-6F71-EC2D-C368746DD519}"/>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81F289AB-A7C3-4EE3-D9DE-7F2BA9E2632C}"/>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353918E0-86C1-AD97-3813-5FBE83C64638}"/>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0EB5A251-CC8E-BD32-06A4-280B32D14A7E}"/>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DAFF11E1-45C5-D1DA-1CFF-927E154F2E2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61BBEB64-2D67-309E-46AD-31B599E552F8}"/>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F187BE2E-DC28-0290-E35F-377B5A46F9AD}"/>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5C8946A8-908D-5FBB-C7D9-DD48E23109DD}"/>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AAF9B150-D35A-A915-3567-1AA64A9168FF}"/>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C464D645-379E-7BBC-BC96-52536967D167}"/>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86510D60-ECA2-F42A-68FD-120E3C338B98}"/>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BE1B3EF6-A7A6-4E53-EF0A-93328C144FA6}"/>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DB53DE43-1FC4-27FE-E397-CD9A8DC1F4AE}"/>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84005CB2-3E7A-C95C-5575-1B086AD497C2}"/>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E3A0F27B-8A8E-CA9D-C434-AECA2C6787E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6" name="Google Shape;796;p42">
            <a:extLst>
              <a:ext uri="{FF2B5EF4-FFF2-40B4-BE49-F238E27FC236}">
                <a16:creationId xmlns:a16="http://schemas.microsoft.com/office/drawing/2014/main" id="{2D8E8AB1-DC77-22AF-A87A-53585775A738}"/>
              </a:ext>
            </a:extLst>
          </p:cNvPr>
          <p:cNvSpPr txBox="1">
            <a:spLocks noGrp="1"/>
          </p:cNvSpPr>
          <p:nvPr>
            <p:ph type="body" idx="1"/>
          </p:nvPr>
        </p:nvSpPr>
        <p:spPr>
          <a:xfrm>
            <a:off x="713225" y="1246560"/>
            <a:ext cx="7704000" cy="2594700"/>
          </a:xfrm>
          <a:prstGeom prst="rect">
            <a:avLst/>
          </a:prstGeom>
        </p:spPr>
        <p:txBody>
          <a:bodyPr spcFirstLastPara="1" wrap="square" lIns="91425" tIns="91425" rIns="91425" bIns="91425" anchor="t" anchorCtr="0">
            <a:noAutofit/>
          </a:bodyPr>
          <a:lstStyle/>
          <a:p>
            <a:pPr lvl="1"/>
            <a:r>
              <a:rPr lang="vi-VN" b="1" dirty="0"/>
              <a:t>Lập trình – Phân tích mã</a:t>
            </a:r>
          </a:p>
          <a:p>
            <a:r>
              <a:rPr lang="vi-VN" dirty="0"/>
              <a:t>Trong lĩnh vực lập trình, các mô hình AI giúp hợp lý hóa việc phát triển và gỡ lỗi mã, giảm đáng kể sai sót và thời gian phát triển. ChatGPT được sử dụng rộng rãi để tạo đoạn mã bằng các ngôn ngữ như Python, nhờ khả năng xử lý ngôn ngữ tự nhiên để chuyển đổi ý tưởng thành mã thực thi. Một khảo sát của GitHub (2023) cho thấy 40% lập trình viên sử dụng ChatGPT để tạo bản nháp mã ban đầu, giúp tăng 25% năng suất.</a:t>
            </a:r>
            <a:endParaRPr lang="vi-VN" sz="1100" dirty="0"/>
          </a:p>
          <a:p>
            <a:r>
              <a:rPr lang="vi-VN" dirty="0"/>
              <a:t>GeminiAI bổ sung bằng khả năng phân tích mã nâng cao, tích hợp với các công cụ như Google Colab để phát hiện lỗ hổng và đề xuất tối ưu hóa. Grok, được xây dựng trên nền tảng của xAI, cung cấp các đánh giá mã chính xác nhưng hài hước, giúp người mới dễ tiếp cận hơn. Deepseek, với trọng tâm là hiệu suất, xử lý tốt các thuật toán phức tạp, chẳng hạn như thuật toán trong học máy. Ví dụ, Deepseek đã được áp dụng để tối ưu mã mạng nơ-ron, theo một nghiên cứu tình huống của DeepSeek AI (2024), giúp giảm 30% chi phí tính toán.</a:t>
            </a:r>
            <a:endParaRPr lang="vi-VN" sz="1100" dirty="0"/>
          </a:p>
          <a:p>
            <a:r>
              <a:rPr lang="vi-VN" dirty="0"/>
              <a:t>Dù mang lại nhiều lợi ích, vẫn tồn tại thách thức như rủi ro bảo mật từ mã do AI tạo ra, được cảnh báo trong một thông báo của CISA (2023). Vì thế, các mô hình này nâng cao quy trình lập trình, nhưng sự giám sát của con người vẫn rất quan trọng để đảm bảo phần mềm an toàn và mạnh mẽ.</a:t>
            </a:r>
            <a:endParaRPr lang="vi-VN" sz="1100" dirty="0"/>
          </a:p>
        </p:txBody>
      </p:sp>
      <p:grpSp>
        <p:nvGrpSpPr>
          <p:cNvPr id="2" name="Google Shape;804;p42">
            <a:extLst>
              <a:ext uri="{FF2B5EF4-FFF2-40B4-BE49-F238E27FC236}">
                <a16:creationId xmlns:a16="http://schemas.microsoft.com/office/drawing/2014/main" id="{E234D4EC-E99B-DE16-99EE-5D09152CD197}"/>
              </a:ext>
            </a:extLst>
          </p:cNvPr>
          <p:cNvGrpSpPr/>
          <p:nvPr/>
        </p:nvGrpSpPr>
        <p:grpSpPr>
          <a:xfrm>
            <a:off x="8034802" y="4079585"/>
            <a:ext cx="1096749" cy="1020364"/>
            <a:chOff x="827350" y="3629733"/>
            <a:chExt cx="1431600" cy="1332067"/>
          </a:xfrm>
        </p:grpSpPr>
        <p:sp>
          <p:nvSpPr>
            <p:cNvPr id="3" name="Google Shape;805;p42">
              <a:extLst>
                <a:ext uri="{FF2B5EF4-FFF2-40B4-BE49-F238E27FC236}">
                  <a16:creationId xmlns:a16="http://schemas.microsoft.com/office/drawing/2014/main" id="{90DA7139-A30A-DA1C-7F81-30EFA272169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06;p42">
              <a:extLst>
                <a:ext uri="{FF2B5EF4-FFF2-40B4-BE49-F238E27FC236}">
                  <a16:creationId xmlns:a16="http://schemas.microsoft.com/office/drawing/2014/main" id="{2A6D38AD-9587-433F-16DA-106545C93AC8}"/>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07;p42">
              <a:extLst>
                <a:ext uri="{FF2B5EF4-FFF2-40B4-BE49-F238E27FC236}">
                  <a16:creationId xmlns:a16="http://schemas.microsoft.com/office/drawing/2014/main" id="{CE8C98C4-1B59-D7F9-CEA4-F13C8B82BA3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804;p42">
            <a:extLst>
              <a:ext uri="{FF2B5EF4-FFF2-40B4-BE49-F238E27FC236}">
                <a16:creationId xmlns:a16="http://schemas.microsoft.com/office/drawing/2014/main" id="{E61B30BC-4CF8-37C6-D563-38857B770EF7}"/>
              </a:ext>
            </a:extLst>
          </p:cNvPr>
          <p:cNvGrpSpPr/>
          <p:nvPr/>
        </p:nvGrpSpPr>
        <p:grpSpPr>
          <a:xfrm>
            <a:off x="8187202" y="4231985"/>
            <a:ext cx="1096749" cy="1020364"/>
            <a:chOff x="827350" y="3629733"/>
            <a:chExt cx="1431600" cy="1332067"/>
          </a:xfrm>
        </p:grpSpPr>
        <p:sp>
          <p:nvSpPr>
            <p:cNvPr id="7" name="Google Shape;805;p42">
              <a:extLst>
                <a:ext uri="{FF2B5EF4-FFF2-40B4-BE49-F238E27FC236}">
                  <a16:creationId xmlns:a16="http://schemas.microsoft.com/office/drawing/2014/main" id="{DD110E6B-77E2-8F1F-5594-DAD722DB675C}"/>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06;p42">
              <a:extLst>
                <a:ext uri="{FF2B5EF4-FFF2-40B4-BE49-F238E27FC236}">
                  <a16:creationId xmlns:a16="http://schemas.microsoft.com/office/drawing/2014/main" id="{661BBA7C-4F16-041C-5738-34F6C64422A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07;p42">
              <a:extLst>
                <a:ext uri="{FF2B5EF4-FFF2-40B4-BE49-F238E27FC236}">
                  <a16:creationId xmlns:a16="http://schemas.microsoft.com/office/drawing/2014/main" id="{AF735162-7F40-B3C8-0FFC-DC1EE4396221}"/>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48454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EF853DC8-619B-967A-285A-D439DC61F5E7}"/>
            </a:ext>
          </a:extLst>
        </p:cNvPr>
        <p:cNvGrpSpPr/>
        <p:nvPr/>
      </p:nvGrpSpPr>
      <p:grpSpPr>
        <a:xfrm>
          <a:off x="0" y="0"/>
          <a:ext cx="0" cy="0"/>
          <a:chOff x="0" y="0"/>
          <a:chExt cx="0" cy="0"/>
        </a:xfrm>
      </p:grpSpPr>
      <p:grpSp>
        <p:nvGrpSpPr>
          <p:cNvPr id="400" name="Google Shape;400;p33">
            <a:extLst>
              <a:ext uri="{FF2B5EF4-FFF2-40B4-BE49-F238E27FC236}">
                <a16:creationId xmlns:a16="http://schemas.microsoft.com/office/drawing/2014/main" id="{A3A062D8-0559-2CA3-FBAD-7928563B36F4}"/>
              </a:ext>
            </a:extLst>
          </p:cNvPr>
          <p:cNvGrpSpPr/>
          <p:nvPr/>
        </p:nvGrpSpPr>
        <p:grpSpPr>
          <a:xfrm rot="10800000">
            <a:off x="8057882" y="382596"/>
            <a:ext cx="288601" cy="1096693"/>
            <a:chOff x="1006700" y="2603975"/>
            <a:chExt cx="55450" cy="210700"/>
          </a:xfrm>
        </p:grpSpPr>
        <p:sp>
          <p:nvSpPr>
            <p:cNvPr id="401" name="Google Shape;401;p33">
              <a:extLst>
                <a:ext uri="{FF2B5EF4-FFF2-40B4-BE49-F238E27FC236}">
                  <a16:creationId xmlns:a16="http://schemas.microsoft.com/office/drawing/2014/main" id="{EB2E49AF-881C-F0A9-79ED-6EC531366D99}"/>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a:extLst>
                <a:ext uri="{FF2B5EF4-FFF2-40B4-BE49-F238E27FC236}">
                  <a16:creationId xmlns:a16="http://schemas.microsoft.com/office/drawing/2014/main" id="{43DCA10A-7197-D13D-FAB2-8ECA35C97714}"/>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a:extLst>
                <a:ext uri="{FF2B5EF4-FFF2-40B4-BE49-F238E27FC236}">
                  <a16:creationId xmlns:a16="http://schemas.microsoft.com/office/drawing/2014/main" id="{CB47E0DD-42DD-ACF1-4FFB-F559F330CC95}"/>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a:extLst>
                <a:ext uri="{FF2B5EF4-FFF2-40B4-BE49-F238E27FC236}">
                  <a16:creationId xmlns:a16="http://schemas.microsoft.com/office/drawing/2014/main" id="{A0FEC08C-9293-9C42-FCA3-D7DE41DF4426}"/>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a:extLst>
                <a:ext uri="{FF2B5EF4-FFF2-40B4-BE49-F238E27FC236}">
                  <a16:creationId xmlns:a16="http://schemas.microsoft.com/office/drawing/2014/main" id="{B53454DC-9826-F027-9CB8-367961C69AF9}"/>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a:extLst>
                <a:ext uri="{FF2B5EF4-FFF2-40B4-BE49-F238E27FC236}">
                  <a16:creationId xmlns:a16="http://schemas.microsoft.com/office/drawing/2014/main" id="{3120287C-754E-F02B-8AC9-195F3F432A72}"/>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a:extLst>
              <a:ext uri="{FF2B5EF4-FFF2-40B4-BE49-F238E27FC236}">
                <a16:creationId xmlns:a16="http://schemas.microsoft.com/office/drawing/2014/main" id="{44310508-3B5A-4621-A221-7E63015F29D4}"/>
              </a:ext>
            </a:extLst>
          </p:cNvPr>
          <p:cNvGrpSpPr/>
          <p:nvPr/>
        </p:nvGrpSpPr>
        <p:grpSpPr>
          <a:xfrm>
            <a:off x="558602" y="508321"/>
            <a:ext cx="781224" cy="726909"/>
            <a:chOff x="827350" y="3629733"/>
            <a:chExt cx="1431600" cy="1332067"/>
          </a:xfrm>
        </p:grpSpPr>
        <p:sp>
          <p:nvSpPr>
            <p:cNvPr id="408" name="Google Shape;408;p33">
              <a:extLst>
                <a:ext uri="{FF2B5EF4-FFF2-40B4-BE49-F238E27FC236}">
                  <a16:creationId xmlns:a16="http://schemas.microsoft.com/office/drawing/2014/main" id="{04B18F24-91D8-BEC1-55E6-5D72BDCE2747}"/>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a:extLst>
                <a:ext uri="{FF2B5EF4-FFF2-40B4-BE49-F238E27FC236}">
                  <a16:creationId xmlns:a16="http://schemas.microsoft.com/office/drawing/2014/main" id="{09F38780-553A-7914-1081-79C18BAB2C26}"/>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a:extLst>
                <a:ext uri="{FF2B5EF4-FFF2-40B4-BE49-F238E27FC236}">
                  <a16:creationId xmlns:a16="http://schemas.microsoft.com/office/drawing/2014/main" id="{C79CD392-BD12-1ECF-0C19-28F3C0E22134}"/>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a:extLst>
              <a:ext uri="{FF2B5EF4-FFF2-40B4-BE49-F238E27FC236}">
                <a16:creationId xmlns:a16="http://schemas.microsoft.com/office/drawing/2014/main" id="{8DD5AC45-CA18-A405-86F5-FDF279B7CC98}"/>
              </a:ext>
            </a:extLst>
          </p:cNvPr>
          <p:cNvGrpSpPr/>
          <p:nvPr/>
        </p:nvGrpSpPr>
        <p:grpSpPr>
          <a:xfrm>
            <a:off x="1387564" y="321673"/>
            <a:ext cx="356325" cy="331552"/>
            <a:chOff x="827350" y="3629733"/>
            <a:chExt cx="1431600" cy="1332067"/>
          </a:xfrm>
        </p:grpSpPr>
        <p:sp>
          <p:nvSpPr>
            <p:cNvPr id="412" name="Google Shape;412;p33">
              <a:extLst>
                <a:ext uri="{FF2B5EF4-FFF2-40B4-BE49-F238E27FC236}">
                  <a16:creationId xmlns:a16="http://schemas.microsoft.com/office/drawing/2014/main" id="{ECB030F8-8498-3EA2-1ECE-B3BF00D0049F}"/>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C5A5E009-9C5A-4937-C7E4-5D6ECCEAB7C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095FA209-253C-2553-7E70-2A5535C8CF62}"/>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a:extLst>
              <a:ext uri="{FF2B5EF4-FFF2-40B4-BE49-F238E27FC236}">
                <a16:creationId xmlns:a16="http://schemas.microsoft.com/office/drawing/2014/main" id="{B40AAE65-D37D-9380-B285-EEBD24841BF6}"/>
              </a:ext>
            </a:extLst>
          </p:cNvPr>
          <p:cNvGrpSpPr/>
          <p:nvPr/>
        </p:nvGrpSpPr>
        <p:grpSpPr>
          <a:xfrm>
            <a:off x="7535601" y="3848738"/>
            <a:ext cx="895180" cy="832942"/>
            <a:chOff x="827350" y="3629733"/>
            <a:chExt cx="1431600" cy="1332067"/>
          </a:xfrm>
        </p:grpSpPr>
        <p:sp>
          <p:nvSpPr>
            <p:cNvPr id="416" name="Google Shape;416;p33">
              <a:extLst>
                <a:ext uri="{FF2B5EF4-FFF2-40B4-BE49-F238E27FC236}">
                  <a16:creationId xmlns:a16="http://schemas.microsoft.com/office/drawing/2014/main" id="{168CE956-D9E5-EC06-2AB0-40BCF97F066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1F9E26F9-5806-DE77-C3A4-AAB28A9677CA}"/>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552B3844-DF52-16C8-4A3B-FA0F849FF21A}"/>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a:extLst>
              <a:ext uri="{FF2B5EF4-FFF2-40B4-BE49-F238E27FC236}">
                <a16:creationId xmlns:a16="http://schemas.microsoft.com/office/drawing/2014/main" id="{9DA19270-E00E-8355-6531-62B96F3C0D23}"/>
              </a:ext>
            </a:extLst>
          </p:cNvPr>
          <p:cNvGrpSpPr/>
          <p:nvPr/>
        </p:nvGrpSpPr>
        <p:grpSpPr>
          <a:xfrm>
            <a:off x="7902683" y="2980240"/>
            <a:ext cx="598982" cy="557337"/>
            <a:chOff x="827350" y="3629733"/>
            <a:chExt cx="1431600" cy="1332067"/>
          </a:xfrm>
        </p:grpSpPr>
        <p:sp>
          <p:nvSpPr>
            <p:cNvPr id="420" name="Google Shape;420;p33">
              <a:extLst>
                <a:ext uri="{FF2B5EF4-FFF2-40B4-BE49-F238E27FC236}">
                  <a16:creationId xmlns:a16="http://schemas.microsoft.com/office/drawing/2014/main" id="{CD7EEAEC-E279-BBBE-E675-B866FAC34B0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741E5457-4070-C530-7318-81F78452669E}"/>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5EC3DCCB-630D-2F0B-CDB7-C85B5A3C325B}"/>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a:extLst>
              <a:ext uri="{FF2B5EF4-FFF2-40B4-BE49-F238E27FC236}">
                <a16:creationId xmlns:a16="http://schemas.microsoft.com/office/drawing/2014/main" id="{CD31B363-4DF2-7FB6-7583-AF53B5CE718D}"/>
              </a:ext>
            </a:extLst>
          </p:cNvPr>
          <p:cNvGrpSpPr/>
          <p:nvPr/>
        </p:nvGrpSpPr>
        <p:grpSpPr>
          <a:xfrm>
            <a:off x="6634531" y="4239131"/>
            <a:ext cx="464268" cy="431989"/>
            <a:chOff x="827350" y="3629733"/>
            <a:chExt cx="1431600" cy="1332067"/>
          </a:xfrm>
        </p:grpSpPr>
        <p:sp>
          <p:nvSpPr>
            <p:cNvPr id="424" name="Google Shape;424;p33">
              <a:extLst>
                <a:ext uri="{FF2B5EF4-FFF2-40B4-BE49-F238E27FC236}">
                  <a16:creationId xmlns:a16="http://schemas.microsoft.com/office/drawing/2014/main" id="{65E17926-6E53-6788-8868-41788CAFE85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2C7425E4-66E0-35B3-EE0E-CF4B60572DD5}"/>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3ACDC9A9-47F4-3317-A39F-0DBB5AB08460}"/>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a:extLst>
              <a:ext uri="{FF2B5EF4-FFF2-40B4-BE49-F238E27FC236}">
                <a16:creationId xmlns:a16="http://schemas.microsoft.com/office/drawing/2014/main" id="{9CBEEF73-8FCB-7802-3561-C4CD0EF197E6}"/>
              </a:ext>
            </a:extLst>
          </p:cNvPr>
          <p:cNvGrpSpPr/>
          <p:nvPr/>
        </p:nvGrpSpPr>
        <p:grpSpPr>
          <a:xfrm rot="5400000">
            <a:off x="962657" y="3906771"/>
            <a:ext cx="288601" cy="1096693"/>
            <a:chOff x="1006700" y="2603975"/>
            <a:chExt cx="55450" cy="210700"/>
          </a:xfrm>
        </p:grpSpPr>
        <p:sp>
          <p:nvSpPr>
            <p:cNvPr id="428" name="Google Shape;428;p33">
              <a:extLst>
                <a:ext uri="{FF2B5EF4-FFF2-40B4-BE49-F238E27FC236}">
                  <a16:creationId xmlns:a16="http://schemas.microsoft.com/office/drawing/2014/main" id="{F776F0B1-9B11-E756-E8F0-AA2E1DB5729F}"/>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2D62CB3A-503D-12E8-6502-A185B3950175}"/>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97957FB0-BDE6-7668-2948-BD89DD9F8EBD}"/>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a:extLst>
                <a:ext uri="{FF2B5EF4-FFF2-40B4-BE49-F238E27FC236}">
                  <a16:creationId xmlns:a16="http://schemas.microsoft.com/office/drawing/2014/main" id="{67DF7648-C1AF-9E40-9E45-0AD8DD26DBC7}"/>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a:extLst>
                <a:ext uri="{FF2B5EF4-FFF2-40B4-BE49-F238E27FC236}">
                  <a16:creationId xmlns:a16="http://schemas.microsoft.com/office/drawing/2014/main" id="{0F4983B8-1861-4462-D5FA-9BD838C891A1}"/>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a:extLst>
                <a:ext uri="{FF2B5EF4-FFF2-40B4-BE49-F238E27FC236}">
                  <a16:creationId xmlns:a16="http://schemas.microsoft.com/office/drawing/2014/main" id="{83FFD0E9-6AF2-D9E5-278F-942AD18EEC71}"/>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itle 2">
            <a:extLst>
              <a:ext uri="{FF2B5EF4-FFF2-40B4-BE49-F238E27FC236}">
                <a16:creationId xmlns:a16="http://schemas.microsoft.com/office/drawing/2014/main" id="{E00E3C69-2EA6-4280-A807-00FEB1E467AF}"/>
              </a:ext>
            </a:extLst>
          </p:cNvPr>
          <p:cNvSpPr>
            <a:spLocks noGrp="1"/>
          </p:cNvSpPr>
          <p:nvPr>
            <p:ph type="title"/>
          </p:nvPr>
        </p:nvSpPr>
        <p:spPr>
          <a:xfrm>
            <a:off x="1077877" y="909804"/>
            <a:ext cx="7705800" cy="572700"/>
          </a:xfrm>
        </p:spPr>
        <p:txBody>
          <a:bodyPr/>
          <a:lstStyle/>
          <a:p>
            <a:r>
              <a:rPr lang="en-US" b="1" dirty="0">
                <a:solidFill>
                  <a:schemeClr val="bg1"/>
                </a:solidFill>
                <a:latin typeface="+mj-lt"/>
              </a:rPr>
              <a:t>MỘT SỐ HÌNH ẢNH MINH HOẠ</a:t>
            </a:r>
            <a:endParaRPr lang="vi-VN" b="1" dirty="0">
              <a:solidFill>
                <a:schemeClr val="bg1"/>
              </a:solidFill>
              <a:latin typeface="+mj-lt"/>
            </a:endParaRPr>
          </a:p>
        </p:txBody>
      </p:sp>
      <p:pic>
        <p:nvPicPr>
          <p:cNvPr id="5" name="Picture 4">
            <a:extLst>
              <a:ext uri="{FF2B5EF4-FFF2-40B4-BE49-F238E27FC236}">
                <a16:creationId xmlns:a16="http://schemas.microsoft.com/office/drawing/2014/main" id="{64271D3E-4D37-BA3F-3388-7D9FA4FDD05D}"/>
              </a:ext>
            </a:extLst>
          </p:cNvPr>
          <p:cNvPicPr>
            <a:picLocks noChangeAspect="1"/>
          </p:cNvPicPr>
          <p:nvPr/>
        </p:nvPicPr>
        <p:blipFill>
          <a:blip r:embed="rId3"/>
          <a:srcRect t="7775" b="7775"/>
          <a:stretch/>
        </p:blipFill>
        <p:spPr>
          <a:xfrm>
            <a:off x="885981" y="1713007"/>
            <a:ext cx="3862866" cy="21747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Picture 5">
            <a:extLst>
              <a:ext uri="{FF2B5EF4-FFF2-40B4-BE49-F238E27FC236}">
                <a16:creationId xmlns:a16="http://schemas.microsoft.com/office/drawing/2014/main" id="{D91836B4-C8EB-6B08-F97E-B90DCD7D553D}"/>
              </a:ext>
            </a:extLst>
          </p:cNvPr>
          <p:cNvPicPr>
            <a:picLocks noChangeAspect="1"/>
          </p:cNvPicPr>
          <p:nvPr/>
        </p:nvPicPr>
        <p:blipFill>
          <a:blip r:embed="rId4"/>
          <a:srcRect l="766" r="766"/>
          <a:stretch/>
        </p:blipFill>
        <p:spPr>
          <a:xfrm>
            <a:off x="5225611" y="2716819"/>
            <a:ext cx="3558066" cy="203254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8447116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97FABCF1-74B3-AC0A-15DF-A4454FB2F8D1}"/>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F52C5BD7-480C-BE1D-7F2D-4399D39CD274}"/>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33019128-B9F6-8602-4B88-0C9B10CCD7D5}"/>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mj-lt"/>
              </a:rPr>
              <a:t>CHƯƠNG 5: ỨNG DỤNG THỰC TẾ</a:t>
            </a:r>
            <a:endParaRPr b="1" dirty="0">
              <a:latin typeface="+mj-lt"/>
            </a:endParaRPr>
          </a:p>
        </p:txBody>
      </p:sp>
      <p:grpSp>
        <p:nvGrpSpPr>
          <p:cNvPr id="797" name="Google Shape;797;p42">
            <a:extLst>
              <a:ext uri="{FF2B5EF4-FFF2-40B4-BE49-F238E27FC236}">
                <a16:creationId xmlns:a16="http://schemas.microsoft.com/office/drawing/2014/main" id="{74ECBC28-BE49-A490-D6F7-9DDF82624BC6}"/>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2DC0D755-1288-E111-9F88-0F3A710F2E31}"/>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9F82AD66-E719-DDC6-A66A-E6C11AD99791}"/>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BA761E3E-E33D-A952-69C1-865844B4FE35}"/>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EC79F19B-4B62-9CEE-F61A-B6CECC120B4D}"/>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C008B9D1-2368-53C3-9773-D0A43A58C76B}"/>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E6DA260D-08BE-B16E-3F17-0C45F5010B8D}"/>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8A032104-6B05-7E13-D55F-AB330DF3D452}"/>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2615DC91-A888-C4D8-F362-75C8210C416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D7F4A88D-CD8D-6589-593A-333150A56893}"/>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5B3D4458-65D0-719C-B3CD-02D4DCF60764}"/>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A87450B5-DAC2-E4C4-8429-FD38D561043E}"/>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613F4EDC-7E13-6E6C-83E1-219E355FE08F}"/>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B6BDE830-94B0-BA98-0147-30D68C13F40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40074F19-54DA-E55E-BD48-197F324D913B}"/>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5EF6BFA2-7C4C-02F5-984F-7C857A217870}"/>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C0E3A9C0-496A-7397-BAF1-F1D2FB6C44B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58EA48A2-5F95-9D2C-74A6-A37118C64DF0}"/>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BEDE8FDA-E8BC-957A-0FF9-865ADE894626}"/>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6" name="Google Shape;796;p42">
            <a:extLst>
              <a:ext uri="{FF2B5EF4-FFF2-40B4-BE49-F238E27FC236}">
                <a16:creationId xmlns:a16="http://schemas.microsoft.com/office/drawing/2014/main" id="{5FE1E4B7-9306-56AE-C068-35B070FD8886}"/>
              </a:ext>
            </a:extLst>
          </p:cNvPr>
          <p:cNvSpPr txBox="1">
            <a:spLocks noGrp="1"/>
          </p:cNvSpPr>
          <p:nvPr>
            <p:ph type="body" idx="1"/>
          </p:nvPr>
        </p:nvSpPr>
        <p:spPr>
          <a:xfrm>
            <a:off x="713225" y="1246560"/>
            <a:ext cx="7704000" cy="2594700"/>
          </a:xfrm>
          <a:prstGeom prst="rect">
            <a:avLst/>
          </a:prstGeom>
        </p:spPr>
        <p:txBody>
          <a:bodyPr spcFirstLastPara="1" wrap="square" lIns="91425" tIns="91425" rIns="91425" bIns="91425" anchor="t" anchorCtr="0">
            <a:noAutofit/>
          </a:bodyPr>
          <a:lstStyle/>
          <a:p>
            <a:pPr lvl="1"/>
            <a:r>
              <a:rPr lang="vi-VN" b="1" dirty="0"/>
              <a:t>Hỗ trợ doanh nghiệp</a:t>
            </a:r>
          </a:p>
          <a:p>
            <a:r>
              <a:rPr lang="vi-VN" dirty="0"/>
              <a:t>Các mô hình AI mang lại hỗ trợ đáng kể cho doanh nghiệp thông qua tự động hóa và cung cấp thông tin dựa trên dữ liệu. ChatGPT hỗ trợ tạo nội dung cho marketing, chẳng hạn soạn email hoặc báo cáo, giúp doanh nghiệp mở rộng quy mô giao tiếp. Báo cáo của McKinsey (2023) ước tính rằng các công cụ AI như ChatGPT có thể tự động hóa tới 30% công việc hành chính, giúp doanh nghiệp tiết kiệm hàng triệu đô mỗi năm.</a:t>
            </a:r>
            <a:endParaRPr lang="vi-VN" sz="1100" dirty="0"/>
          </a:p>
          <a:p>
            <a:r>
              <a:rPr lang="vi-VN" dirty="0"/>
              <a:t>GeminiAI nổi bật trong phân tích dữ liệu nhờ khả năng tích hợp với hệ thống doanh nghiệp để tạo các mô hình dự đoán, chẳng hạn như quản lý tồn kho, được minh họa trong các nghiên cứu điển hình về bán lẻ của Google (2024). Khả năng truy vấn theo thời gian thực của Grok hỗ trợ chatbot chăm sóc khách hàng, cung cấp phản hồi dí dỏm, tăng sự hài lòng của người dùng. Deepseek, với khả năng xử lý chi phí thấp, phù hợp cho các startup phân tích xu hướng thị trường.</a:t>
            </a:r>
            <a:endParaRPr lang="vi-VN" sz="1100" dirty="0"/>
          </a:p>
          <a:p>
            <a:r>
              <a:rPr lang="vi-VN" dirty="0"/>
              <a:t>Ví dụ, một nghiên cứu của Deloitte (2024) cho thấy các doanh nghiệp sử dụng AI cho ra quyết định đã ghi nhận mức tăng 15% hiệu quả vận hành. Tuy nhiên, các vấn đề như quyền riêng tư dữ liệu và sự thiên lệch thuật toán vẫn là rủi ro, như được nhấn mạnh trong Đạo luật AI của Ủy ban Châu Âu (2024). Do đó, các mô hình này thúc đẩy đổi mới kinh doanh, nhưng cần các khung đạo đức rõ ràng để giảm thiểu hậu quả ngoài ý muốn.</a:t>
            </a:r>
            <a:endParaRPr lang="vi-VN" sz="1100" dirty="0"/>
          </a:p>
        </p:txBody>
      </p:sp>
      <p:grpSp>
        <p:nvGrpSpPr>
          <p:cNvPr id="2" name="Google Shape;804;p42">
            <a:extLst>
              <a:ext uri="{FF2B5EF4-FFF2-40B4-BE49-F238E27FC236}">
                <a16:creationId xmlns:a16="http://schemas.microsoft.com/office/drawing/2014/main" id="{68CCA8FB-1021-CF05-4A19-7EC65FE4C935}"/>
              </a:ext>
            </a:extLst>
          </p:cNvPr>
          <p:cNvGrpSpPr/>
          <p:nvPr/>
        </p:nvGrpSpPr>
        <p:grpSpPr>
          <a:xfrm>
            <a:off x="8034802" y="4079585"/>
            <a:ext cx="1096749" cy="1020364"/>
            <a:chOff x="827350" y="3629733"/>
            <a:chExt cx="1431600" cy="1332067"/>
          </a:xfrm>
        </p:grpSpPr>
        <p:sp>
          <p:nvSpPr>
            <p:cNvPr id="3" name="Google Shape;805;p42">
              <a:extLst>
                <a:ext uri="{FF2B5EF4-FFF2-40B4-BE49-F238E27FC236}">
                  <a16:creationId xmlns:a16="http://schemas.microsoft.com/office/drawing/2014/main" id="{709FC332-22F2-E75A-F11C-FC1BDE91489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06;p42">
              <a:extLst>
                <a:ext uri="{FF2B5EF4-FFF2-40B4-BE49-F238E27FC236}">
                  <a16:creationId xmlns:a16="http://schemas.microsoft.com/office/drawing/2014/main" id="{68BF41C4-2EC5-062C-15B3-930FEA423088}"/>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07;p42">
              <a:extLst>
                <a:ext uri="{FF2B5EF4-FFF2-40B4-BE49-F238E27FC236}">
                  <a16:creationId xmlns:a16="http://schemas.microsoft.com/office/drawing/2014/main" id="{5FA61D75-0B08-80C8-10BA-89E9F78CE9DE}"/>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804;p42">
            <a:extLst>
              <a:ext uri="{FF2B5EF4-FFF2-40B4-BE49-F238E27FC236}">
                <a16:creationId xmlns:a16="http://schemas.microsoft.com/office/drawing/2014/main" id="{69AA15B8-3E98-67BE-A4AB-2CA09411551B}"/>
              </a:ext>
            </a:extLst>
          </p:cNvPr>
          <p:cNvGrpSpPr/>
          <p:nvPr/>
        </p:nvGrpSpPr>
        <p:grpSpPr>
          <a:xfrm>
            <a:off x="8187202" y="4231985"/>
            <a:ext cx="1096749" cy="1020364"/>
            <a:chOff x="827350" y="3629733"/>
            <a:chExt cx="1431600" cy="1332067"/>
          </a:xfrm>
        </p:grpSpPr>
        <p:sp>
          <p:nvSpPr>
            <p:cNvPr id="7" name="Google Shape;805;p42">
              <a:extLst>
                <a:ext uri="{FF2B5EF4-FFF2-40B4-BE49-F238E27FC236}">
                  <a16:creationId xmlns:a16="http://schemas.microsoft.com/office/drawing/2014/main" id="{24F08203-6A0A-8378-9954-0C59ACC6926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06;p42">
              <a:extLst>
                <a:ext uri="{FF2B5EF4-FFF2-40B4-BE49-F238E27FC236}">
                  <a16:creationId xmlns:a16="http://schemas.microsoft.com/office/drawing/2014/main" id="{66D1C1CA-10CC-8D70-E247-E3FF95D0AC2A}"/>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07;p42">
              <a:extLst>
                <a:ext uri="{FF2B5EF4-FFF2-40B4-BE49-F238E27FC236}">
                  <a16:creationId xmlns:a16="http://schemas.microsoft.com/office/drawing/2014/main" id="{659EE777-58D5-5043-9557-934C5C5C3AB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012880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CED05C3E-5DF6-2FA8-BC6F-3F0CFECC5BEE}"/>
            </a:ext>
          </a:extLst>
        </p:cNvPr>
        <p:cNvGrpSpPr/>
        <p:nvPr/>
      </p:nvGrpSpPr>
      <p:grpSpPr>
        <a:xfrm>
          <a:off x="0" y="0"/>
          <a:ext cx="0" cy="0"/>
          <a:chOff x="0" y="0"/>
          <a:chExt cx="0" cy="0"/>
        </a:xfrm>
      </p:grpSpPr>
      <p:grpSp>
        <p:nvGrpSpPr>
          <p:cNvPr id="400" name="Google Shape;400;p33">
            <a:extLst>
              <a:ext uri="{FF2B5EF4-FFF2-40B4-BE49-F238E27FC236}">
                <a16:creationId xmlns:a16="http://schemas.microsoft.com/office/drawing/2014/main" id="{CDD2EE83-6ADF-4ADB-0D68-D4C17C77B830}"/>
              </a:ext>
            </a:extLst>
          </p:cNvPr>
          <p:cNvGrpSpPr/>
          <p:nvPr/>
        </p:nvGrpSpPr>
        <p:grpSpPr>
          <a:xfrm rot="10800000">
            <a:off x="8057882" y="382596"/>
            <a:ext cx="288601" cy="1096693"/>
            <a:chOff x="1006700" y="2603975"/>
            <a:chExt cx="55450" cy="210700"/>
          </a:xfrm>
        </p:grpSpPr>
        <p:sp>
          <p:nvSpPr>
            <p:cNvPr id="401" name="Google Shape;401;p33">
              <a:extLst>
                <a:ext uri="{FF2B5EF4-FFF2-40B4-BE49-F238E27FC236}">
                  <a16:creationId xmlns:a16="http://schemas.microsoft.com/office/drawing/2014/main" id="{E84B87DD-1EBB-3DB3-F106-53336C31E6D3}"/>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a:extLst>
                <a:ext uri="{FF2B5EF4-FFF2-40B4-BE49-F238E27FC236}">
                  <a16:creationId xmlns:a16="http://schemas.microsoft.com/office/drawing/2014/main" id="{26608771-FDD0-2DA9-D3D8-990DFC656B58}"/>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a:extLst>
                <a:ext uri="{FF2B5EF4-FFF2-40B4-BE49-F238E27FC236}">
                  <a16:creationId xmlns:a16="http://schemas.microsoft.com/office/drawing/2014/main" id="{E6AC4C5E-FB20-5093-BDE7-F992F4CA9D08}"/>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a:extLst>
                <a:ext uri="{FF2B5EF4-FFF2-40B4-BE49-F238E27FC236}">
                  <a16:creationId xmlns:a16="http://schemas.microsoft.com/office/drawing/2014/main" id="{E6E900B8-AD14-FF6D-3EE5-34DB2C6C2B0E}"/>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a:extLst>
                <a:ext uri="{FF2B5EF4-FFF2-40B4-BE49-F238E27FC236}">
                  <a16:creationId xmlns:a16="http://schemas.microsoft.com/office/drawing/2014/main" id="{8FEAC50D-C2D2-8BE6-7EE0-BE1DE0D5CCAC}"/>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a:extLst>
                <a:ext uri="{FF2B5EF4-FFF2-40B4-BE49-F238E27FC236}">
                  <a16:creationId xmlns:a16="http://schemas.microsoft.com/office/drawing/2014/main" id="{96388B43-3230-0970-2E83-8EDC0721B398}"/>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a:extLst>
              <a:ext uri="{FF2B5EF4-FFF2-40B4-BE49-F238E27FC236}">
                <a16:creationId xmlns:a16="http://schemas.microsoft.com/office/drawing/2014/main" id="{F5377B53-BEF2-F14C-AB2A-C1F6AD798301}"/>
              </a:ext>
            </a:extLst>
          </p:cNvPr>
          <p:cNvGrpSpPr/>
          <p:nvPr/>
        </p:nvGrpSpPr>
        <p:grpSpPr>
          <a:xfrm>
            <a:off x="558602" y="508321"/>
            <a:ext cx="781224" cy="726909"/>
            <a:chOff x="827350" y="3629733"/>
            <a:chExt cx="1431600" cy="1332067"/>
          </a:xfrm>
        </p:grpSpPr>
        <p:sp>
          <p:nvSpPr>
            <p:cNvPr id="408" name="Google Shape;408;p33">
              <a:extLst>
                <a:ext uri="{FF2B5EF4-FFF2-40B4-BE49-F238E27FC236}">
                  <a16:creationId xmlns:a16="http://schemas.microsoft.com/office/drawing/2014/main" id="{950598A6-FB30-C313-3E2E-0AAFB327B4C6}"/>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a:extLst>
                <a:ext uri="{FF2B5EF4-FFF2-40B4-BE49-F238E27FC236}">
                  <a16:creationId xmlns:a16="http://schemas.microsoft.com/office/drawing/2014/main" id="{6A6D2C72-61C4-78BD-538A-A820995FDCC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a:extLst>
                <a:ext uri="{FF2B5EF4-FFF2-40B4-BE49-F238E27FC236}">
                  <a16:creationId xmlns:a16="http://schemas.microsoft.com/office/drawing/2014/main" id="{66F6BFB9-875D-11E3-3C1C-D9E0F0E638DC}"/>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a:extLst>
              <a:ext uri="{FF2B5EF4-FFF2-40B4-BE49-F238E27FC236}">
                <a16:creationId xmlns:a16="http://schemas.microsoft.com/office/drawing/2014/main" id="{60895BAA-7653-1BA2-2C6E-C54827F50D83}"/>
              </a:ext>
            </a:extLst>
          </p:cNvPr>
          <p:cNvGrpSpPr/>
          <p:nvPr/>
        </p:nvGrpSpPr>
        <p:grpSpPr>
          <a:xfrm>
            <a:off x="1387564" y="321673"/>
            <a:ext cx="356325" cy="331552"/>
            <a:chOff x="827350" y="3629733"/>
            <a:chExt cx="1431600" cy="1332067"/>
          </a:xfrm>
        </p:grpSpPr>
        <p:sp>
          <p:nvSpPr>
            <p:cNvPr id="412" name="Google Shape;412;p33">
              <a:extLst>
                <a:ext uri="{FF2B5EF4-FFF2-40B4-BE49-F238E27FC236}">
                  <a16:creationId xmlns:a16="http://schemas.microsoft.com/office/drawing/2014/main" id="{543C36A2-AC02-519A-ECAB-448A64919DA9}"/>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FDD1B5AD-5F6D-B006-C6AC-A1ABCDF5D8FC}"/>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BC6F27B7-1535-21FB-B07C-97511E1FE9C8}"/>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a:extLst>
              <a:ext uri="{FF2B5EF4-FFF2-40B4-BE49-F238E27FC236}">
                <a16:creationId xmlns:a16="http://schemas.microsoft.com/office/drawing/2014/main" id="{743FA3E2-0EDF-1219-1566-AD7A985C2E13}"/>
              </a:ext>
            </a:extLst>
          </p:cNvPr>
          <p:cNvGrpSpPr/>
          <p:nvPr/>
        </p:nvGrpSpPr>
        <p:grpSpPr>
          <a:xfrm>
            <a:off x="7535601" y="3848738"/>
            <a:ext cx="895180" cy="832942"/>
            <a:chOff x="827350" y="3629733"/>
            <a:chExt cx="1431600" cy="1332067"/>
          </a:xfrm>
        </p:grpSpPr>
        <p:sp>
          <p:nvSpPr>
            <p:cNvPr id="416" name="Google Shape;416;p33">
              <a:extLst>
                <a:ext uri="{FF2B5EF4-FFF2-40B4-BE49-F238E27FC236}">
                  <a16:creationId xmlns:a16="http://schemas.microsoft.com/office/drawing/2014/main" id="{10182CF3-D1F9-894B-B789-37D306AE0FDE}"/>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CC2A4DB9-6D74-9AD3-573E-1A397043198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D7C951A4-E552-7F0C-DD6D-2D5E35330D99}"/>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a:extLst>
              <a:ext uri="{FF2B5EF4-FFF2-40B4-BE49-F238E27FC236}">
                <a16:creationId xmlns:a16="http://schemas.microsoft.com/office/drawing/2014/main" id="{2F07CA5D-748E-0F79-8B2C-5A891918187A}"/>
              </a:ext>
            </a:extLst>
          </p:cNvPr>
          <p:cNvGrpSpPr/>
          <p:nvPr/>
        </p:nvGrpSpPr>
        <p:grpSpPr>
          <a:xfrm>
            <a:off x="7902683" y="2980240"/>
            <a:ext cx="598982" cy="557337"/>
            <a:chOff x="827350" y="3629733"/>
            <a:chExt cx="1431600" cy="1332067"/>
          </a:xfrm>
        </p:grpSpPr>
        <p:sp>
          <p:nvSpPr>
            <p:cNvPr id="420" name="Google Shape;420;p33">
              <a:extLst>
                <a:ext uri="{FF2B5EF4-FFF2-40B4-BE49-F238E27FC236}">
                  <a16:creationId xmlns:a16="http://schemas.microsoft.com/office/drawing/2014/main" id="{71119FF2-7313-9656-A9B6-C6F141F91E6E}"/>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5E0B4E19-38C6-EEC8-414C-260F141CDA4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C381CF9C-3BDF-91D1-63D3-90B04DCB5CEE}"/>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a:extLst>
              <a:ext uri="{FF2B5EF4-FFF2-40B4-BE49-F238E27FC236}">
                <a16:creationId xmlns:a16="http://schemas.microsoft.com/office/drawing/2014/main" id="{6973207E-6BE2-1E88-6674-C9756FDE05E1}"/>
              </a:ext>
            </a:extLst>
          </p:cNvPr>
          <p:cNvGrpSpPr/>
          <p:nvPr/>
        </p:nvGrpSpPr>
        <p:grpSpPr>
          <a:xfrm>
            <a:off x="6634531" y="4239131"/>
            <a:ext cx="464268" cy="431989"/>
            <a:chOff x="827350" y="3629733"/>
            <a:chExt cx="1431600" cy="1332067"/>
          </a:xfrm>
        </p:grpSpPr>
        <p:sp>
          <p:nvSpPr>
            <p:cNvPr id="424" name="Google Shape;424;p33">
              <a:extLst>
                <a:ext uri="{FF2B5EF4-FFF2-40B4-BE49-F238E27FC236}">
                  <a16:creationId xmlns:a16="http://schemas.microsoft.com/office/drawing/2014/main" id="{13897CE6-4E2C-A05C-81AC-DB5BCC5C507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DAE7CF8F-21D7-6E7A-7C5E-D064FBE0BB8B}"/>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BE7D63CE-C4BD-2243-876C-CA765628EF18}"/>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a:extLst>
              <a:ext uri="{FF2B5EF4-FFF2-40B4-BE49-F238E27FC236}">
                <a16:creationId xmlns:a16="http://schemas.microsoft.com/office/drawing/2014/main" id="{376D97DA-38C1-A086-99F9-7AD23419C823}"/>
              </a:ext>
            </a:extLst>
          </p:cNvPr>
          <p:cNvGrpSpPr/>
          <p:nvPr/>
        </p:nvGrpSpPr>
        <p:grpSpPr>
          <a:xfrm rot="5400000">
            <a:off x="962657" y="3906771"/>
            <a:ext cx="288601" cy="1096693"/>
            <a:chOff x="1006700" y="2603975"/>
            <a:chExt cx="55450" cy="210700"/>
          </a:xfrm>
        </p:grpSpPr>
        <p:sp>
          <p:nvSpPr>
            <p:cNvPr id="428" name="Google Shape;428;p33">
              <a:extLst>
                <a:ext uri="{FF2B5EF4-FFF2-40B4-BE49-F238E27FC236}">
                  <a16:creationId xmlns:a16="http://schemas.microsoft.com/office/drawing/2014/main" id="{6DDC4A2B-9B62-D88D-CEAD-07D7088FA19F}"/>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497822F4-216D-A4B7-E937-58719D750435}"/>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0A75A810-4A8B-9FCF-1C09-DE54F031874F}"/>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a:extLst>
                <a:ext uri="{FF2B5EF4-FFF2-40B4-BE49-F238E27FC236}">
                  <a16:creationId xmlns:a16="http://schemas.microsoft.com/office/drawing/2014/main" id="{A160EA29-EFC6-96C9-23C3-FE8719F4303E}"/>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a:extLst>
                <a:ext uri="{FF2B5EF4-FFF2-40B4-BE49-F238E27FC236}">
                  <a16:creationId xmlns:a16="http://schemas.microsoft.com/office/drawing/2014/main" id="{A5AACCB9-3190-D1D4-D57D-01C018ADB773}"/>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a:extLst>
                <a:ext uri="{FF2B5EF4-FFF2-40B4-BE49-F238E27FC236}">
                  <a16:creationId xmlns:a16="http://schemas.microsoft.com/office/drawing/2014/main" id="{0213F361-645D-AB59-B76C-6B18BAAD0854}"/>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itle 2">
            <a:extLst>
              <a:ext uri="{FF2B5EF4-FFF2-40B4-BE49-F238E27FC236}">
                <a16:creationId xmlns:a16="http://schemas.microsoft.com/office/drawing/2014/main" id="{0901DAA1-8CDC-316A-4726-757008EE5049}"/>
              </a:ext>
            </a:extLst>
          </p:cNvPr>
          <p:cNvSpPr txBox="1">
            <a:spLocks/>
          </p:cNvSpPr>
          <p:nvPr/>
        </p:nvSpPr>
        <p:spPr>
          <a:xfrm>
            <a:off x="976174" y="793925"/>
            <a:ext cx="77058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600"/>
              <a:buFont typeface="Audiowide"/>
              <a:buNone/>
              <a:defRPr sz="3700" b="0" i="0" u="none" strike="noStrike" cap="none">
                <a:solidFill>
                  <a:schemeClr val="accent1"/>
                </a:solidFill>
                <a:latin typeface="Audiowide"/>
                <a:ea typeface="Audiowide"/>
                <a:cs typeface="Audiowide"/>
                <a:sym typeface="Audiowide"/>
              </a:defRPr>
            </a:lvl1pPr>
            <a:lvl2pPr marR="0" lvl="1" algn="ctr" rtl="0">
              <a:lnSpc>
                <a:spcPct val="100000"/>
              </a:lnSpc>
              <a:spcBef>
                <a:spcPts val="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9pPr>
          </a:lstStyle>
          <a:p>
            <a:r>
              <a:rPr lang="en-US" b="1" dirty="0">
                <a:solidFill>
                  <a:schemeClr val="bg1"/>
                </a:solidFill>
                <a:latin typeface="+mj-lt"/>
              </a:rPr>
              <a:t>MỘT SỐ HÌNH ẢNH MINH HOẠ</a:t>
            </a:r>
            <a:endParaRPr lang="vi-VN" b="1" dirty="0">
              <a:solidFill>
                <a:schemeClr val="bg1"/>
              </a:solidFill>
              <a:latin typeface="+mj-lt"/>
            </a:endParaRPr>
          </a:p>
        </p:txBody>
      </p:sp>
      <p:pic>
        <p:nvPicPr>
          <p:cNvPr id="8" name="Picture 7">
            <a:extLst>
              <a:ext uri="{FF2B5EF4-FFF2-40B4-BE49-F238E27FC236}">
                <a16:creationId xmlns:a16="http://schemas.microsoft.com/office/drawing/2014/main" id="{B2D0D4B1-B6D9-ABC8-B37B-13BCFF3E2B67}"/>
              </a:ext>
            </a:extLst>
          </p:cNvPr>
          <p:cNvPicPr>
            <a:picLocks noChangeAspect="1"/>
          </p:cNvPicPr>
          <p:nvPr/>
        </p:nvPicPr>
        <p:blipFill>
          <a:blip r:embed="rId3"/>
          <a:srcRect t="3834" b="3834"/>
          <a:stretch/>
        </p:blipFill>
        <p:spPr>
          <a:xfrm>
            <a:off x="816626" y="1591299"/>
            <a:ext cx="3862866" cy="21747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Picture 11">
            <a:extLst>
              <a:ext uri="{FF2B5EF4-FFF2-40B4-BE49-F238E27FC236}">
                <a16:creationId xmlns:a16="http://schemas.microsoft.com/office/drawing/2014/main" id="{4BA8E596-CE30-2648-3013-7E781556CA0B}"/>
              </a:ext>
            </a:extLst>
          </p:cNvPr>
          <p:cNvPicPr>
            <a:picLocks noChangeAspect="1"/>
          </p:cNvPicPr>
          <p:nvPr/>
        </p:nvPicPr>
        <p:blipFill>
          <a:blip r:embed="rId4"/>
          <a:srcRect t="4573" b="4573"/>
          <a:stretch/>
        </p:blipFill>
        <p:spPr>
          <a:xfrm>
            <a:off x="5156256" y="2595111"/>
            <a:ext cx="3558066" cy="203254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9263206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216A52D0-93E9-E157-1CA2-98C4AB297413}"/>
            </a:ext>
          </a:extLst>
        </p:cNvPr>
        <p:cNvGrpSpPr/>
        <p:nvPr/>
      </p:nvGrpSpPr>
      <p:grpSpPr>
        <a:xfrm>
          <a:off x="0" y="0"/>
          <a:ext cx="0" cy="0"/>
          <a:chOff x="0" y="0"/>
          <a:chExt cx="0" cy="0"/>
        </a:xfrm>
      </p:grpSpPr>
      <p:sp>
        <p:nvSpPr>
          <p:cNvPr id="396" name="Google Shape;396;p33">
            <a:extLst>
              <a:ext uri="{FF2B5EF4-FFF2-40B4-BE49-F238E27FC236}">
                <a16:creationId xmlns:a16="http://schemas.microsoft.com/office/drawing/2014/main" id="{465777EC-337E-A3B2-8805-7DEAD834E1EA}"/>
              </a:ext>
            </a:extLst>
          </p:cNvPr>
          <p:cNvSpPr/>
          <p:nvPr/>
        </p:nvSpPr>
        <p:spPr>
          <a:xfrm>
            <a:off x="1339813" y="1228150"/>
            <a:ext cx="2911500" cy="24768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a:extLst>
              <a:ext uri="{FF2B5EF4-FFF2-40B4-BE49-F238E27FC236}">
                <a16:creationId xmlns:a16="http://schemas.microsoft.com/office/drawing/2014/main" id="{B27B5CDF-C173-0BF8-A76F-A9F878C9C517}"/>
              </a:ext>
            </a:extLst>
          </p:cNvPr>
          <p:cNvSpPr txBox="1">
            <a:spLocks noGrp="1"/>
          </p:cNvSpPr>
          <p:nvPr>
            <p:ph type="title"/>
          </p:nvPr>
        </p:nvSpPr>
        <p:spPr>
          <a:xfrm>
            <a:off x="3785438" y="2092686"/>
            <a:ext cx="4871560" cy="1113000"/>
          </a:xfrm>
          <a:prstGeom prst="rect">
            <a:avLst/>
          </a:prstGeom>
        </p:spPr>
        <p:txBody>
          <a:bodyPr spcFirstLastPara="1" wrap="square" lIns="91425" tIns="91425" rIns="91425" bIns="91425" anchor="b" anchorCtr="0">
            <a:noAutofit/>
          </a:bodyPr>
          <a:lstStyle/>
          <a:p>
            <a:pPr lvl="0" algn="ctr"/>
            <a:r>
              <a:rPr lang="vi-VN" sz="2800" b="1" dirty="0"/>
              <a:t>ĐÁNH GIÁ NGUỒN CRAAP</a:t>
            </a:r>
          </a:p>
        </p:txBody>
      </p:sp>
      <p:sp>
        <p:nvSpPr>
          <p:cNvPr id="399" name="Google Shape;399;p33">
            <a:extLst>
              <a:ext uri="{FF2B5EF4-FFF2-40B4-BE49-F238E27FC236}">
                <a16:creationId xmlns:a16="http://schemas.microsoft.com/office/drawing/2014/main" id="{5BEE9D20-3A63-C853-832B-EB5F3EAF4C9A}"/>
              </a:ext>
            </a:extLst>
          </p:cNvPr>
          <p:cNvSpPr txBox="1">
            <a:spLocks noGrp="1"/>
          </p:cNvSpPr>
          <p:nvPr>
            <p:ph type="title" idx="2"/>
          </p:nvPr>
        </p:nvSpPr>
        <p:spPr>
          <a:xfrm>
            <a:off x="1931113" y="1872250"/>
            <a:ext cx="1936944" cy="118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grpSp>
        <p:nvGrpSpPr>
          <p:cNvPr id="400" name="Google Shape;400;p33">
            <a:extLst>
              <a:ext uri="{FF2B5EF4-FFF2-40B4-BE49-F238E27FC236}">
                <a16:creationId xmlns:a16="http://schemas.microsoft.com/office/drawing/2014/main" id="{00F542C9-7887-2856-EF6D-408200D341D4}"/>
              </a:ext>
            </a:extLst>
          </p:cNvPr>
          <p:cNvGrpSpPr/>
          <p:nvPr/>
        </p:nvGrpSpPr>
        <p:grpSpPr>
          <a:xfrm rot="10800000">
            <a:off x="8057882" y="382596"/>
            <a:ext cx="288601" cy="1096693"/>
            <a:chOff x="1006700" y="2603975"/>
            <a:chExt cx="55450" cy="210700"/>
          </a:xfrm>
        </p:grpSpPr>
        <p:sp>
          <p:nvSpPr>
            <p:cNvPr id="401" name="Google Shape;401;p33">
              <a:extLst>
                <a:ext uri="{FF2B5EF4-FFF2-40B4-BE49-F238E27FC236}">
                  <a16:creationId xmlns:a16="http://schemas.microsoft.com/office/drawing/2014/main" id="{3806AC15-6E54-3B78-4799-7C5A9AC6D285}"/>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a:extLst>
                <a:ext uri="{FF2B5EF4-FFF2-40B4-BE49-F238E27FC236}">
                  <a16:creationId xmlns:a16="http://schemas.microsoft.com/office/drawing/2014/main" id="{2AC956B7-B2D9-0AB9-993C-52540E7F9E62}"/>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a:extLst>
                <a:ext uri="{FF2B5EF4-FFF2-40B4-BE49-F238E27FC236}">
                  <a16:creationId xmlns:a16="http://schemas.microsoft.com/office/drawing/2014/main" id="{9B8EA6CA-126A-8FC4-158C-23EA85F92C32}"/>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a:extLst>
                <a:ext uri="{FF2B5EF4-FFF2-40B4-BE49-F238E27FC236}">
                  <a16:creationId xmlns:a16="http://schemas.microsoft.com/office/drawing/2014/main" id="{F5E25EE8-6BA8-DD8D-AAD6-F8DA2DA8D765}"/>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a:extLst>
                <a:ext uri="{FF2B5EF4-FFF2-40B4-BE49-F238E27FC236}">
                  <a16:creationId xmlns:a16="http://schemas.microsoft.com/office/drawing/2014/main" id="{B9DD2797-6D10-A190-13AC-A24B1156FD50}"/>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a:extLst>
                <a:ext uri="{FF2B5EF4-FFF2-40B4-BE49-F238E27FC236}">
                  <a16:creationId xmlns:a16="http://schemas.microsoft.com/office/drawing/2014/main" id="{F8737277-5524-8277-FA33-0B3EEBB63B32}"/>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a:extLst>
              <a:ext uri="{FF2B5EF4-FFF2-40B4-BE49-F238E27FC236}">
                <a16:creationId xmlns:a16="http://schemas.microsoft.com/office/drawing/2014/main" id="{C3B98A8B-A900-6BBD-2ED6-3D6BD139E3D4}"/>
              </a:ext>
            </a:extLst>
          </p:cNvPr>
          <p:cNvGrpSpPr/>
          <p:nvPr/>
        </p:nvGrpSpPr>
        <p:grpSpPr>
          <a:xfrm>
            <a:off x="558602" y="508321"/>
            <a:ext cx="781224" cy="726909"/>
            <a:chOff x="827350" y="3629733"/>
            <a:chExt cx="1431600" cy="1332067"/>
          </a:xfrm>
        </p:grpSpPr>
        <p:sp>
          <p:nvSpPr>
            <p:cNvPr id="408" name="Google Shape;408;p33">
              <a:extLst>
                <a:ext uri="{FF2B5EF4-FFF2-40B4-BE49-F238E27FC236}">
                  <a16:creationId xmlns:a16="http://schemas.microsoft.com/office/drawing/2014/main" id="{E81EFABC-2EA9-2372-6C7D-7A471DE31789}"/>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a:extLst>
                <a:ext uri="{FF2B5EF4-FFF2-40B4-BE49-F238E27FC236}">
                  <a16:creationId xmlns:a16="http://schemas.microsoft.com/office/drawing/2014/main" id="{CC095D44-D887-D30E-1D81-609A2B84119E}"/>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a:extLst>
                <a:ext uri="{FF2B5EF4-FFF2-40B4-BE49-F238E27FC236}">
                  <a16:creationId xmlns:a16="http://schemas.microsoft.com/office/drawing/2014/main" id="{9644E737-274E-8E2D-AE7D-BB5E4E679D1E}"/>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a:extLst>
              <a:ext uri="{FF2B5EF4-FFF2-40B4-BE49-F238E27FC236}">
                <a16:creationId xmlns:a16="http://schemas.microsoft.com/office/drawing/2014/main" id="{4918FC7C-CCFD-2133-047D-6906098B2C81}"/>
              </a:ext>
            </a:extLst>
          </p:cNvPr>
          <p:cNvGrpSpPr/>
          <p:nvPr/>
        </p:nvGrpSpPr>
        <p:grpSpPr>
          <a:xfrm>
            <a:off x="1387564" y="321673"/>
            <a:ext cx="356325" cy="331552"/>
            <a:chOff x="827350" y="3629733"/>
            <a:chExt cx="1431600" cy="1332067"/>
          </a:xfrm>
        </p:grpSpPr>
        <p:sp>
          <p:nvSpPr>
            <p:cNvPr id="412" name="Google Shape;412;p33">
              <a:extLst>
                <a:ext uri="{FF2B5EF4-FFF2-40B4-BE49-F238E27FC236}">
                  <a16:creationId xmlns:a16="http://schemas.microsoft.com/office/drawing/2014/main" id="{2D006119-FBA9-F754-7CCB-72F05141E832}"/>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8897CED0-81D3-70D7-D892-919C511CFD7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6C2F9F39-4777-E4EF-4397-A2EC8857F23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a:extLst>
              <a:ext uri="{FF2B5EF4-FFF2-40B4-BE49-F238E27FC236}">
                <a16:creationId xmlns:a16="http://schemas.microsoft.com/office/drawing/2014/main" id="{68A4B83A-D543-FC21-1D46-FC2D956E72BC}"/>
              </a:ext>
            </a:extLst>
          </p:cNvPr>
          <p:cNvGrpSpPr/>
          <p:nvPr/>
        </p:nvGrpSpPr>
        <p:grpSpPr>
          <a:xfrm>
            <a:off x="7535601" y="3848738"/>
            <a:ext cx="895180" cy="832942"/>
            <a:chOff x="827350" y="3629733"/>
            <a:chExt cx="1431600" cy="1332067"/>
          </a:xfrm>
        </p:grpSpPr>
        <p:sp>
          <p:nvSpPr>
            <p:cNvPr id="416" name="Google Shape;416;p33">
              <a:extLst>
                <a:ext uri="{FF2B5EF4-FFF2-40B4-BE49-F238E27FC236}">
                  <a16:creationId xmlns:a16="http://schemas.microsoft.com/office/drawing/2014/main" id="{24EFB6AC-DF7D-AB74-4D42-542DE66782C2}"/>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77CC87ED-F391-4ACB-5F60-E45367693EF5}"/>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AB7BC46F-6DB2-638C-BCA6-0092761D6C0C}"/>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a:extLst>
              <a:ext uri="{FF2B5EF4-FFF2-40B4-BE49-F238E27FC236}">
                <a16:creationId xmlns:a16="http://schemas.microsoft.com/office/drawing/2014/main" id="{BD124071-26FB-5121-E22F-16A87DE29989}"/>
              </a:ext>
            </a:extLst>
          </p:cNvPr>
          <p:cNvGrpSpPr/>
          <p:nvPr/>
        </p:nvGrpSpPr>
        <p:grpSpPr>
          <a:xfrm>
            <a:off x="7902683" y="2980240"/>
            <a:ext cx="598982" cy="557337"/>
            <a:chOff x="827350" y="3629733"/>
            <a:chExt cx="1431600" cy="1332067"/>
          </a:xfrm>
        </p:grpSpPr>
        <p:sp>
          <p:nvSpPr>
            <p:cNvPr id="420" name="Google Shape;420;p33">
              <a:extLst>
                <a:ext uri="{FF2B5EF4-FFF2-40B4-BE49-F238E27FC236}">
                  <a16:creationId xmlns:a16="http://schemas.microsoft.com/office/drawing/2014/main" id="{FA07EB22-D9AB-9E25-8B53-8CFCD90CC7E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2B377196-66FF-AEFD-CC36-6193CE310A58}"/>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2F34DCD2-BD85-D839-69CC-9DB317239ED8}"/>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a:extLst>
              <a:ext uri="{FF2B5EF4-FFF2-40B4-BE49-F238E27FC236}">
                <a16:creationId xmlns:a16="http://schemas.microsoft.com/office/drawing/2014/main" id="{0B5177E8-F49D-A404-0145-9002B219A253}"/>
              </a:ext>
            </a:extLst>
          </p:cNvPr>
          <p:cNvGrpSpPr/>
          <p:nvPr/>
        </p:nvGrpSpPr>
        <p:grpSpPr>
          <a:xfrm>
            <a:off x="6634531" y="4239131"/>
            <a:ext cx="464268" cy="431989"/>
            <a:chOff x="827350" y="3629733"/>
            <a:chExt cx="1431600" cy="1332067"/>
          </a:xfrm>
        </p:grpSpPr>
        <p:sp>
          <p:nvSpPr>
            <p:cNvPr id="424" name="Google Shape;424;p33">
              <a:extLst>
                <a:ext uri="{FF2B5EF4-FFF2-40B4-BE49-F238E27FC236}">
                  <a16:creationId xmlns:a16="http://schemas.microsoft.com/office/drawing/2014/main" id="{639037C9-24AF-C49B-1E7B-A6663CCEE9D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30437233-50AF-7525-24C8-F159717A9A5B}"/>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53AF409E-561B-A1E0-AB95-686468DE208D}"/>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a:extLst>
              <a:ext uri="{FF2B5EF4-FFF2-40B4-BE49-F238E27FC236}">
                <a16:creationId xmlns:a16="http://schemas.microsoft.com/office/drawing/2014/main" id="{E6CFA77B-60C7-64E8-EF55-5C2ACF5CA6F8}"/>
              </a:ext>
            </a:extLst>
          </p:cNvPr>
          <p:cNvGrpSpPr/>
          <p:nvPr/>
        </p:nvGrpSpPr>
        <p:grpSpPr>
          <a:xfrm rot="5400000">
            <a:off x="962657" y="3906771"/>
            <a:ext cx="288601" cy="1096693"/>
            <a:chOff x="1006700" y="2603975"/>
            <a:chExt cx="55450" cy="210700"/>
          </a:xfrm>
        </p:grpSpPr>
        <p:sp>
          <p:nvSpPr>
            <p:cNvPr id="428" name="Google Shape;428;p33">
              <a:extLst>
                <a:ext uri="{FF2B5EF4-FFF2-40B4-BE49-F238E27FC236}">
                  <a16:creationId xmlns:a16="http://schemas.microsoft.com/office/drawing/2014/main" id="{8010B708-3D15-285F-BDC6-FCCC6DE2D481}"/>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92393C63-D1E8-2C1C-E6FF-D12E26C21A8F}"/>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34514FCA-3EA8-7EC1-0B4F-710FEC7E9FB6}"/>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a:extLst>
                <a:ext uri="{FF2B5EF4-FFF2-40B4-BE49-F238E27FC236}">
                  <a16:creationId xmlns:a16="http://schemas.microsoft.com/office/drawing/2014/main" id="{C86E98AC-6B63-59D1-E397-36B11AF2E8AE}"/>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a:extLst>
                <a:ext uri="{FF2B5EF4-FFF2-40B4-BE49-F238E27FC236}">
                  <a16:creationId xmlns:a16="http://schemas.microsoft.com/office/drawing/2014/main" id="{1C6E42B0-282E-5319-F27F-32AF09E300F5}"/>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a:extLst>
                <a:ext uri="{FF2B5EF4-FFF2-40B4-BE49-F238E27FC236}">
                  <a16:creationId xmlns:a16="http://schemas.microsoft.com/office/drawing/2014/main" id="{D8F66CDB-11C6-18D9-6C82-CB94E51312AD}"/>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860993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A4E80CD9-98D1-B390-C991-6A82D8C23BD8}"/>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ED1C980D-E2B2-036A-D1BA-4D28B3078FCE}"/>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494CE93A-0D92-B573-3B82-FEDA746AC0BC}"/>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lvl="0"/>
            <a:r>
              <a:rPr lang="en" b="1" dirty="0">
                <a:latin typeface="+mj-lt"/>
              </a:rPr>
              <a:t>CHƯƠNG 6: </a:t>
            </a:r>
            <a:r>
              <a:rPr lang="vi-VN" b="1" dirty="0">
                <a:latin typeface="+mn-lt"/>
              </a:rPr>
              <a:t>ĐÁNH GIÁ NGUỒN CRAAP</a:t>
            </a:r>
            <a:endParaRPr b="1" dirty="0">
              <a:latin typeface="+mn-lt"/>
            </a:endParaRPr>
          </a:p>
        </p:txBody>
      </p:sp>
      <p:grpSp>
        <p:nvGrpSpPr>
          <p:cNvPr id="797" name="Google Shape;797;p42">
            <a:extLst>
              <a:ext uri="{FF2B5EF4-FFF2-40B4-BE49-F238E27FC236}">
                <a16:creationId xmlns:a16="http://schemas.microsoft.com/office/drawing/2014/main" id="{A6D7DA2D-F77F-02A2-F20F-5DCF91736F9B}"/>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635982E9-78D5-8C4B-EFB9-423FE3963925}"/>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D74C21A7-1FCA-A1CF-3D21-3F153E9C7663}"/>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CD9E1C88-788B-773E-7592-DEA84CFB955B}"/>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2E5C7552-B2E4-BF6D-E47B-01C46E33418F}"/>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9671D5EC-9BAA-B32F-6CE5-105958335B98}"/>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ECACB61D-9D2F-00B8-9C7D-858C1ED13759}"/>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04061855-576A-D32D-075F-9A9CD21C4093}"/>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C66EA78B-1201-AD01-4C0E-C2CB85BFA94A}"/>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1069CC25-853E-8022-EA78-ADE2DF78624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BABDB9DE-5448-9493-3220-54775E225D9D}"/>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DFDDBE97-D108-AEEC-A84D-7FDC52EC950F}"/>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ED04A145-EA8F-0F68-8579-EF9D42DD4BB0}"/>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53C23BAE-237C-DD9C-AA7D-BF53029AFA8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F6444F77-DCA6-8B4A-6577-3ACD740454C7}"/>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062D86CA-15CD-BDC7-2D52-9DD68FA9CA24}"/>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19C59636-F43C-FB35-091E-FFDAABB3858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4A777F15-F5B8-0613-E5F4-4F839ED9C9A6}"/>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0DAB4D07-94EF-5165-132E-4425781636A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6" name="Google Shape;796;p42">
            <a:extLst>
              <a:ext uri="{FF2B5EF4-FFF2-40B4-BE49-F238E27FC236}">
                <a16:creationId xmlns:a16="http://schemas.microsoft.com/office/drawing/2014/main" id="{F0FDBAE7-C23F-E6C4-3F9A-0EE4BFFCF160}"/>
              </a:ext>
            </a:extLst>
          </p:cNvPr>
          <p:cNvSpPr txBox="1">
            <a:spLocks noGrp="1"/>
          </p:cNvSpPr>
          <p:nvPr>
            <p:ph type="body" idx="1"/>
          </p:nvPr>
        </p:nvSpPr>
        <p:spPr>
          <a:xfrm>
            <a:off x="713225" y="1246560"/>
            <a:ext cx="7704000" cy="2594700"/>
          </a:xfrm>
          <a:prstGeom prst="rect">
            <a:avLst/>
          </a:prstGeom>
        </p:spPr>
        <p:txBody>
          <a:bodyPr spcFirstLastPara="1" wrap="square" lIns="91425" tIns="91425" rIns="91425" bIns="91425" anchor="t" anchorCtr="0">
            <a:noAutofit/>
          </a:bodyPr>
          <a:lstStyle/>
          <a:p>
            <a:pPr lvl="1"/>
            <a:r>
              <a:rPr lang="vi-VN" sz="1100" b="1" dirty="0">
                <a:latin typeface="+mj-lt"/>
              </a:rPr>
              <a:t>NGUỒN THAM KHẢO</a:t>
            </a:r>
          </a:p>
          <a:p>
            <a:r>
              <a:rPr lang="en-US" sz="1050" dirty="0">
                <a:latin typeface="+mj-lt"/>
              </a:rPr>
              <a:t> </a:t>
            </a:r>
            <a:endParaRPr lang="vi-VN" sz="1050" dirty="0">
              <a:latin typeface="+mj-lt"/>
            </a:endParaRPr>
          </a:p>
          <a:p>
            <a:r>
              <a:rPr lang="en-US" sz="1050" dirty="0">
                <a:latin typeface="+mj-lt"/>
              </a:rPr>
              <a:t>Medium: </a:t>
            </a:r>
            <a:r>
              <a:rPr lang="vi-VN" sz="1050" dirty="0">
                <a:latin typeface="+mj-lt"/>
              </a:rPr>
              <a:t>Gemini vs. ChatGPT vs. Grok vs. DeepSeek: The Ultimate AI Showdown (2025 Winner Revealed)</a:t>
            </a:r>
          </a:p>
          <a:p>
            <a:r>
              <a:rPr lang="fr-FR" sz="1050" dirty="0" err="1">
                <a:latin typeface="+mj-lt"/>
              </a:rPr>
              <a:t>Địa</a:t>
            </a:r>
            <a:r>
              <a:rPr lang="fr-FR" sz="1050" dirty="0">
                <a:latin typeface="+mj-lt"/>
              </a:rPr>
              <a:t> </a:t>
            </a:r>
            <a:r>
              <a:rPr lang="fr-FR" sz="1050" dirty="0" err="1">
                <a:latin typeface="+mj-lt"/>
              </a:rPr>
              <a:t>chỉ</a:t>
            </a:r>
            <a:r>
              <a:rPr lang="fr-FR" sz="1050" dirty="0">
                <a:latin typeface="+mj-lt"/>
              </a:rPr>
              <a:t>: </a:t>
            </a:r>
            <a:r>
              <a:rPr lang="fr-FR" sz="900" u="sng" dirty="0">
                <a:latin typeface="+mj-lt"/>
                <a:hlinkClick r:id="rId3"/>
              </a:rPr>
              <a:t>https://sajjadrasool.medium.com/gemini-vs-chatgpt-vs-grok-vs-deepseek-the-ultimate-ai-showdown-2025-winner-revealed-947fc6723628</a:t>
            </a:r>
            <a:endParaRPr lang="vi-VN" sz="1050" dirty="0">
              <a:latin typeface="+mj-lt"/>
            </a:endParaRPr>
          </a:p>
          <a:p>
            <a:pPr marL="152400" indent="0">
              <a:buNone/>
            </a:pPr>
            <a:endParaRPr lang="vi-VN" sz="1050" dirty="0">
              <a:latin typeface="+mj-lt"/>
            </a:endParaRPr>
          </a:p>
          <a:p>
            <a:r>
              <a:rPr lang="en-US" sz="1050" dirty="0" err="1">
                <a:latin typeface="+mj-lt"/>
              </a:rPr>
              <a:t>Bisup</a:t>
            </a:r>
            <a:r>
              <a:rPr lang="en-US" sz="1050" dirty="0">
                <a:latin typeface="+mj-lt"/>
              </a:rPr>
              <a:t>: Which LLM is Best? ChatGPT vs. Grok vs. Gemini vs. DeepSeek: A Comprehensive Comparison with Table.</a:t>
            </a:r>
            <a:endParaRPr lang="vi-VN" sz="1050" dirty="0">
              <a:latin typeface="+mj-lt"/>
            </a:endParaRPr>
          </a:p>
          <a:p>
            <a:r>
              <a:rPr lang="fr-FR" sz="1050" dirty="0" err="1">
                <a:latin typeface="+mj-lt"/>
              </a:rPr>
              <a:t>Địa</a:t>
            </a:r>
            <a:r>
              <a:rPr lang="fr-FR" sz="1050" dirty="0">
                <a:latin typeface="+mj-lt"/>
              </a:rPr>
              <a:t> </a:t>
            </a:r>
            <a:r>
              <a:rPr lang="fr-FR" sz="1050" dirty="0" err="1">
                <a:latin typeface="+mj-lt"/>
              </a:rPr>
              <a:t>chỉ</a:t>
            </a:r>
            <a:r>
              <a:rPr lang="fr-FR" sz="900" dirty="0">
                <a:latin typeface="+mj-lt"/>
              </a:rPr>
              <a:t>: </a:t>
            </a:r>
            <a:r>
              <a:rPr lang="fr-FR" sz="900" u="sng" dirty="0">
                <a:latin typeface="+mj-lt"/>
              </a:rPr>
              <a:t>https://www.bisup.com/best-llm-comparison-chatgpt-grok-gemini-deepseek</a:t>
            </a:r>
            <a:r>
              <a:rPr lang="fr-FR" sz="1050" dirty="0">
                <a:latin typeface="+mj-lt"/>
              </a:rPr>
              <a:t> </a:t>
            </a:r>
          </a:p>
          <a:p>
            <a:pPr marL="152400" indent="0">
              <a:buNone/>
            </a:pPr>
            <a:endParaRPr lang="vi-VN" sz="1050" dirty="0">
              <a:latin typeface="+mj-lt"/>
            </a:endParaRPr>
          </a:p>
          <a:p>
            <a:r>
              <a:rPr lang="en-US" sz="1050" dirty="0">
                <a:latin typeface="+mj-lt"/>
              </a:rPr>
              <a:t>ResearchGate: Grok, Gemini, ChatGPT and </a:t>
            </a:r>
            <a:r>
              <a:rPr lang="en-US" sz="1050" dirty="0" err="1">
                <a:latin typeface="+mj-lt"/>
              </a:rPr>
              <a:t>DeepSeek:Comparison</a:t>
            </a:r>
            <a:r>
              <a:rPr lang="en-US" sz="1050" dirty="0">
                <a:latin typeface="+mj-lt"/>
              </a:rPr>
              <a:t> and Applications in </a:t>
            </a:r>
            <a:r>
              <a:rPr lang="en-US" sz="1050" dirty="0" err="1">
                <a:latin typeface="+mj-lt"/>
              </a:rPr>
              <a:t>ConversationalArti</a:t>
            </a:r>
            <a:r>
              <a:rPr lang="fr-FR" sz="1050" dirty="0">
                <a:latin typeface="+mj-lt"/>
              </a:rPr>
              <a:t>ﬁ</a:t>
            </a:r>
            <a:r>
              <a:rPr lang="en-US" sz="1050" dirty="0" err="1">
                <a:latin typeface="+mj-lt"/>
              </a:rPr>
              <a:t>cial</a:t>
            </a:r>
            <a:r>
              <a:rPr lang="en-US" sz="1050" dirty="0">
                <a:latin typeface="+mj-lt"/>
              </a:rPr>
              <a:t> Intelligence</a:t>
            </a:r>
            <a:endParaRPr lang="vi-VN" sz="1050" dirty="0">
              <a:latin typeface="+mj-lt"/>
            </a:endParaRPr>
          </a:p>
          <a:p>
            <a:r>
              <a:rPr lang="fr-FR" sz="1050" dirty="0" err="1">
                <a:latin typeface="+mj-lt"/>
              </a:rPr>
              <a:t>Địa</a:t>
            </a:r>
            <a:r>
              <a:rPr lang="fr-FR" sz="1050" dirty="0">
                <a:latin typeface="+mj-lt"/>
              </a:rPr>
              <a:t> </a:t>
            </a:r>
            <a:r>
              <a:rPr lang="fr-FR" sz="1050" dirty="0" err="1">
                <a:latin typeface="+mj-lt"/>
              </a:rPr>
              <a:t>chỉ</a:t>
            </a:r>
            <a:r>
              <a:rPr lang="fr-FR" sz="1050" dirty="0">
                <a:latin typeface="+mj-lt"/>
              </a:rPr>
              <a:t>: </a:t>
            </a:r>
            <a:r>
              <a:rPr lang="fr-FR" sz="900" u="sng" dirty="0">
                <a:latin typeface="+mj-lt"/>
                <a:hlinkClick r:id="rId4"/>
              </a:rPr>
              <a:t>https://www.researchgate.net/publication/389065042_Grok_Gemini_ChatGPT_and_DeepSeek_Comparison_and_Applications_in_Conversational_Artificial_Intelligence</a:t>
            </a:r>
            <a:endParaRPr lang="vi-VN" sz="900" dirty="0">
              <a:latin typeface="+mj-lt"/>
            </a:endParaRPr>
          </a:p>
          <a:p>
            <a:pPr marL="152400" indent="0">
              <a:buNone/>
            </a:pPr>
            <a:endParaRPr lang="vi-VN" sz="900" dirty="0">
              <a:latin typeface="+mj-lt"/>
            </a:endParaRPr>
          </a:p>
          <a:p>
            <a:r>
              <a:rPr lang="fr-FR" sz="1050" dirty="0" err="1">
                <a:latin typeface="+mj-lt"/>
              </a:rPr>
              <a:t>Thegioididong</a:t>
            </a:r>
            <a:r>
              <a:rPr lang="fr-FR" sz="1050" dirty="0">
                <a:latin typeface="+mj-lt"/>
              </a:rPr>
              <a:t> : So </a:t>
            </a:r>
            <a:r>
              <a:rPr lang="fr-FR" sz="1050" dirty="0" err="1">
                <a:latin typeface="+mj-lt"/>
              </a:rPr>
              <a:t>sánh</a:t>
            </a:r>
            <a:r>
              <a:rPr lang="fr-FR" sz="1050" dirty="0">
                <a:latin typeface="+mj-lt"/>
              </a:rPr>
              <a:t> </a:t>
            </a:r>
            <a:r>
              <a:rPr lang="fr-FR" sz="1050" dirty="0" err="1">
                <a:latin typeface="+mj-lt"/>
              </a:rPr>
              <a:t>Deepseek</a:t>
            </a:r>
            <a:r>
              <a:rPr lang="fr-FR" sz="1050" dirty="0">
                <a:latin typeface="+mj-lt"/>
              </a:rPr>
              <a:t> </a:t>
            </a:r>
            <a:r>
              <a:rPr lang="fr-FR" sz="1050" dirty="0" err="1">
                <a:latin typeface="+mj-lt"/>
              </a:rPr>
              <a:t>và</a:t>
            </a:r>
            <a:r>
              <a:rPr lang="fr-FR" sz="1050" dirty="0">
                <a:latin typeface="+mj-lt"/>
              </a:rPr>
              <a:t> </a:t>
            </a:r>
            <a:r>
              <a:rPr lang="fr-FR" sz="1050" dirty="0" err="1">
                <a:latin typeface="+mj-lt"/>
              </a:rPr>
              <a:t>ChatGPT</a:t>
            </a:r>
            <a:r>
              <a:rPr lang="fr-FR" sz="1050" dirty="0">
                <a:latin typeface="+mj-lt"/>
              </a:rPr>
              <a:t> chi </a:t>
            </a:r>
            <a:r>
              <a:rPr lang="fr-FR" sz="1050" dirty="0" err="1">
                <a:latin typeface="+mj-lt"/>
              </a:rPr>
              <a:t>tiết</a:t>
            </a:r>
            <a:r>
              <a:rPr lang="fr-FR" sz="1050" dirty="0">
                <a:latin typeface="+mj-lt"/>
              </a:rPr>
              <a:t>, </a:t>
            </a:r>
            <a:r>
              <a:rPr lang="fr-FR" sz="1050" dirty="0" err="1">
                <a:latin typeface="+mj-lt"/>
              </a:rPr>
              <a:t>dành</a:t>
            </a:r>
            <a:r>
              <a:rPr lang="fr-FR" sz="1050" dirty="0">
                <a:latin typeface="+mj-lt"/>
              </a:rPr>
              <a:t> </a:t>
            </a:r>
            <a:r>
              <a:rPr lang="fr-FR" sz="1050" dirty="0" err="1">
                <a:latin typeface="+mj-lt"/>
              </a:rPr>
              <a:t>cho</a:t>
            </a:r>
            <a:r>
              <a:rPr lang="fr-FR" sz="1050" dirty="0">
                <a:latin typeface="+mj-lt"/>
              </a:rPr>
              <a:t> </a:t>
            </a:r>
            <a:r>
              <a:rPr lang="fr-FR" sz="1050" dirty="0" err="1">
                <a:latin typeface="+mj-lt"/>
              </a:rPr>
              <a:t>đối</a:t>
            </a:r>
            <a:r>
              <a:rPr lang="fr-FR" sz="1050" dirty="0">
                <a:latin typeface="+mj-lt"/>
              </a:rPr>
              <a:t> </a:t>
            </a:r>
            <a:r>
              <a:rPr lang="fr-FR" sz="1050" dirty="0" err="1">
                <a:latin typeface="+mj-lt"/>
              </a:rPr>
              <a:t>tượng</a:t>
            </a:r>
            <a:r>
              <a:rPr lang="fr-FR" sz="1050" dirty="0">
                <a:latin typeface="+mj-lt"/>
              </a:rPr>
              <a:t> </a:t>
            </a:r>
            <a:r>
              <a:rPr lang="fr-FR" sz="1050" dirty="0" err="1">
                <a:latin typeface="+mj-lt"/>
              </a:rPr>
              <a:t>nào</a:t>
            </a:r>
            <a:r>
              <a:rPr lang="fr-FR" sz="1050" dirty="0">
                <a:latin typeface="+mj-lt"/>
              </a:rPr>
              <a:t>.</a:t>
            </a:r>
            <a:endParaRPr lang="vi-VN" sz="1050" dirty="0">
              <a:latin typeface="+mj-lt"/>
            </a:endParaRPr>
          </a:p>
          <a:p>
            <a:r>
              <a:rPr lang="fr-FR" sz="1050" dirty="0" err="1">
                <a:latin typeface="+mj-lt"/>
              </a:rPr>
              <a:t>Địa</a:t>
            </a:r>
            <a:r>
              <a:rPr lang="fr-FR" sz="1050" dirty="0">
                <a:latin typeface="+mj-lt"/>
              </a:rPr>
              <a:t> </a:t>
            </a:r>
            <a:r>
              <a:rPr lang="fr-FR" sz="1050" dirty="0" err="1">
                <a:latin typeface="+mj-lt"/>
              </a:rPr>
              <a:t>chỉ</a:t>
            </a:r>
            <a:r>
              <a:rPr lang="fr-FR" sz="1050" dirty="0">
                <a:latin typeface="+mj-lt"/>
              </a:rPr>
              <a:t>: </a:t>
            </a:r>
            <a:r>
              <a:rPr lang="fr-FR" sz="900" u="sng" dirty="0">
                <a:latin typeface="+mj-lt"/>
                <a:hlinkClick r:id="rId5"/>
              </a:rPr>
              <a:t>https://www.thegioididong.com/game-app/so-sanh-deepseek-va-chatgpt-1574800</a:t>
            </a:r>
            <a:r>
              <a:rPr lang="vi-VN" sz="900" dirty="0">
                <a:latin typeface="+mj-lt"/>
              </a:rPr>
              <a:t> </a:t>
            </a:r>
          </a:p>
          <a:p>
            <a:pPr marL="152400" indent="0">
              <a:buNone/>
            </a:pPr>
            <a:endParaRPr lang="vi-VN" sz="1050" dirty="0">
              <a:latin typeface="+mj-lt"/>
            </a:endParaRPr>
          </a:p>
          <a:p>
            <a:r>
              <a:rPr lang="fr-FR" sz="1050" dirty="0">
                <a:latin typeface="+mj-lt"/>
              </a:rPr>
              <a:t>24hStore : </a:t>
            </a:r>
            <a:r>
              <a:rPr lang="vi-VN" sz="1050" dirty="0">
                <a:latin typeface="+mj-lt"/>
              </a:rPr>
              <a:t>So sánh Grok 3 và DeepSeek: Sử dụng công cụ nào TỐT HƠN?</a:t>
            </a:r>
          </a:p>
          <a:p>
            <a:r>
              <a:rPr lang="fr-FR" sz="1050" dirty="0" err="1">
                <a:latin typeface="+mj-lt"/>
              </a:rPr>
              <a:t>Địa</a:t>
            </a:r>
            <a:r>
              <a:rPr lang="fr-FR" sz="1050" dirty="0">
                <a:latin typeface="+mj-lt"/>
              </a:rPr>
              <a:t> </a:t>
            </a:r>
            <a:r>
              <a:rPr lang="fr-FR" sz="1050" dirty="0" err="1">
                <a:latin typeface="+mj-lt"/>
              </a:rPr>
              <a:t>chỉ</a:t>
            </a:r>
            <a:r>
              <a:rPr lang="fr-FR" sz="1050" dirty="0">
                <a:latin typeface="+mj-lt"/>
              </a:rPr>
              <a:t>: </a:t>
            </a:r>
            <a:r>
              <a:rPr lang="fr-FR" sz="900" u="sng" dirty="0">
                <a:latin typeface="+mj-lt"/>
                <a:hlinkClick r:id="rId6"/>
              </a:rPr>
              <a:t>https://24hstore.vn/cong-nghe/so-sanh-grok-3-va-deepseek-n9244</a:t>
            </a:r>
            <a:endParaRPr lang="vi-VN" sz="1050" dirty="0">
              <a:latin typeface="+mj-lt"/>
            </a:endParaRPr>
          </a:p>
        </p:txBody>
      </p:sp>
      <p:grpSp>
        <p:nvGrpSpPr>
          <p:cNvPr id="2" name="Google Shape;804;p42">
            <a:extLst>
              <a:ext uri="{FF2B5EF4-FFF2-40B4-BE49-F238E27FC236}">
                <a16:creationId xmlns:a16="http://schemas.microsoft.com/office/drawing/2014/main" id="{1EFB8048-7643-863F-22B4-57B690C77A1A}"/>
              </a:ext>
            </a:extLst>
          </p:cNvPr>
          <p:cNvGrpSpPr/>
          <p:nvPr/>
        </p:nvGrpSpPr>
        <p:grpSpPr>
          <a:xfrm>
            <a:off x="8034802" y="4079585"/>
            <a:ext cx="1096749" cy="1020364"/>
            <a:chOff x="827350" y="3629733"/>
            <a:chExt cx="1431600" cy="1332067"/>
          </a:xfrm>
        </p:grpSpPr>
        <p:sp>
          <p:nvSpPr>
            <p:cNvPr id="3" name="Google Shape;805;p42">
              <a:extLst>
                <a:ext uri="{FF2B5EF4-FFF2-40B4-BE49-F238E27FC236}">
                  <a16:creationId xmlns:a16="http://schemas.microsoft.com/office/drawing/2014/main" id="{CC93871D-386D-2BC4-823E-A9312697C140}"/>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06;p42">
              <a:extLst>
                <a:ext uri="{FF2B5EF4-FFF2-40B4-BE49-F238E27FC236}">
                  <a16:creationId xmlns:a16="http://schemas.microsoft.com/office/drawing/2014/main" id="{1138FDB5-50FD-0569-4CB6-CC9C112C01DD}"/>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07;p42">
              <a:extLst>
                <a:ext uri="{FF2B5EF4-FFF2-40B4-BE49-F238E27FC236}">
                  <a16:creationId xmlns:a16="http://schemas.microsoft.com/office/drawing/2014/main" id="{6CE6D042-B70E-1D79-EB7E-EC6C615D5B4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804;p42">
            <a:extLst>
              <a:ext uri="{FF2B5EF4-FFF2-40B4-BE49-F238E27FC236}">
                <a16:creationId xmlns:a16="http://schemas.microsoft.com/office/drawing/2014/main" id="{FFC8A17E-BBAE-41F8-0FF1-7360EBF4F804}"/>
              </a:ext>
            </a:extLst>
          </p:cNvPr>
          <p:cNvGrpSpPr/>
          <p:nvPr/>
        </p:nvGrpSpPr>
        <p:grpSpPr>
          <a:xfrm>
            <a:off x="8187202" y="4231985"/>
            <a:ext cx="1096749" cy="1020364"/>
            <a:chOff x="827350" y="3629733"/>
            <a:chExt cx="1431600" cy="1332067"/>
          </a:xfrm>
        </p:grpSpPr>
        <p:sp>
          <p:nvSpPr>
            <p:cNvPr id="7" name="Google Shape;805;p42">
              <a:extLst>
                <a:ext uri="{FF2B5EF4-FFF2-40B4-BE49-F238E27FC236}">
                  <a16:creationId xmlns:a16="http://schemas.microsoft.com/office/drawing/2014/main" id="{BD23B7F8-F480-2F47-2BFE-E78C791FC87B}"/>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06;p42">
              <a:extLst>
                <a:ext uri="{FF2B5EF4-FFF2-40B4-BE49-F238E27FC236}">
                  <a16:creationId xmlns:a16="http://schemas.microsoft.com/office/drawing/2014/main" id="{F245F17C-7C75-9456-CABF-D8955086323C}"/>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07;p42">
              <a:extLst>
                <a:ext uri="{FF2B5EF4-FFF2-40B4-BE49-F238E27FC236}">
                  <a16:creationId xmlns:a16="http://schemas.microsoft.com/office/drawing/2014/main" id="{C8511B12-D70B-ABC8-069D-2A0708AF65E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532530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1B3D689A-71F7-37A5-29D2-73EAE06F8CB0}"/>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C108FE48-572F-9650-B440-13F9A1A8F686}"/>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246B9F69-A881-9F55-3E52-BCF630EC15D5}"/>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lvl="0"/>
            <a:r>
              <a:rPr lang="en" b="1" dirty="0">
                <a:latin typeface="+mj-lt"/>
              </a:rPr>
              <a:t>CHƯƠNG 6: </a:t>
            </a:r>
            <a:r>
              <a:rPr lang="vi-VN" b="1" dirty="0">
                <a:latin typeface="+mn-lt"/>
              </a:rPr>
              <a:t>ĐÁNH GIÁ NGUỒN CRAAP</a:t>
            </a:r>
            <a:endParaRPr b="1" dirty="0">
              <a:latin typeface="+mn-lt"/>
            </a:endParaRPr>
          </a:p>
        </p:txBody>
      </p:sp>
      <p:grpSp>
        <p:nvGrpSpPr>
          <p:cNvPr id="797" name="Google Shape;797;p42">
            <a:extLst>
              <a:ext uri="{FF2B5EF4-FFF2-40B4-BE49-F238E27FC236}">
                <a16:creationId xmlns:a16="http://schemas.microsoft.com/office/drawing/2014/main" id="{79936D57-EF7E-7DB4-B0C2-2B2668302A56}"/>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798B4D65-D094-EFE0-C5FC-22F192DF4824}"/>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083109EC-3B8A-3064-8D26-FD995FC7DDDC}"/>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2578E96D-6FCA-9609-3FE8-8DBCA8EA7207}"/>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C4BB279C-5803-04E7-3FF8-16DB451EA4D2}"/>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5D9440C0-1657-0167-0AD2-FD5824D94CCA}"/>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37666F47-A5FF-CBEA-DAD4-0BD215908F1D}"/>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78C32B59-030E-5053-B2D0-87555F8DC84F}"/>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93A15D9E-DCAC-561A-7DE4-3EEE7071E1E2}"/>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49F965A2-8618-D688-203F-309AA53BC136}"/>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6A668104-17F6-B0A5-E77D-BD2C3114A96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A35BCFF1-A126-0180-92B9-E79E94475EEB}"/>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C71BB925-05FE-82CE-0E9D-64DEEFEA8CBA}"/>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7C87254D-4542-7B3C-277C-9D4590CD4E0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E7484044-F37F-27BF-3BAA-12DEA8F2E32E}"/>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142BFBF8-640A-E5EB-6CBC-1DF59A631E7D}"/>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067A3EAB-D164-6FA7-37A2-4A5DD6560DB5}"/>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6814CA40-BA38-EC99-6350-7ECF19D5C497}"/>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A20D498C-7EA2-FE91-103D-AE793D1BE36D}"/>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804;p42">
            <a:extLst>
              <a:ext uri="{FF2B5EF4-FFF2-40B4-BE49-F238E27FC236}">
                <a16:creationId xmlns:a16="http://schemas.microsoft.com/office/drawing/2014/main" id="{28BC1F97-3381-FB21-1E90-E106D2612C08}"/>
              </a:ext>
            </a:extLst>
          </p:cNvPr>
          <p:cNvGrpSpPr/>
          <p:nvPr/>
        </p:nvGrpSpPr>
        <p:grpSpPr>
          <a:xfrm>
            <a:off x="8034802" y="4079585"/>
            <a:ext cx="1096749" cy="1020364"/>
            <a:chOff x="827350" y="3629733"/>
            <a:chExt cx="1431600" cy="1332067"/>
          </a:xfrm>
        </p:grpSpPr>
        <p:sp>
          <p:nvSpPr>
            <p:cNvPr id="3" name="Google Shape;805;p42">
              <a:extLst>
                <a:ext uri="{FF2B5EF4-FFF2-40B4-BE49-F238E27FC236}">
                  <a16:creationId xmlns:a16="http://schemas.microsoft.com/office/drawing/2014/main" id="{42AA3FD4-8B68-05A4-6AE9-69FDA779B320}"/>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06;p42">
              <a:extLst>
                <a:ext uri="{FF2B5EF4-FFF2-40B4-BE49-F238E27FC236}">
                  <a16:creationId xmlns:a16="http://schemas.microsoft.com/office/drawing/2014/main" id="{1CE8119D-3D57-B77A-CC22-B5B3F28E636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07;p42">
              <a:extLst>
                <a:ext uri="{FF2B5EF4-FFF2-40B4-BE49-F238E27FC236}">
                  <a16:creationId xmlns:a16="http://schemas.microsoft.com/office/drawing/2014/main" id="{526D1FDD-467A-18B3-DEBA-1549A5C01A37}"/>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804;p42">
            <a:extLst>
              <a:ext uri="{FF2B5EF4-FFF2-40B4-BE49-F238E27FC236}">
                <a16:creationId xmlns:a16="http://schemas.microsoft.com/office/drawing/2014/main" id="{A2EE659F-4AA6-F30A-5E83-DF8750432212}"/>
              </a:ext>
            </a:extLst>
          </p:cNvPr>
          <p:cNvGrpSpPr/>
          <p:nvPr/>
        </p:nvGrpSpPr>
        <p:grpSpPr>
          <a:xfrm>
            <a:off x="8187202" y="4231985"/>
            <a:ext cx="1096749" cy="1020364"/>
            <a:chOff x="827350" y="3629733"/>
            <a:chExt cx="1431600" cy="1332067"/>
          </a:xfrm>
        </p:grpSpPr>
        <p:sp>
          <p:nvSpPr>
            <p:cNvPr id="7" name="Google Shape;805;p42">
              <a:extLst>
                <a:ext uri="{FF2B5EF4-FFF2-40B4-BE49-F238E27FC236}">
                  <a16:creationId xmlns:a16="http://schemas.microsoft.com/office/drawing/2014/main" id="{6B3EE41E-2632-3CA4-A20D-70392B628506}"/>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06;p42">
              <a:extLst>
                <a:ext uri="{FF2B5EF4-FFF2-40B4-BE49-F238E27FC236}">
                  <a16:creationId xmlns:a16="http://schemas.microsoft.com/office/drawing/2014/main" id="{BCE81534-F5B0-5F7F-4EA7-D5FFCEAC336D}"/>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07;p42">
              <a:extLst>
                <a:ext uri="{FF2B5EF4-FFF2-40B4-BE49-F238E27FC236}">
                  <a16:creationId xmlns:a16="http://schemas.microsoft.com/office/drawing/2014/main" id="{5A0E68E2-B939-671A-7671-F2D8EE630EE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10" name="Table 9">
            <a:extLst>
              <a:ext uri="{FF2B5EF4-FFF2-40B4-BE49-F238E27FC236}">
                <a16:creationId xmlns:a16="http://schemas.microsoft.com/office/drawing/2014/main" id="{81EC3A64-068C-1243-C2B2-893D2046745F}"/>
              </a:ext>
            </a:extLst>
          </p:cNvPr>
          <p:cNvGraphicFramePr>
            <a:graphicFrameLocks noGrp="1"/>
          </p:cNvGraphicFramePr>
          <p:nvPr>
            <p:extLst>
              <p:ext uri="{D42A27DB-BD31-4B8C-83A1-F6EECF244321}">
                <p14:modId xmlns:p14="http://schemas.microsoft.com/office/powerpoint/2010/main" val="3321037155"/>
              </p:ext>
            </p:extLst>
          </p:nvPr>
        </p:nvGraphicFramePr>
        <p:xfrm>
          <a:off x="2260175" y="1209396"/>
          <a:ext cx="6089480" cy="3863518"/>
        </p:xfrm>
        <a:graphic>
          <a:graphicData uri="http://schemas.openxmlformats.org/drawingml/2006/table">
            <a:tbl>
              <a:tblPr firstRow="1" firstCol="1" bandRow="1">
                <a:tableStyleId>{7D39478E-FE93-4580-9B40-B0A813745C6C}</a:tableStyleId>
              </a:tblPr>
              <a:tblGrid>
                <a:gridCol w="761185">
                  <a:extLst>
                    <a:ext uri="{9D8B030D-6E8A-4147-A177-3AD203B41FA5}">
                      <a16:colId xmlns:a16="http://schemas.microsoft.com/office/drawing/2014/main" val="2580420049"/>
                    </a:ext>
                  </a:extLst>
                </a:gridCol>
                <a:gridCol w="761185">
                  <a:extLst>
                    <a:ext uri="{9D8B030D-6E8A-4147-A177-3AD203B41FA5}">
                      <a16:colId xmlns:a16="http://schemas.microsoft.com/office/drawing/2014/main" val="2063088527"/>
                    </a:ext>
                  </a:extLst>
                </a:gridCol>
                <a:gridCol w="761185">
                  <a:extLst>
                    <a:ext uri="{9D8B030D-6E8A-4147-A177-3AD203B41FA5}">
                      <a16:colId xmlns:a16="http://schemas.microsoft.com/office/drawing/2014/main" val="2975062684"/>
                    </a:ext>
                  </a:extLst>
                </a:gridCol>
                <a:gridCol w="761185">
                  <a:extLst>
                    <a:ext uri="{9D8B030D-6E8A-4147-A177-3AD203B41FA5}">
                      <a16:colId xmlns:a16="http://schemas.microsoft.com/office/drawing/2014/main" val="4206369355"/>
                    </a:ext>
                  </a:extLst>
                </a:gridCol>
                <a:gridCol w="761185">
                  <a:extLst>
                    <a:ext uri="{9D8B030D-6E8A-4147-A177-3AD203B41FA5}">
                      <a16:colId xmlns:a16="http://schemas.microsoft.com/office/drawing/2014/main" val="725230222"/>
                    </a:ext>
                  </a:extLst>
                </a:gridCol>
                <a:gridCol w="761185">
                  <a:extLst>
                    <a:ext uri="{9D8B030D-6E8A-4147-A177-3AD203B41FA5}">
                      <a16:colId xmlns:a16="http://schemas.microsoft.com/office/drawing/2014/main" val="622718881"/>
                    </a:ext>
                  </a:extLst>
                </a:gridCol>
                <a:gridCol w="761185">
                  <a:extLst>
                    <a:ext uri="{9D8B030D-6E8A-4147-A177-3AD203B41FA5}">
                      <a16:colId xmlns:a16="http://schemas.microsoft.com/office/drawing/2014/main" val="3717840316"/>
                    </a:ext>
                  </a:extLst>
                </a:gridCol>
                <a:gridCol w="761185">
                  <a:extLst>
                    <a:ext uri="{9D8B030D-6E8A-4147-A177-3AD203B41FA5}">
                      <a16:colId xmlns:a16="http://schemas.microsoft.com/office/drawing/2014/main" val="994480760"/>
                    </a:ext>
                  </a:extLst>
                </a:gridCol>
              </a:tblGrid>
              <a:tr h="213513">
                <a:tc>
                  <a:txBody>
                    <a:bodyPr/>
                    <a:lstStyle/>
                    <a:p>
                      <a:pPr algn="ctr">
                        <a:lnSpc>
                          <a:spcPct val="107000"/>
                        </a:lnSpc>
                        <a:spcBef>
                          <a:spcPts val="300"/>
                        </a:spcBef>
                        <a:spcAft>
                          <a:spcPts val="300"/>
                        </a:spcAft>
                        <a:buNone/>
                      </a:pPr>
                      <a:r>
                        <a:rPr lang="vi-VN" sz="900" b="1" dirty="0">
                          <a:solidFill>
                            <a:schemeClr val="bg1"/>
                          </a:solidFill>
                          <a:effectLst/>
                          <a:latin typeface="+mj-lt"/>
                        </a:rPr>
                        <a:t>Nguồn Tham Khảo</a:t>
                      </a:r>
                      <a:endParaRPr lang="vi-VN" sz="900" b="1"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b="1" dirty="0">
                          <a:solidFill>
                            <a:schemeClr val="bg1"/>
                          </a:solidFill>
                          <a:effectLst/>
                          <a:latin typeface="+mj-lt"/>
                        </a:rPr>
                        <a:t>C (Tính thời sự)</a:t>
                      </a:r>
                      <a:endParaRPr lang="vi-VN" sz="900" b="1"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b="1" dirty="0">
                          <a:solidFill>
                            <a:schemeClr val="bg1"/>
                          </a:solidFill>
                          <a:effectLst/>
                          <a:latin typeface="+mj-lt"/>
                        </a:rPr>
                        <a:t>R (Tính liên quan)</a:t>
                      </a:r>
                      <a:endParaRPr lang="vi-VN" sz="900" b="1"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b="1" dirty="0">
                          <a:solidFill>
                            <a:schemeClr val="bg1"/>
                          </a:solidFill>
                          <a:effectLst/>
                          <a:latin typeface="+mj-lt"/>
                        </a:rPr>
                        <a:t>A (Nguồn uy tín)</a:t>
                      </a:r>
                      <a:endParaRPr lang="vi-VN" sz="900" b="1"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b="1" dirty="0">
                          <a:solidFill>
                            <a:schemeClr val="bg1"/>
                          </a:solidFill>
                          <a:effectLst/>
                          <a:latin typeface="+mj-lt"/>
                        </a:rPr>
                        <a:t>A (Độ chính xác)</a:t>
                      </a:r>
                      <a:endParaRPr lang="vi-VN" sz="900" b="1"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b="1" dirty="0">
                          <a:solidFill>
                            <a:schemeClr val="bg1"/>
                          </a:solidFill>
                          <a:effectLst/>
                          <a:latin typeface="+mj-lt"/>
                        </a:rPr>
                        <a:t>P (Mục đích)</a:t>
                      </a:r>
                      <a:endParaRPr lang="vi-VN" sz="900" b="1"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b="1" dirty="0">
                          <a:solidFill>
                            <a:schemeClr val="bg1"/>
                          </a:solidFill>
                          <a:effectLst/>
                          <a:latin typeface="+mj-lt"/>
                        </a:rPr>
                        <a:t>Điểm Tổng</a:t>
                      </a:r>
                      <a:endParaRPr lang="vi-VN" sz="900" b="1"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en-US" sz="900" b="1" dirty="0" err="1">
                          <a:solidFill>
                            <a:schemeClr val="bg1"/>
                          </a:solidFill>
                          <a:effectLst/>
                          <a:latin typeface="+mj-lt"/>
                        </a:rPr>
                        <a:t>Ghi</a:t>
                      </a:r>
                      <a:r>
                        <a:rPr lang="en-US" sz="900" b="1" dirty="0">
                          <a:solidFill>
                            <a:schemeClr val="bg1"/>
                          </a:solidFill>
                          <a:effectLst/>
                          <a:latin typeface="+mj-lt"/>
                        </a:rPr>
                        <a:t> </a:t>
                      </a:r>
                      <a:r>
                        <a:rPr lang="en-US" sz="900" b="1" dirty="0" err="1">
                          <a:solidFill>
                            <a:schemeClr val="bg1"/>
                          </a:solidFill>
                          <a:effectLst/>
                          <a:latin typeface="+mj-lt"/>
                        </a:rPr>
                        <a:t>chú</a:t>
                      </a:r>
                      <a:endParaRPr lang="vi-VN" sz="900" b="1" dirty="0">
                        <a:solidFill>
                          <a:schemeClr val="bg1"/>
                        </a:solidFill>
                        <a:effectLst/>
                        <a:latin typeface="+mj-lt"/>
                        <a:ea typeface="Arial" panose="020B0604020202020204" pitchFamily="34" charset="0"/>
                      </a:endParaRPr>
                    </a:p>
                  </a:txBody>
                  <a:tcPr marL="8622" marR="8622" marT="5748" marB="5748" anchor="ctr"/>
                </a:tc>
                <a:extLst>
                  <a:ext uri="{0D108BD9-81ED-4DB2-BD59-A6C34878D82A}">
                    <a16:rowId xmlns:a16="http://schemas.microsoft.com/office/drawing/2014/main" val="53894997"/>
                  </a:ext>
                </a:extLst>
              </a:tr>
              <a:tr h="557904">
                <a:tc>
                  <a:txBody>
                    <a:bodyPr/>
                    <a:lstStyle/>
                    <a:p>
                      <a:pPr algn="ctr">
                        <a:lnSpc>
                          <a:spcPct val="107000"/>
                        </a:lnSpc>
                        <a:spcBef>
                          <a:spcPts val="300"/>
                        </a:spcBef>
                        <a:spcAft>
                          <a:spcPts val="300"/>
                        </a:spcAft>
                        <a:buNone/>
                      </a:pPr>
                      <a:r>
                        <a:rPr lang="vi-VN" sz="900" b="1" dirty="0">
                          <a:solidFill>
                            <a:schemeClr val="bg1"/>
                          </a:solidFill>
                          <a:effectLst/>
                          <a:latin typeface="+mj-lt"/>
                        </a:rPr>
                        <a:t>Link 1: Bài viết Medium (</a:t>
                      </a:r>
                      <a:r>
                        <a:rPr lang="en-US" sz="900" b="1" dirty="0">
                          <a:solidFill>
                            <a:schemeClr val="bg1"/>
                          </a:solidFill>
                          <a:effectLst/>
                          <a:latin typeface="+mj-lt"/>
                        </a:rPr>
                        <a:t>10/</a:t>
                      </a:r>
                      <a:r>
                        <a:rPr lang="vi-VN" sz="900" b="1" dirty="0">
                          <a:solidFill>
                            <a:schemeClr val="bg1"/>
                          </a:solidFill>
                          <a:effectLst/>
                          <a:latin typeface="+mj-lt"/>
                        </a:rPr>
                        <a:t>2025) - So sánh 4 AI</a:t>
                      </a:r>
                      <a:endParaRPr lang="vi-VN" sz="900" b="1"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5</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5</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3</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4</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4</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21/25</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Rất tốt (Mới nhất, đầy đủ 4 AI, nhưng là blog cá nhân)</a:t>
                      </a:r>
                      <a:endParaRPr lang="vi-VN" sz="900">
                        <a:solidFill>
                          <a:schemeClr val="bg1"/>
                        </a:solidFill>
                        <a:effectLst/>
                        <a:latin typeface="+mj-lt"/>
                        <a:ea typeface="Arial" panose="020B0604020202020204" pitchFamily="34" charset="0"/>
                      </a:endParaRPr>
                    </a:p>
                  </a:txBody>
                  <a:tcPr marL="8622" marR="8622" marT="5748" marB="5748" anchor="ctr"/>
                </a:tc>
                <a:extLst>
                  <a:ext uri="{0D108BD9-81ED-4DB2-BD59-A6C34878D82A}">
                    <a16:rowId xmlns:a16="http://schemas.microsoft.com/office/drawing/2014/main" val="1900769304"/>
                  </a:ext>
                </a:extLst>
              </a:tr>
              <a:tr h="626782">
                <a:tc>
                  <a:txBody>
                    <a:bodyPr/>
                    <a:lstStyle/>
                    <a:p>
                      <a:pPr algn="ctr">
                        <a:lnSpc>
                          <a:spcPct val="107000"/>
                        </a:lnSpc>
                        <a:spcBef>
                          <a:spcPts val="300"/>
                        </a:spcBef>
                        <a:spcAft>
                          <a:spcPts val="300"/>
                        </a:spcAft>
                        <a:buNone/>
                      </a:pPr>
                      <a:r>
                        <a:rPr lang="vi-VN" sz="900" b="1" dirty="0">
                          <a:solidFill>
                            <a:schemeClr val="bg1"/>
                          </a:solidFill>
                          <a:effectLst/>
                          <a:latin typeface="+mj-lt"/>
                        </a:rPr>
                        <a:t>Link 2: Báo cáo Bisup (</a:t>
                      </a:r>
                      <a:r>
                        <a:rPr lang="en-US" sz="900" b="1" dirty="0">
                          <a:solidFill>
                            <a:schemeClr val="bg1"/>
                          </a:solidFill>
                          <a:effectLst/>
                          <a:latin typeface="+mj-lt"/>
                        </a:rPr>
                        <a:t>3/</a:t>
                      </a:r>
                      <a:r>
                        <a:rPr lang="vi-VN" sz="900" b="1" dirty="0">
                          <a:solidFill>
                            <a:schemeClr val="bg1"/>
                          </a:solidFill>
                          <a:effectLst/>
                          <a:latin typeface="+mj-lt"/>
                        </a:rPr>
                        <a:t>2025) - So sánh 4 AI</a:t>
                      </a:r>
                      <a:endParaRPr lang="vi-VN" sz="900" b="1"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dirty="0">
                          <a:solidFill>
                            <a:schemeClr val="bg1"/>
                          </a:solidFill>
                          <a:effectLst/>
                          <a:latin typeface="+mj-lt"/>
                        </a:rPr>
                        <a:t>4</a:t>
                      </a:r>
                      <a:endParaRPr lang="vi-VN" sz="900"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dirty="0">
                          <a:solidFill>
                            <a:schemeClr val="bg1"/>
                          </a:solidFill>
                          <a:effectLst/>
                          <a:latin typeface="+mj-lt"/>
                        </a:rPr>
                        <a:t>5</a:t>
                      </a:r>
                      <a:endParaRPr lang="vi-VN" sz="900"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3</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4</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4</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20/25</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dirty="0">
                          <a:solidFill>
                            <a:schemeClr val="bg1"/>
                          </a:solidFill>
                          <a:effectLst/>
                          <a:latin typeface="+mj-lt"/>
                        </a:rPr>
                        <a:t>Tốt (Cần kiểm tra kỹ Bisup, nhưng cung cấp dữ liệu tốt)</a:t>
                      </a:r>
                      <a:endParaRPr lang="vi-VN" sz="900" dirty="0">
                        <a:solidFill>
                          <a:schemeClr val="bg1"/>
                        </a:solidFill>
                        <a:effectLst/>
                        <a:latin typeface="+mj-lt"/>
                        <a:ea typeface="Arial" panose="020B0604020202020204" pitchFamily="34" charset="0"/>
                      </a:endParaRPr>
                    </a:p>
                  </a:txBody>
                  <a:tcPr marL="8622" marR="8622" marT="5748" marB="5748" anchor="ctr"/>
                </a:tc>
                <a:extLst>
                  <a:ext uri="{0D108BD9-81ED-4DB2-BD59-A6C34878D82A}">
                    <a16:rowId xmlns:a16="http://schemas.microsoft.com/office/drawing/2014/main" val="622951656"/>
                  </a:ext>
                </a:extLst>
              </a:tr>
              <a:tr h="626782">
                <a:tc>
                  <a:txBody>
                    <a:bodyPr/>
                    <a:lstStyle/>
                    <a:p>
                      <a:pPr algn="ctr">
                        <a:lnSpc>
                          <a:spcPct val="107000"/>
                        </a:lnSpc>
                        <a:spcBef>
                          <a:spcPts val="300"/>
                        </a:spcBef>
                        <a:spcAft>
                          <a:spcPts val="300"/>
                        </a:spcAft>
                        <a:buNone/>
                      </a:pPr>
                      <a:r>
                        <a:rPr lang="vi-VN" sz="900" b="1" dirty="0">
                          <a:solidFill>
                            <a:schemeClr val="bg1"/>
                          </a:solidFill>
                          <a:effectLst/>
                          <a:latin typeface="+mj-lt"/>
                        </a:rPr>
                        <a:t>Link 3: Bài báo ResearchGate (2/2025) - Nghiên cứu học thuật 4 AI</a:t>
                      </a:r>
                      <a:endParaRPr lang="vi-VN" sz="900" b="1"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4</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dirty="0">
                          <a:solidFill>
                            <a:schemeClr val="bg1"/>
                          </a:solidFill>
                          <a:effectLst/>
                          <a:latin typeface="+mj-lt"/>
                        </a:rPr>
                        <a:t>5</a:t>
                      </a:r>
                      <a:endParaRPr lang="vi-VN" sz="900"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5</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5</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5</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24/25</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dirty="0">
                          <a:solidFill>
                            <a:schemeClr val="bg1"/>
                          </a:solidFill>
                          <a:effectLst/>
                          <a:latin typeface="+mj-lt"/>
                        </a:rPr>
                        <a:t>Xuất sắc (Uy tín học thuật cao, khách quan, chính xác)</a:t>
                      </a:r>
                      <a:endParaRPr lang="vi-VN" sz="900" dirty="0">
                        <a:solidFill>
                          <a:schemeClr val="bg1"/>
                        </a:solidFill>
                        <a:effectLst/>
                        <a:latin typeface="+mj-lt"/>
                        <a:ea typeface="Arial" panose="020B0604020202020204" pitchFamily="34" charset="0"/>
                      </a:endParaRPr>
                    </a:p>
                  </a:txBody>
                  <a:tcPr marL="8622" marR="8622" marT="5748" marB="5748" anchor="ctr"/>
                </a:tc>
                <a:extLst>
                  <a:ext uri="{0D108BD9-81ED-4DB2-BD59-A6C34878D82A}">
                    <a16:rowId xmlns:a16="http://schemas.microsoft.com/office/drawing/2014/main" val="2804777214"/>
                  </a:ext>
                </a:extLst>
              </a:tr>
              <a:tr h="695660">
                <a:tc>
                  <a:txBody>
                    <a:bodyPr/>
                    <a:lstStyle/>
                    <a:p>
                      <a:pPr algn="ctr">
                        <a:lnSpc>
                          <a:spcPct val="107000"/>
                        </a:lnSpc>
                        <a:spcBef>
                          <a:spcPts val="300"/>
                        </a:spcBef>
                        <a:spcAft>
                          <a:spcPts val="300"/>
                        </a:spcAft>
                        <a:buNone/>
                      </a:pPr>
                      <a:r>
                        <a:rPr lang="vi-VN" sz="900" b="1" dirty="0">
                          <a:solidFill>
                            <a:schemeClr val="bg1"/>
                          </a:solidFill>
                          <a:effectLst/>
                          <a:latin typeface="+mj-lt"/>
                        </a:rPr>
                        <a:t>Link 4: Bài viết TGDD (2/2025) - So sánh Deepseek vs. ChatGPT</a:t>
                      </a:r>
                      <a:endParaRPr lang="vi-VN" sz="900" b="1"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4</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3</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dirty="0">
                          <a:solidFill>
                            <a:schemeClr val="bg1"/>
                          </a:solidFill>
                          <a:effectLst/>
                          <a:latin typeface="+mj-lt"/>
                        </a:rPr>
                        <a:t>4</a:t>
                      </a:r>
                      <a:endParaRPr lang="vi-VN" sz="900"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dirty="0">
                          <a:solidFill>
                            <a:schemeClr val="bg1"/>
                          </a:solidFill>
                          <a:effectLst/>
                          <a:latin typeface="+mj-lt"/>
                        </a:rPr>
                        <a:t>4</a:t>
                      </a:r>
                      <a:endParaRPr lang="vi-VN" sz="900"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dirty="0">
                          <a:solidFill>
                            <a:schemeClr val="bg1"/>
                          </a:solidFill>
                          <a:effectLst/>
                          <a:latin typeface="+mj-lt"/>
                        </a:rPr>
                        <a:t>4</a:t>
                      </a:r>
                      <a:endParaRPr lang="vi-VN" sz="900"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dirty="0">
                          <a:solidFill>
                            <a:schemeClr val="bg1"/>
                          </a:solidFill>
                          <a:effectLst/>
                          <a:latin typeface="+mj-lt"/>
                        </a:rPr>
                        <a:t>19/25</a:t>
                      </a:r>
                      <a:endParaRPr lang="vi-VN" sz="900"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Khá (Thời sự tốt, nhưng thiếu Grok và Gemini, TGDD uy tín)</a:t>
                      </a:r>
                      <a:endParaRPr lang="vi-VN" sz="900">
                        <a:solidFill>
                          <a:schemeClr val="bg1"/>
                        </a:solidFill>
                        <a:effectLst/>
                        <a:latin typeface="+mj-lt"/>
                        <a:ea typeface="Arial" panose="020B0604020202020204" pitchFamily="34" charset="0"/>
                      </a:endParaRPr>
                    </a:p>
                  </a:txBody>
                  <a:tcPr marL="8622" marR="8622" marT="5748" marB="5748" anchor="ctr"/>
                </a:tc>
                <a:extLst>
                  <a:ext uri="{0D108BD9-81ED-4DB2-BD59-A6C34878D82A}">
                    <a16:rowId xmlns:a16="http://schemas.microsoft.com/office/drawing/2014/main" val="1351629325"/>
                  </a:ext>
                </a:extLst>
              </a:tr>
              <a:tr h="695660">
                <a:tc>
                  <a:txBody>
                    <a:bodyPr/>
                    <a:lstStyle/>
                    <a:p>
                      <a:pPr algn="ctr">
                        <a:lnSpc>
                          <a:spcPct val="107000"/>
                        </a:lnSpc>
                        <a:spcBef>
                          <a:spcPts val="300"/>
                        </a:spcBef>
                        <a:spcAft>
                          <a:spcPts val="300"/>
                        </a:spcAft>
                        <a:buNone/>
                      </a:pPr>
                      <a:r>
                        <a:rPr lang="vi-VN" sz="900" b="1" dirty="0">
                          <a:solidFill>
                            <a:schemeClr val="bg1"/>
                          </a:solidFill>
                          <a:effectLst/>
                          <a:latin typeface="+mj-lt"/>
                        </a:rPr>
                        <a:t>Link 5: Bài viết 24hStore (</a:t>
                      </a:r>
                      <a:r>
                        <a:rPr lang="en-US" sz="900" b="1" dirty="0">
                          <a:solidFill>
                            <a:schemeClr val="bg1"/>
                          </a:solidFill>
                          <a:effectLst/>
                          <a:latin typeface="+mj-lt"/>
                        </a:rPr>
                        <a:t>5/</a:t>
                      </a:r>
                      <a:r>
                        <a:rPr lang="vi-VN" sz="900" b="1" dirty="0">
                          <a:solidFill>
                            <a:schemeClr val="bg1"/>
                          </a:solidFill>
                          <a:effectLst/>
                          <a:latin typeface="+mj-lt"/>
                        </a:rPr>
                        <a:t>2025) - So sánh Grok vs. DeepSeek</a:t>
                      </a:r>
                      <a:endParaRPr lang="vi-VN" sz="900" b="1"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5</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3</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3</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4</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a:solidFill>
                            <a:schemeClr val="bg1"/>
                          </a:solidFill>
                          <a:effectLst/>
                          <a:latin typeface="+mj-lt"/>
                        </a:rPr>
                        <a:t>4</a:t>
                      </a:r>
                      <a:endParaRPr lang="vi-VN" sz="90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dirty="0">
                          <a:solidFill>
                            <a:schemeClr val="bg1"/>
                          </a:solidFill>
                          <a:effectLst/>
                          <a:latin typeface="+mj-lt"/>
                        </a:rPr>
                        <a:t>19/25</a:t>
                      </a:r>
                      <a:endParaRPr lang="vi-VN" sz="900" dirty="0">
                        <a:solidFill>
                          <a:schemeClr val="bg1"/>
                        </a:solidFill>
                        <a:effectLst/>
                        <a:latin typeface="+mj-lt"/>
                        <a:ea typeface="Arial" panose="020B0604020202020204" pitchFamily="34" charset="0"/>
                      </a:endParaRPr>
                    </a:p>
                  </a:txBody>
                  <a:tcPr marL="8622" marR="8622" marT="5748" marB="5748" anchor="ctr"/>
                </a:tc>
                <a:tc>
                  <a:txBody>
                    <a:bodyPr/>
                    <a:lstStyle/>
                    <a:p>
                      <a:pPr algn="ctr">
                        <a:lnSpc>
                          <a:spcPct val="107000"/>
                        </a:lnSpc>
                        <a:spcBef>
                          <a:spcPts val="300"/>
                        </a:spcBef>
                        <a:spcAft>
                          <a:spcPts val="300"/>
                        </a:spcAft>
                        <a:buNone/>
                      </a:pPr>
                      <a:r>
                        <a:rPr lang="vi-VN" sz="900" dirty="0">
                          <a:solidFill>
                            <a:schemeClr val="bg1"/>
                          </a:solidFill>
                          <a:effectLst/>
                          <a:latin typeface="+mj-lt"/>
                        </a:rPr>
                        <a:t>Khá (Rất mới, nhưng chỉ tập trung vào 2 AI)</a:t>
                      </a:r>
                      <a:endParaRPr lang="vi-VN" sz="900" dirty="0">
                        <a:solidFill>
                          <a:schemeClr val="bg1"/>
                        </a:solidFill>
                        <a:effectLst/>
                        <a:latin typeface="+mj-lt"/>
                        <a:ea typeface="Arial" panose="020B0604020202020204" pitchFamily="34" charset="0"/>
                      </a:endParaRPr>
                    </a:p>
                  </a:txBody>
                  <a:tcPr marL="8622" marR="8622" marT="5748" marB="5748" anchor="ctr"/>
                </a:tc>
                <a:extLst>
                  <a:ext uri="{0D108BD9-81ED-4DB2-BD59-A6C34878D82A}">
                    <a16:rowId xmlns:a16="http://schemas.microsoft.com/office/drawing/2014/main" val="1155805929"/>
                  </a:ext>
                </a:extLst>
              </a:tr>
            </a:tbl>
          </a:graphicData>
        </a:graphic>
      </p:graphicFrame>
      <p:sp>
        <p:nvSpPr>
          <p:cNvPr id="11" name="Rectangle 1">
            <a:extLst>
              <a:ext uri="{FF2B5EF4-FFF2-40B4-BE49-F238E27FC236}">
                <a16:creationId xmlns:a16="http://schemas.microsoft.com/office/drawing/2014/main" id="{98828EFA-B3D3-DF4F-1036-E3670C76281A}"/>
              </a:ext>
            </a:extLst>
          </p:cNvPr>
          <p:cNvSpPr>
            <a:spLocks noGrp="1" noChangeArrowheads="1"/>
          </p:cNvSpPr>
          <p:nvPr>
            <p:ph type="body" idx="1"/>
          </p:nvPr>
        </p:nvSpPr>
        <p:spPr bwMode="auto">
          <a:xfrm>
            <a:off x="544960" y="2125541"/>
            <a:ext cx="1665841" cy="1015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50784" numCol="1" anchor="ctr" anchorCtr="0" compatLnSpc="1">
            <a:prstTxWarp prst="textNoShape">
              <a:avLst/>
            </a:prstTxWarp>
            <a:spAutoFit/>
          </a:bodyPr>
          <a:lstStyle/>
          <a:p>
            <a:pPr marL="0" indent="0" eaLnBrk="0" fontAlgn="base" hangingPunct="0">
              <a:spcBef>
                <a:spcPct val="0"/>
              </a:spcBef>
              <a:spcAft>
                <a:spcPct val="0"/>
              </a:spcAft>
              <a:buClrTx/>
              <a:buSzTx/>
              <a:buNone/>
            </a:pPr>
            <a:r>
              <a:rPr kumimoji="0" lang="en-US" altLang="vi-VN" sz="1800" b="1" i="0" u="none" strike="noStrike" cap="none" normalizeH="0" baseline="0" dirty="0" err="1">
                <a:ln>
                  <a:noFill/>
                </a:ln>
                <a:solidFill>
                  <a:schemeClr val="bg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Bảng</a:t>
            </a:r>
            <a:r>
              <a:rPr kumimoji="0" lang="en-US" altLang="vi-VN" sz="1800" b="1" i="0" u="none" strike="noStrike" cap="none" normalizeH="0" baseline="0" dirty="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vi-VN" sz="1800" b="1" i="0" u="none" strike="noStrike" cap="none" normalizeH="0" baseline="0" dirty="0" err="1">
                <a:ln>
                  <a:noFill/>
                </a:ln>
                <a:solidFill>
                  <a:schemeClr val="bg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đánh</a:t>
            </a:r>
            <a:r>
              <a:rPr kumimoji="0" lang="en-US" altLang="vi-VN" sz="1800" b="1" i="0" u="none" strike="noStrike" cap="none" normalizeH="0" baseline="0" dirty="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vi-VN" sz="1800" b="1" i="0" u="none" strike="noStrike" cap="none" normalizeH="0" baseline="0" dirty="0" err="1">
                <a:ln>
                  <a:noFill/>
                </a:ln>
                <a:solidFill>
                  <a:schemeClr val="bg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giá</a:t>
            </a:r>
            <a:r>
              <a:rPr kumimoji="0" lang="en-US" altLang="vi-VN" sz="1800" b="1" i="0" u="none" strike="noStrike" cap="none" normalizeH="0" baseline="0" dirty="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eaLnBrk="0" fontAlgn="base" hangingPunct="0">
              <a:spcBef>
                <a:spcPct val="0"/>
              </a:spcBef>
              <a:spcAft>
                <a:spcPct val="0"/>
              </a:spcAft>
              <a:buClrTx/>
              <a:buSzTx/>
              <a:buNone/>
            </a:pPr>
            <a:r>
              <a:rPr kumimoji="0" lang="en-US" altLang="vi-VN" sz="1800" b="1" i="0" u="none" strike="noStrike" cap="none" normalizeH="0" baseline="0" dirty="0" err="1">
                <a:ln>
                  <a:noFill/>
                </a:ln>
                <a:solidFill>
                  <a:schemeClr val="bg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theo</a:t>
            </a:r>
            <a:r>
              <a:rPr kumimoji="0" lang="en-US" altLang="vi-VN" sz="1800" b="1" i="0" u="none" strike="noStrike" cap="none" normalizeH="0" baseline="0" dirty="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 CRAAP</a:t>
            </a:r>
            <a:endParaRPr kumimoji="0" lang="vi-VN" altLang="vi-VN" sz="1800" b="1" i="0" u="none" strike="noStrike" cap="none" normalizeH="0" baseline="0" dirty="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2000" b="0" i="0" u="none" strike="noStrike" cap="none" normalizeH="0" baseline="0" dirty="0">
              <a:ln>
                <a:noFill/>
              </a:ln>
              <a:solidFill>
                <a:schemeClr val="bg1"/>
              </a:solidFill>
              <a:effectLst>
                <a:outerShdw blurRad="38100" dist="38100" dir="2700000" algn="tl">
                  <a:srgbClr val="000000">
                    <a:alpha val="43137"/>
                  </a:srgbClr>
                </a:outerShdw>
              </a:effectLst>
              <a:latin typeface="Arial" panose="020B0604020202020204" pitchFamily="34" charset="0"/>
            </a:endParaRPr>
          </a:p>
        </p:txBody>
      </p:sp>
    </p:spTree>
    <p:extLst>
      <p:ext uri="{BB962C8B-B14F-4D97-AF65-F5344CB8AC3E}">
        <p14:creationId xmlns:p14="http://schemas.microsoft.com/office/powerpoint/2010/main" val="29307314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A7096EAF-2515-61D4-28C8-0F0AD9070776}"/>
            </a:ext>
          </a:extLst>
        </p:cNvPr>
        <p:cNvGrpSpPr/>
        <p:nvPr/>
      </p:nvGrpSpPr>
      <p:grpSpPr>
        <a:xfrm>
          <a:off x="0" y="0"/>
          <a:ext cx="0" cy="0"/>
          <a:chOff x="0" y="0"/>
          <a:chExt cx="0" cy="0"/>
        </a:xfrm>
      </p:grpSpPr>
      <p:sp>
        <p:nvSpPr>
          <p:cNvPr id="396" name="Google Shape;396;p33">
            <a:extLst>
              <a:ext uri="{FF2B5EF4-FFF2-40B4-BE49-F238E27FC236}">
                <a16:creationId xmlns:a16="http://schemas.microsoft.com/office/drawing/2014/main" id="{11558E0B-9327-5C86-637F-15A56B02A706}"/>
              </a:ext>
            </a:extLst>
          </p:cNvPr>
          <p:cNvSpPr/>
          <p:nvPr/>
        </p:nvSpPr>
        <p:spPr>
          <a:xfrm>
            <a:off x="1339813" y="1228150"/>
            <a:ext cx="2911500" cy="24768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a:extLst>
              <a:ext uri="{FF2B5EF4-FFF2-40B4-BE49-F238E27FC236}">
                <a16:creationId xmlns:a16="http://schemas.microsoft.com/office/drawing/2014/main" id="{8B7692CE-A28E-074F-D7C2-6FE78C488E57}"/>
              </a:ext>
            </a:extLst>
          </p:cNvPr>
          <p:cNvSpPr txBox="1">
            <a:spLocks noGrp="1"/>
          </p:cNvSpPr>
          <p:nvPr>
            <p:ph type="title"/>
          </p:nvPr>
        </p:nvSpPr>
        <p:spPr>
          <a:xfrm>
            <a:off x="4140632" y="2015250"/>
            <a:ext cx="4871560" cy="1113000"/>
          </a:xfrm>
          <a:prstGeom prst="rect">
            <a:avLst/>
          </a:prstGeom>
        </p:spPr>
        <p:txBody>
          <a:bodyPr spcFirstLastPara="1" wrap="square" lIns="91425" tIns="91425" rIns="91425" bIns="91425" anchor="b" anchorCtr="0">
            <a:noAutofit/>
          </a:bodyPr>
          <a:lstStyle/>
          <a:p>
            <a:pPr algn="ctr"/>
            <a:r>
              <a:rPr lang="en-US" b="1" dirty="0">
                <a:latin typeface="+mj-lt"/>
              </a:rPr>
              <a:t>YẾU TỐ ĐẠO ĐỨC VÀ BẢO MẬT</a:t>
            </a:r>
            <a:endParaRPr lang="vi-VN" sz="2800" dirty="0">
              <a:effectLst/>
              <a:latin typeface="+mj-lt"/>
            </a:endParaRPr>
          </a:p>
        </p:txBody>
      </p:sp>
      <p:sp>
        <p:nvSpPr>
          <p:cNvPr id="399" name="Google Shape;399;p33">
            <a:extLst>
              <a:ext uri="{FF2B5EF4-FFF2-40B4-BE49-F238E27FC236}">
                <a16:creationId xmlns:a16="http://schemas.microsoft.com/office/drawing/2014/main" id="{9CB08170-5177-7D97-7873-07D29AE52634}"/>
              </a:ext>
            </a:extLst>
          </p:cNvPr>
          <p:cNvSpPr txBox="1">
            <a:spLocks noGrp="1"/>
          </p:cNvSpPr>
          <p:nvPr>
            <p:ph type="title" idx="2"/>
          </p:nvPr>
        </p:nvSpPr>
        <p:spPr>
          <a:xfrm>
            <a:off x="1931113" y="1872250"/>
            <a:ext cx="1936944" cy="118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07</a:t>
            </a:r>
            <a:endParaRPr dirty="0"/>
          </a:p>
        </p:txBody>
      </p:sp>
      <p:grpSp>
        <p:nvGrpSpPr>
          <p:cNvPr id="400" name="Google Shape;400;p33">
            <a:extLst>
              <a:ext uri="{FF2B5EF4-FFF2-40B4-BE49-F238E27FC236}">
                <a16:creationId xmlns:a16="http://schemas.microsoft.com/office/drawing/2014/main" id="{12F64C27-43A1-BD94-5DCD-E864A8345FCB}"/>
              </a:ext>
            </a:extLst>
          </p:cNvPr>
          <p:cNvGrpSpPr/>
          <p:nvPr/>
        </p:nvGrpSpPr>
        <p:grpSpPr>
          <a:xfrm rot="10800000">
            <a:off x="8057882" y="382596"/>
            <a:ext cx="288601" cy="1096693"/>
            <a:chOff x="1006700" y="2603975"/>
            <a:chExt cx="55450" cy="210700"/>
          </a:xfrm>
        </p:grpSpPr>
        <p:sp>
          <p:nvSpPr>
            <p:cNvPr id="401" name="Google Shape;401;p33">
              <a:extLst>
                <a:ext uri="{FF2B5EF4-FFF2-40B4-BE49-F238E27FC236}">
                  <a16:creationId xmlns:a16="http://schemas.microsoft.com/office/drawing/2014/main" id="{8ED44A26-7665-B372-E558-933242D03368}"/>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a:extLst>
                <a:ext uri="{FF2B5EF4-FFF2-40B4-BE49-F238E27FC236}">
                  <a16:creationId xmlns:a16="http://schemas.microsoft.com/office/drawing/2014/main" id="{8838DD86-D0D5-2BC2-373D-D106BEC065C3}"/>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a:extLst>
                <a:ext uri="{FF2B5EF4-FFF2-40B4-BE49-F238E27FC236}">
                  <a16:creationId xmlns:a16="http://schemas.microsoft.com/office/drawing/2014/main" id="{1454B036-1DD0-B4F3-C1EB-C4C7D4C9D78F}"/>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a:extLst>
                <a:ext uri="{FF2B5EF4-FFF2-40B4-BE49-F238E27FC236}">
                  <a16:creationId xmlns:a16="http://schemas.microsoft.com/office/drawing/2014/main" id="{C7923080-342F-EA51-A307-DADC47A55C01}"/>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a:extLst>
                <a:ext uri="{FF2B5EF4-FFF2-40B4-BE49-F238E27FC236}">
                  <a16:creationId xmlns:a16="http://schemas.microsoft.com/office/drawing/2014/main" id="{D5F39C3C-FD21-1520-CB2E-E5E92DD01839}"/>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a:extLst>
                <a:ext uri="{FF2B5EF4-FFF2-40B4-BE49-F238E27FC236}">
                  <a16:creationId xmlns:a16="http://schemas.microsoft.com/office/drawing/2014/main" id="{EA4E6F19-A58A-9DA5-A057-6625605C7D70}"/>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a:extLst>
              <a:ext uri="{FF2B5EF4-FFF2-40B4-BE49-F238E27FC236}">
                <a16:creationId xmlns:a16="http://schemas.microsoft.com/office/drawing/2014/main" id="{260E8976-6547-0A1D-D5D1-1DA1A0A2BF72}"/>
              </a:ext>
            </a:extLst>
          </p:cNvPr>
          <p:cNvGrpSpPr/>
          <p:nvPr/>
        </p:nvGrpSpPr>
        <p:grpSpPr>
          <a:xfrm>
            <a:off x="558602" y="508321"/>
            <a:ext cx="781224" cy="726909"/>
            <a:chOff x="827350" y="3629733"/>
            <a:chExt cx="1431600" cy="1332067"/>
          </a:xfrm>
        </p:grpSpPr>
        <p:sp>
          <p:nvSpPr>
            <p:cNvPr id="408" name="Google Shape;408;p33">
              <a:extLst>
                <a:ext uri="{FF2B5EF4-FFF2-40B4-BE49-F238E27FC236}">
                  <a16:creationId xmlns:a16="http://schemas.microsoft.com/office/drawing/2014/main" id="{3F72ED14-E932-311F-ABAE-12A67726112E}"/>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a:extLst>
                <a:ext uri="{FF2B5EF4-FFF2-40B4-BE49-F238E27FC236}">
                  <a16:creationId xmlns:a16="http://schemas.microsoft.com/office/drawing/2014/main" id="{E48FF573-3EFE-6EDD-E094-D83E74531386}"/>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a:extLst>
                <a:ext uri="{FF2B5EF4-FFF2-40B4-BE49-F238E27FC236}">
                  <a16:creationId xmlns:a16="http://schemas.microsoft.com/office/drawing/2014/main" id="{5C4014C3-3122-5DE6-B426-1250D6DF4094}"/>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a:extLst>
              <a:ext uri="{FF2B5EF4-FFF2-40B4-BE49-F238E27FC236}">
                <a16:creationId xmlns:a16="http://schemas.microsoft.com/office/drawing/2014/main" id="{CFCBAF28-17D3-58FD-7FEB-5F248EB122CF}"/>
              </a:ext>
            </a:extLst>
          </p:cNvPr>
          <p:cNvGrpSpPr/>
          <p:nvPr/>
        </p:nvGrpSpPr>
        <p:grpSpPr>
          <a:xfrm>
            <a:off x="1387564" y="321673"/>
            <a:ext cx="356325" cy="331552"/>
            <a:chOff x="827350" y="3629733"/>
            <a:chExt cx="1431600" cy="1332067"/>
          </a:xfrm>
        </p:grpSpPr>
        <p:sp>
          <p:nvSpPr>
            <p:cNvPr id="412" name="Google Shape;412;p33">
              <a:extLst>
                <a:ext uri="{FF2B5EF4-FFF2-40B4-BE49-F238E27FC236}">
                  <a16:creationId xmlns:a16="http://schemas.microsoft.com/office/drawing/2014/main" id="{D5B2B22B-EB48-8C08-2F4A-7CB559631047}"/>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E881B5B6-54BA-E407-B071-02E1E4BCACEC}"/>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E64638FA-0994-5442-D0E9-7EBA55B2AA26}"/>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a:extLst>
              <a:ext uri="{FF2B5EF4-FFF2-40B4-BE49-F238E27FC236}">
                <a16:creationId xmlns:a16="http://schemas.microsoft.com/office/drawing/2014/main" id="{9B380485-82DC-8109-F939-CB88F60955FC}"/>
              </a:ext>
            </a:extLst>
          </p:cNvPr>
          <p:cNvGrpSpPr/>
          <p:nvPr/>
        </p:nvGrpSpPr>
        <p:grpSpPr>
          <a:xfrm>
            <a:off x="7535601" y="3848738"/>
            <a:ext cx="895180" cy="832942"/>
            <a:chOff x="827350" y="3629733"/>
            <a:chExt cx="1431600" cy="1332067"/>
          </a:xfrm>
        </p:grpSpPr>
        <p:sp>
          <p:nvSpPr>
            <p:cNvPr id="416" name="Google Shape;416;p33">
              <a:extLst>
                <a:ext uri="{FF2B5EF4-FFF2-40B4-BE49-F238E27FC236}">
                  <a16:creationId xmlns:a16="http://schemas.microsoft.com/office/drawing/2014/main" id="{F6090666-B24B-C307-0348-868524BA3450}"/>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C3858366-8715-B877-543C-6622D53C57EE}"/>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FE77FFAB-9346-89EE-34DB-82BB48B03FA8}"/>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a:extLst>
              <a:ext uri="{FF2B5EF4-FFF2-40B4-BE49-F238E27FC236}">
                <a16:creationId xmlns:a16="http://schemas.microsoft.com/office/drawing/2014/main" id="{CB960EB8-F6C2-BC49-A1F5-8279E93F3571}"/>
              </a:ext>
            </a:extLst>
          </p:cNvPr>
          <p:cNvGrpSpPr/>
          <p:nvPr/>
        </p:nvGrpSpPr>
        <p:grpSpPr>
          <a:xfrm>
            <a:off x="7902683" y="2980240"/>
            <a:ext cx="598982" cy="557337"/>
            <a:chOff x="827350" y="3629733"/>
            <a:chExt cx="1431600" cy="1332067"/>
          </a:xfrm>
        </p:grpSpPr>
        <p:sp>
          <p:nvSpPr>
            <p:cNvPr id="420" name="Google Shape;420;p33">
              <a:extLst>
                <a:ext uri="{FF2B5EF4-FFF2-40B4-BE49-F238E27FC236}">
                  <a16:creationId xmlns:a16="http://schemas.microsoft.com/office/drawing/2014/main" id="{84BC9D5E-CE32-3F20-0F2F-DC719C64463C}"/>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4CD7D8F3-9BC6-8BF7-824F-F0C61A5511F9}"/>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4AC8E7E4-8768-3956-3CDB-9C5948F17ED0}"/>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a:extLst>
              <a:ext uri="{FF2B5EF4-FFF2-40B4-BE49-F238E27FC236}">
                <a16:creationId xmlns:a16="http://schemas.microsoft.com/office/drawing/2014/main" id="{BE4840BA-6592-E9D4-5EE9-856DD038DFA3}"/>
              </a:ext>
            </a:extLst>
          </p:cNvPr>
          <p:cNvGrpSpPr/>
          <p:nvPr/>
        </p:nvGrpSpPr>
        <p:grpSpPr>
          <a:xfrm>
            <a:off x="6634531" y="4239131"/>
            <a:ext cx="464268" cy="431989"/>
            <a:chOff x="827350" y="3629733"/>
            <a:chExt cx="1431600" cy="1332067"/>
          </a:xfrm>
        </p:grpSpPr>
        <p:sp>
          <p:nvSpPr>
            <p:cNvPr id="424" name="Google Shape;424;p33">
              <a:extLst>
                <a:ext uri="{FF2B5EF4-FFF2-40B4-BE49-F238E27FC236}">
                  <a16:creationId xmlns:a16="http://schemas.microsoft.com/office/drawing/2014/main" id="{CAD44612-D67E-1331-1271-433D0374DB89}"/>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F712EC18-6599-4454-B696-1FCCDB8492C9}"/>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6A812F3D-454C-269B-3E1A-85B01C41C0F9}"/>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a:extLst>
              <a:ext uri="{FF2B5EF4-FFF2-40B4-BE49-F238E27FC236}">
                <a16:creationId xmlns:a16="http://schemas.microsoft.com/office/drawing/2014/main" id="{E5582FB5-6F54-5496-4F1F-3905686D12B6}"/>
              </a:ext>
            </a:extLst>
          </p:cNvPr>
          <p:cNvGrpSpPr/>
          <p:nvPr/>
        </p:nvGrpSpPr>
        <p:grpSpPr>
          <a:xfrm rot="5400000">
            <a:off x="962657" y="3906771"/>
            <a:ext cx="288601" cy="1096693"/>
            <a:chOff x="1006700" y="2603975"/>
            <a:chExt cx="55450" cy="210700"/>
          </a:xfrm>
        </p:grpSpPr>
        <p:sp>
          <p:nvSpPr>
            <p:cNvPr id="428" name="Google Shape;428;p33">
              <a:extLst>
                <a:ext uri="{FF2B5EF4-FFF2-40B4-BE49-F238E27FC236}">
                  <a16:creationId xmlns:a16="http://schemas.microsoft.com/office/drawing/2014/main" id="{15698916-3337-283A-546D-941B9D4BB1DA}"/>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DC931F48-4B31-E9A5-2F6C-464ABACBEB74}"/>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98BDD5F6-E5D5-F0D8-9176-BCCE0FEDABD0}"/>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a:extLst>
                <a:ext uri="{FF2B5EF4-FFF2-40B4-BE49-F238E27FC236}">
                  <a16:creationId xmlns:a16="http://schemas.microsoft.com/office/drawing/2014/main" id="{FEC41BEA-C2FB-7639-F4F7-94410CF648FB}"/>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a:extLst>
                <a:ext uri="{FF2B5EF4-FFF2-40B4-BE49-F238E27FC236}">
                  <a16:creationId xmlns:a16="http://schemas.microsoft.com/office/drawing/2014/main" id="{A1F68A00-4BC7-9C54-DD21-72F55AA2642E}"/>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a:extLst>
                <a:ext uri="{FF2B5EF4-FFF2-40B4-BE49-F238E27FC236}">
                  <a16:creationId xmlns:a16="http://schemas.microsoft.com/office/drawing/2014/main" id="{7A99CEB4-37E6-7B08-8551-CA7A2A1EF93B}"/>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988165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DFB7B8BA-953E-D0E1-C240-F00D8658D983}"/>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8AFFB0D9-4BF4-DB72-8625-CF6383CC1349}"/>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9CC5DFC1-15FB-2E27-AD84-0B4F8BDD6F4C}"/>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lvl="0"/>
            <a:r>
              <a:rPr lang="en" b="1" dirty="0">
                <a:latin typeface="+mj-lt"/>
              </a:rPr>
              <a:t>CHƯƠNG 7: </a:t>
            </a:r>
            <a:r>
              <a:rPr lang="en-US" sz="2400" b="1" dirty="0">
                <a:latin typeface="+mj-lt"/>
              </a:rPr>
              <a:t>YẾU TỐ ĐẠO ĐỨC VÀ BẢO MẬT</a:t>
            </a:r>
            <a:endParaRPr b="1" dirty="0">
              <a:latin typeface="+mj-lt"/>
            </a:endParaRPr>
          </a:p>
        </p:txBody>
      </p:sp>
      <p:grpSp>
        <p:nvGrpSpPr>
          <p:cNvPr id="797" name="Google Shape;797;p42">
            <a:extLst>
              <a:ext uri="{FF2B5EF4-FFF2-40B4-BE49-F238E27FC236}">
                <a16:creationId xmlns:a16="http://schemas.microsoft.com/office/drawing/2014/main" id="{18E2FF42-0436-DC2E-71BE-06C83085130A}"/>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64F62F39-55ED-FE6E-24F8-C32427E04E2A}"/>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F4D5450A-5895-02A2-CDFE-5B7E0ADEEBC7}"/>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6B50F658-474C-7B09-0368-919DD660F2E0}"/>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A850E2F8-E147-0F4D-5315-721857976960}"/>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286A31D9-65E1-E02E-7D5F-C2FAF6D56E32}"/>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E2B90F40-40B4-9292-986C-EB0EE614DA6D}"/>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2A1E18D1-F07A-525F-823C-DBC58BC58BCD}"/>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D7D8ECE7-87DD-F20B-15C7-BDFA6E293AB1}"/>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F4D0DB3D-66D0-C303-3CD3-9C40FBA4EC6C}"/>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97043844-5B1D-BC35-358C-3710A9C01A54}"/>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271A9208-DB79-77A2-4F24-325942528EDB}"/>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264CC4AA-805E-99D5-C5F2-20467A31046F}"/>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1C460442-40FE-BFE4-185C-6995528942A7}"/>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3ABCADE9-407D-7D26-AC0A-6E5A92692D42}"/>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F81A0BDB-5996-3EB5-7C1D-6694209CEC03}"/>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A43729EE-3B74-B070-EC97-F99F5646EBDC}"/>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39BA6009-0DF9-D392-21CB-7FD8FC4E7EC2}"/>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C255EF99-F367-3F01-4F8B-18E2443545D7}"/>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6" name="Google Shape;796;p42">
            <a:extLst>
              <a:ext uri="{FF2B5EF4-FFF2-40B4-BE49-F238E27FC236}">
                <a16:creationId xmlns:a16="http://schemas.microsoft.com/office/drawing/2014/main" id="{B6043D51-F790-3314-18CC-AD5306B87730}"/>
              </a:ext>
            </a:extLst>
          </p:cNvPr>
          <p:cNvSpPr txBox="1">
            <a:spLocks noGrp="1"/>
          </p:cNvSpPr>
          <p:nvPr>
            <p:ph type="body" idx="1"/>
          </p:nvPr>
        </p:nvSpPr>
        <p:spPr>
          <a:xfrm>
            <a:off x="713225" y="1246560"/>
            <a:ext cx="7704000" cy="2594700"/>
          </a:xfrm>
          <a:prstGeom prst="rect">
            <a:avLst/>
          </a:prstGeom>
        </p:spPr>
        <p:txBody>
          <a:bodyPr spcFirstLastPara="1" wrap="square" lIns="91425" tIns="91425" rIns="91425" bIns="91425" anchor="t" anchorCtr="0">
            <a:noAutofit/>
          </a:bodyPr>
          <a:lstStyle/>
          <a:p>
            <a:pPr lvl="1"/>
            <a:r>
              <a:rPr lang="vi-VN" b="1" dirty="0"/>
              <a:t>Quyền riêng tư</a:t>
            </a:r>
          </a:p>
          <a:p>
            <a:r>
              <a:rPr lang="vi-VN" sz="1400" dirty="0"/>
              <a:t>Quyền riêng tư là một nền tảng quan trọng của đạo đức AI, đặc biệt </a:t>
            </a:r>
            <a:r>
              <a:rPr lang="vi-VN" dirty="0"/>
              <a:t>khi các mô hình như ChatGPT và GeminiAI phụ thuộc vào tập dữ liệu khổng lồ để huấn luyện. Việc thu thập và xử lý thông tin cá nhân một cách trái phép đặt ra những rủi ro đáng kể — có thể dẫn đến lộ lọt dữ liệu nhạy cảm. Ví dụ, một sự cố năm 2023 liên quan đến ChatGPT của OpenAI cho thấy có những lỗ hổng khiến lời nhắc (prompts) của người dùng vô tình tiết lộ chi tiết riêng tư, như Cơ quan An ninh Mạng và Cơ sở hạ tầng Mỹ (CISA) báo cáo. Điều này làm nổi bật mâu thuẫn giữa nhu cầu dữ liệu lớn của AI và quyền cá nhân. Nghiên cứu của Ủy ban Châu Âu (2024) nhấn mạnh tầm quan trọng của các quy định như GDPR, đòi hỏi minh bạch và sự đồng ý trong xử lý dữ liệu. Nếu không có các giao thức bảo mật nghiêm ngặt, các hệ thống AI có nguy cơ làm xói mòn niềm tin — như một khảo sát của Pew Research Center (2023) cho thấy 74% người Mỹ lo ngại về tác động của AI đối với quyền riêng tư cá nhân. Vì vậy, phát triển AI có đạo đức yêu cầu mã hóa mạnh, kỹ thuật ẩn danh, và kiểm soát theo hướng người dùng để bảo vệ quyền riêng tư đồng thời vẫn thúc đẩy đổi mới.</a:t>
            </a:r>
            <a:endParaRPr lang="vi-VN" sz="1100" dirty="0"/>
          </a:p>
        </p:txBody>
      </p:sp>
      <p:grpSp>
        <p:nvGrpSpPr>
          <p:cNvPr id="2" name="Google Shape;804;p42">
            <a:extLst>
              <a:ext uri="{FF2B5EF4-FFF2-40B4-BE49-F238E27FC236}">
                <a16:creationId xmlns:a16="http://schemas.microsoft.com/office/drawing/2014/main" id="{AEAC16B5-A37E-B190-797A-0C59464D4508}"/>
              </a:ext>
            </a:extLst>
          </p:cNvPr>
          <p:cNvGrpSpPr/>
          <p:nvPr/>
        </p:nvGrpSpPr>
        <p:grpSpPr>
          <a:xfrm>
            <a:off x="8034802" y="4079585"/>
            <a:ext cx="1096749" cy="1020364"/>
            <a:chOff x="827350" y="3629733"/>
            <a:chExt cx="1431600" cy="1332067"/>
          </a:xfrm>
        </p:grpSpPr>
        <p:sp>
          <p:nvSpPr>
            <p:cNvPr id="3" name="Google Shape;805;p42">
              <a:extLst>
                <a:ext uri="{FF2B5EF4-FFF2-40B4-BE49-F238E27FC236}">
                  <a16:creationId xmlns:a16="http://schemas.microsoft.com/office/drawing/2014/main" id="{36C8998E-3FDF-EE1E-1A93-03E98000A3D3}"/>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06;p42">
              <a:extLst>
                <a:ext uri="{FF2B5EF4-FFF2-40B4-BE49-F238E27FC236}">
                  <a16:creationId xmlns:a16="http://schemas.microsoft.com/office/drawing/2014/main" id="{E9C0003F-26C5-2E0A-9085-8879E4407F25}"/>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07;p42">
              <a:extLst>
                <a:ext uri="{FF2B5EF4-FFF2-40B4-BE49-F238E27FC236}">
                  <a16:creationId xmlns:a16="http://schemas.microsoft.com/office/drawing/2014/main" id="{5634D84D-497C-36EF-4134-0F2F9A86054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804;p42">
            <a:extLst>
              <a:ext uri="{FF2B5EF4-FFF2-40B4-BE49-F238E27FC236}">
                <a16:creationId xmlns:a16="http://schemas.microsoft.com/office/drawing/2014/main" id="{986B6C15-9934-D64D-8D6B-CC85EE1FDD92}"/>
              </a:ext>
            </a:extLst>
          </p:cNvPr>
          <p:cNvGrpSpPr/>
          <p:nvPr/>
        </p:nvGrpSpPr>
        <p:grpSpPr>
          <a:xfrm>
            <a:off x="8187202" y="4231985"/>
            <a:ext cx="1096749" cy="1020364"/>
            <a:chOff x="827350" y="3629733"/>
            <a:chExt cx="1431600" cy="1332067"/>
          </a:xfrm>
        </p:grpSpPr>
        <p:sp>
          <p:nvSpPr>
            <p:cNvPr id="7" name="Google Shape;805;p42">
              <a:extLst>
                <a:ext uri="{FF2B5EF4-FFF2-40B4-BE49-F238E27FC236}">
                  <a16:creationId xmlns:a16="http://schemas.microsoft.com/office/drawing/2014/main" id="{3E641ABA-BC16-751D-4D8A-1B6B3F24BF46}"/>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06;p42">
              <a:extLst>
                <a:ext uri="{FF2B5EF4-FFF2-40B4-BE49-F238E27FC236}">
                  <a16:creationId xmlns:a16="http://schemas.microsoft.com/office/drawing/2014/main" id="{E4CD177C-3C2A-6409-0504-DCB3E726250B}"/>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07;p42">
              <a:extLst>
                <a:ext uri="{FF2B5EF4-FFF2-40B4-BE49-F238E27FC236}">
                  <a16:creationId xmlns:a16="http://schemas.microsoft.com/office/drawing/2014/main" id="{5C3D816A-EECB-8095-7E0B-469898DB3D0B}"/>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442437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01CDCC4E-B00F-4C60-2106-A85044603EDD}"/>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F70B899C-D9CE-5055-EB66-B7B5C260B1D9}"/>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2D6A3110-E6C9-39FA-6D40-99E4E03320D8}"/>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lvl="0"/>
            <a:r>
              <a:rPr lang="en" b="1" dirty="0">
                <a:latin typeface="+mj-lt"/>
              </a:rPr>
              <a:t>CHƯƠNG 7: </a:t>
            </a:r>
            <a:r>
              <a:rPr lang="en-US" sz="2400" b="1" dirty="0">
                <a:latin typeface="+mj-lt"/>
              </a:rPr>
              <a:t>YẾU TỐ ĐẠO ĐỨC VÀ BẢO MẬT</a:t>
            </a:r>
            <a:endParaRPr b="1" dirty="0">
              <a:latin typeface="+mj-lt"/>
            </a:endParaRPr>
          </a:p>
        </p:txBody>
      </p:sp>
      <p:grpSp>
        <p:nvGrpSpPr>
          <p:cNvPr id="797" name="Google Shape;797;p42">
            <a:extLst>
              <a:ext uri="{FF2B5EF4-FFF2-40B4-BE49-F238E27FC236}">
                <a16:creationId xmlns:a16="http://schemas.microsoft.com/office/drawing/2014/main" id="{8AC43919-6BC1-209A-4D70-7A56E4A78CB2}"/>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5E5CD0A3-5947-D5D2-4934-E07686BD45C4}"/>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F72D5304-5643-3BCC-D04C-C0B3E87FF4E7}"/>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33B0A106-084E-C2C3-75BD-09E9281E0659}"/>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0668BFF0-5B30-B751-E2AE-C9F012234594}"/>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01C961F1-3624-6373-F8BF-33C15B634299}"/>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A9BC1497-65F1-E2F2-97BA-B260744101A2}"/>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382B050E-9586-B4FA-FCBC-074210B74610}"/>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B14DEFCA-09B6-ECD1-E60A-FFB75E3EE7C1}"/>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9A563884-8F8A-942E-F85A-DF6C18161DE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65AE8DB6-61CC-6010-D436-D9C2E7184144}"/>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31DC82F6-9270-FC1D-6D65-A8CF77F20B72}"/>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3F7748D6-9E63-AE06-1C71-3F5F8D73F202}"/>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298CEFDA-DB26-9CAC-BDCD-CDA0DBEF24A2}"/>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A76A2229-149B-132E-2550-36CF6CE342C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2F6B8F58-F231-A51C-FA5D-4B78C7374BDC}"/>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31686ADF-14EF-2820-E138-E33ECBCE7A13}"/>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4FC95846-BD8F-1ACB-2646-9876AB2F3D70}"/>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0202E605-6DA1-78B9-5182-A6F185D50378}"/>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6" name="Google Shape;796;p42">
            <a:extLst>
              <a:ext uri="{FF2B5EF4-FFF2-40B4-BE49-F238E27FC236}">
                <a16:creationId xmlns:a16="http://schemas.microsoft.com/office/drawing/2014/main" id="{A08CC39F-55F8-6C48-7CA3-495671AF435D}"/>
              </a:ext>
            </a:extLst>
          </p:cNvPr>
          <p:cNvSpPr txBox="1">
            <a:spLocks noGrp="1"/>
          </p:cNvSpPr>
          <p:nvPr>
            <p:ph type="body" idx="1"/>
          </p:nvPr>
        </p:nvSpPr>
        <p:spPr>
          <a:xfrm>
            <a:off x="713225" y="1246560"/>
            <a:ext cx="7704000" cy="2594700"/>
          </a:xfrm>
          <a:prstGeom prst="rect">
            <a:avLst/>
          </a:prstGeom>
        </p:spPr>
        <p:txBody>
          <a:bodyPr spcFirstLastPara="1" wrap="square" lIns="91425" tIns="91425" rIns="91425" bIns="91425" anchor="t" anchorCtr="0">
            <a:noAutofit/>
          </a:bodyPr>
          <a:lstStyle/>
          <a:p>
            <a:pPr lvl="1"/>
            <a:r>
              <a:rPr lang="vi-VN" b="1" dirty="0"/>
              <a:t>Tính nhân văn</a:t>
            </a:r>
          </a:p>
          <a:p>
            <a:r>
              <a:rPr lang="vi-VN" dirty="0"/>
              <a:t>AI cần ưu tiên tính “lấy con người làm trung tâm” để tránh việc duy trì thành kiến và bất bình đẳng, đảm bảo rằng công nghệ hỗ trợ chứ không đánh mất phẩm giá con người. Các mô hình như Grok và Deepseek — được thiết kế để hỗ trợ hội thoại — có thể vô tình củng cố các định kiến nếu được huấn luyện trên dữ liệu thiên lệch. Một nghiên cứu mang tính then chốt của Kasneci và cộng sự (2023) với ChatGPT trong giáo dục cho thấy: mặc dù nó nâng cao trải nghiệm học tập, AI có thể khuếch đại thiên kiến về giới tính và chủng tộc trong nội dung tạo ra, ảnh hưởng đến các nhóm dễ bị tổn thương. Để khắc phục, cách tiếp cận lấy con người làm trung tâm nhấn mạnh công bằng và tính toàn diện — như được một số tổ chức như UNESCO (2023) kêu gọi, rằng AI nên thúc đẩy lợi ích xã hội. Trong thực tế, khi AI được ứng dụng trong chẩn đoán y tế — mặc dù mang lại lợi ích — cũng có nguy cơ: các thuật toán thiên lệch có thể dẫn đến chẩn đoán sai trong các cộng đồng thiếu tiếp cận. Do đó, những yêu cầu đạo đức bao gồm sử dụng dữ liệu huấn luyện đa dạng và kiểm toán thuật toán để đảm bảo AI phản ánh giá trị con người, xây dựng mối quan hệ cộng sinh nơi công nghệ trao quyền cho con người mà không khai thác.</a:t>
            </a:r>
            <a:endParaRPr lang="vi-VN" sz="1100" dirty="0"/>
          </a:p>
        </p:txBody>
      </p:sp>
      <p:grpSp>
        <p:nvGrpSpPr>
          <p:cNvPr id="2" name="Google Shape;804;p42">
            <a:extLst>
              <a:ext uri="{FF2B5EF4-FFF2-40B4-BE49-F238E27FC236}">
                <a16:creationId xmlns:a16="http://schemas.microsoft.com/office/drawing/2014/main" id="{74D33205-86AC-B4EA-AF9E-CB98A5C1779D}"/>
              </a:ext>
            </a:extLst>
          </p:cNvPr>
          <p:cNvGrpSpPr/>
          <p:nvPr/>
        </p:nvGrpSpPr>
        <p:grpSpPr>
          <a:xfrm>
            <a:off x="8034802" y="4079585"/>
            <a:ext cx="1096749" cy="1020364"/>
            <a:chOff x="827350" y="3629733"/>
            <a:chExt cx="1431600" cy="1332067"/>
          </a:xfrm>
        </p:grpSpPr>
        <p:sp>
          <p:nvSpPr>
            <p:cNvPr id="3" name="Google Shape;805;p42">
              <a:extLst>
                <a:ext uri="{FF2B5EF4-FFF2-40B4-BE49-F238E27FC236}">
                  <a16:creationId xmlns:a16="http://schemas.microsoft.com/office/drawing/2014/main" id="{B33645F1-99CB-99EC-BC62-579156796D92}"/>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06;p42">
              <a:extLst>
                <a:ext uri="{FF2B5EF4-FFF2-40B4-BE49-F238E27FC236}">
                  <a16:creationId xmlns:a16="http://schemas.microsoft.com/office/drawing/2014/main" id="{077142E4-084A-597B-B4D9-BF4668330EDD}"/>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07;p42">
              <a:extLst>
                <a:ext uri="{FF2B5EF4-FFF2-40B4-BE49-F238E27FC236}">
                  <a16:creationId xmlns:a16="http://schemas.microsoft.com/office/drawing/2014/main" id="{44907261-49BC-9321-EC2E-53C287AC17B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804;p42">
            <a:extLst>
              <a:ext uri="{FF2B5EF4-FFF2-40B4-BE49-F238E27FC236}">
                <a16:creationId xmlns:a16="http://schemas.microsoft.com/office/drawing/2014/main" id="{39C6ED0D-F8A9-FE61-1DBC-7D351769BF5E}"/>
              </a:ext>
            </a:extLst>
          </p:cNvPr>
          <p:cNvGrpSpPr/>
          <p:nvPr/>
        </p:nvGrpSpPr>
        <p:grpSpPr>
          <a:xfrm>
            <a:off x="8187202" y="4231985"/>
            <a:ext cx="1096749" cy="1020364"/>
            <a:chOff x="827350" y="3629733"/>
            <a:chExt cx="1431600" cy="1332067"/>
          </a:xfrm>
        </p:grpSpPr>
        <p:sp>
          <p:nvSpPr>
            <p:cNvPr id="7" name="Google Shape;805;p42">
              <a:extLst>
                <a:ext uri="{FF2B5EF4-FFF2-40B4-BE49-F238E27FC236}">
                  <a16:creationId xmlns:a16="http://schemas.microsoft.com/office/drawing/2014/main" id="{B1103642-BD03-649E-38EA-3CE7FBE53742}"/>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06;p42">
              <a:extLst>
                <a:ext uri="{FF2B5EF4-FFF2-40B4-BE49-F238E27FC236}">
                  <a16:creationId xmlns:a16="http://schemas.microsoft.com/office/drawing/2014/main" id="{B0F6C99B-1A44-FBE3-56AE-EB1E9113DBD6}"/>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07;p42">
              <a:extLst>
                <a:ext uri="{FF2B5EF4-FFF2-40B4-BE49-F238E27FC236}">
                  <a16:creationId xmlns:a16="http://schemas.microsoft.com/office/drawing/2014/main" id="{22D340E8-8D06-57B7-F13D-20A528F4215B}"/>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490703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7B679D84-2596-9D36-9686-1B47430CFD80}"/>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2F3296FA-E365-37EF-6C48-D94FF1A0057E}"/>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CD93B37E-8C78-C4E6-3DAA-C446D0384332}"/>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lvl="0"/>
            <a:r>
              <a:rPr lang="en" b="1" dirty="0">
                <a:latin typeface="+mj-lt"/>
              </a:rPr>
              <a:t>CHƯƠNG 7: </a:t>
            </a:r>
            <a:r>
              <a:rPr lang="en-US" sz="2400" b="1" dirty="0">
                <a:latin typeface="+mj-lt"/>
              </a:rPr>
              <a:t>YẾU TỐ ĐẠO ĐỨC VÀ BẢO MẬT</a:t>
            </a:r>
            <a:endParaRPr b="1" dirty="0">
              <a:latin typeface="+mj-lt"/>
            </a:endParaRPr>
          </a:p>
        </p:txBody>
      </p:sp>
      <p:grpSp>
        <p:nvGrpSpPr>
          <p:cNvPr id="797" name="Google Shape;797;p42">
            <a:extLst>
              <a:ext uri="{FF2B5EF4-FFF2-40B4-BE49-F238E27FC236}">
                <a16:creationId xmlns:a16="http://schemas.microsoft.com/office/drawing/2014/main" id="{D5A99230-154B-B2ED-BF2D-50D834316289}"/>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3B5DD99A-64A3-0831-BC84-AF942733A1E9}"/>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B5A2E586-31F0-6FA0-E145-CDD87AAFCF1E}"/>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8AF1190B-CB7E-AEA2-9435-53A409EC946E}"/>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FB3C72CC-D42A-57AB-4E4A-A1CB830918C8}"/>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5E49B3FA-04F0-37CB-5C09-8880BB4F4643}"/>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D29DEF1B-84CA-57A8-5219-B91FB908C2D7}"/>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F2C7DF04-2321-4D64-62DD-698849238BD5}"/>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FF7621AD-BBBA-4A64-56C2-B23AB245EAB1}"/>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18862E60-2CCB-F0D5-8264-A9A25873547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11AEB2CC-D477-E7F4-DA11-70AE0A8C9470}"/>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97604F8D-A873-6BD5-7F2E-AF5945237A0A}"/>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2329BFC3-4445-F7A8-5186-72ED474C61F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64A2A4B9-9F5F-8F2F-B79E-9371675A7E69}"/>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03BD987F-C0CE-CF90-F9F5-E66286438B5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21469CCA-0BEC-23C3-662A-842B2F9276D8}"/>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66FC51D0-B0C4-ABFB-E4CC-475FD2E44AE7}"/>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D9760A9E-4692-82F7-98E8-F84B64B48203}"/>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D6B079B7-14F1-19B5-BD69-DA8F6A0BF56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6" name="Google Shape;796;p42">
            <a:extLst>
              <a:ext uri="{FF2B5EF4-FFF2-40B4-BE49-F238E27FC236}">
                <a16:creationId xmlns:a16="http://schemas.microsoft.com/office/drawing/2014/main" id="{DA6EE40A-5A08-9272-825F-794BA3C33875}"/>
              </a:ext>
            </a:extLst>
          </p:cNvPr>
          <p:cNvSpPr txBox="1">
            <a:spLocks noGrp="1"/>
          </p:cNvSpPr>
          <p:nvPr>
            <p:ph type="body" idx="1"/>
          </p:nvPr>
        </p:nvSpPr>
        <p:spPr>
          <a:xfrm>
            <a:off x="713225" y="1246560"/>
            <a:ext cx="7704000" cy="2594700"/>
          </a:xfrm>
          <a:prstGeom prst="rect">
            <a:avLst/>
          </a:prstGeom>
        </p:spPr>
        <p:txBody>
          <a:bodyPr spcFirstLastPara="1" wrap="square" lIns="91425" tIns="91425" rIns="91425" bIns="91425" anchor="t" anchorCtr="0">
            <a:noAutofit/>
          </a:bodyPr>
          <a:lstStyle/>
          <a:p>
            <a:pPr lvl="1"/>
            <a:r>
              <a:rPr lang="vi-VN" b="1" dirty="0"/>
              <a:t>Các rủi ro bảo mật</a:t>
            </a:r>
          </a:p>
          <a:p>
            <a:r>
              <a:rPr lang="vi-VN" dirty="0"/>
              <a:t>Rủi ro bảo mật trong AI bao gồm những lỗ hổng có thể bị khai thác ác ý — từ các cuộc tấn công mạng cho tới lạm dụng mô hình sinh tạo. Các nội dung giả mạo (deepfakes) và các tấn công “đối kháng” (adversarial attacks) là mối đe dọa thực tế, khi nội dung do AI tạo ra có thể đánh lừa người dùng hoặc làm gián đoạn hệ thống. CISA (2023) cảnh báo rằng mã do AI sinh ra — như trong các công cụ lập trình tích hợp với GeminiAI — có thể chứa lỗi không bị phát hiện, làm suy yếu tính toàn vẹn của phần mềm. Một trường hợp điển hình là cuộc tấn công ransomware năm 2024 vào một tập đoàn lớn, nơi phishing có hỗ trợ AI gia tăng mức độ nghiêm trọng của vi phạm, gây thiệt hại hàng triệu đô la (theo Deloitte, 2024). Hơn nữa, bản chất kết nối lẫn nhau của các hệ thống AI làm tăng rủi ro trong các lĩnh vực then chốt như tài chính và hạ tầng. Để đối phó, các biện pháp bảo mật như xác thực đa yếu tố và phát hiện mối đe dọa do AI hỗ trợ là rất quan trọng — được củng cố bởi các khung pháp lý từ Ủy ban Châu Âu (2024). Tuy nhiên, sự phát triển nhanh chóng của AI thường vượt qua khả năng phòng thủ, do đó cần có cảnh giác liên tục và hợp tác quốc tế để bảo vệ trước các mối đe dọa ngày càng tăng.</a:t>
            </a:r>
            <a:endParaRPr lang="vi-VN" sz="1100" dirty="0"/>
          </a:p>
        </p:txBody>
      </p:sp>
      <p:grpSp>
        <p:nvGrpSpPr>
          <p:cNvPr id="2" name="Google Shape;804;p42">
            <a:extLst>
              <a:ext uri="{FF2B5EF4-FFF2-40B4-BE49-F238E27FC236}">
                <a16:creationId xmlns:a16="http://schemas.microsoft.com/office/drawing/2014/main" id="{C91BAC93-3736-B3C9-6795-B4282ABC0FAC}"/>
              </a:ext>
            </a:extLst>
          </p:cNvPr>
          <p:cNvGrpSpPr/>
          <p:nvPr/>
        </p:nvGrpSpPr>
        <p:grpSpPr>
          <a:xfrm>
            <a:off x="8034802" y="4079585"/>
            <a:ext cx="1096749" cy="1020364"/>
            <a:chOff x="827350" y="3629733"/>
            <a:chExt cx="1431600" cy="1332067"/>
          </a:xfrm>
        </p:grpSpPr>
        <p:sp>
          <p:nvSpPr>
            <p:cNvPr id="3" name="Google Shape;805;p42">
              <a:extLst>
                <a:ext uri="{FF2B5EF4-FFF2-40B4-BE49-F238E27FC236}">
                  <a16:creationId xmlns:a16="http://schemas.microsoft.com/office/drawing/2014/main" id="{C13D30CD-0FAB-9C33-1AEE-6B95A784ED4B}"/>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06;p42">
              <a:extLst>
                <a:ext uri="{FF2B5EF4-FFF2-40B4-BE49-F238E27FC236}">
                  <a16:creationId xmlns:a16="http://schemas.microsoft.com/office/drawing/2014/main" id="{88F44036-9C82-04A9-4810-A0CAF6BAE4B9}"/>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07;p42">
              <a:extLst>
                <a:ext uri="{FF2B5EF4-FFF2-40B4-BE49-F238E27FC236}">
                  <a16:creationId xmlns:a16="http://schemas.microsoft.com/office/drawing/2014/main" id="{DCB21A23-7AF6-F622-7220-F290DEBA9C6B}"/>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804;p42">
            <a:extLst>
              <a:ext uri="{FF2B5EF4-FFF2-40B4-BE49-F238E27FC236}">
                <a16:creationId xmlns:a16="http://schemas.microsoft.com/office/drawing/2014/main" id="{3D7EAB8A-CAA7-0EA5-F031-688CD2E50EBA}"/>
              </a:ext>
            </a:extLst>
          </p:cNvPr>
          <p:cNvGrpSpPr/>
          <p:nvPr/>
        </p:nvGrpSpPr>
        <p:grpSpPr>
          <a:xfrm>
            <a:off x="8187202" y="4231985"/>
            <a:ext cx="1096749" cy="1020364"/>
            <a:chOff x="827350" y="3629733"/>
            <a:chExt cx="1431600" cy="1332067"/>
          </a:xfrm>
        </p:grpSpPr>
        <p:sp>
          <p:nvSpPr>
            <p:cNvPr id="7" name="Google Shape;805;p42">
              <a:extLst>
                <a:ext uri="{FF2B5EF4-FFF2-40B4-BE49-F238E27FC236}">
                  <a16:creationId xmlns:a16="http://schemas.microsoft.com/office/drawing/2014/main" id="{29719E35-E560-D221-F84E-7520660D817E}"/>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06;p42">
              <a:extLst>
                <a:ext uri="{FF2B5EF4-FFF2-40B4-BE49-F238E27FC236}">
                  <a16:creationId xmlns:a16="http://schemas.microsoft.com/office/drawing/2014/main" id="{37394974-38CB-ADE6-1ED3-0F2A0E837218}"/>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07;p42">
              <a:extLst>
                <a:ext uri="{FF2B5EF4-FFF2-40B4-BE49-F238E27FC236}">
                  <a16:creationId xmlns:a16="http://schemas.microsoft.com/office/drawing/2014/main" id="{969641D8-BBA8-8DB8-AF0C-D2F6D7E96FA4}"/>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656624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D3109FFC-50A6-A5DD-4C88-6F5CDE4D53D7}"/>
            </a:ext>
          </a:extLst>
        </p:cNvPr>
        <p:cNvGrpSpPr/>
        <p:nvPr/>
      </p:nvGrpSpPr>
      <p:grpSpPr>
        <a:xfrm>
          <a:off x="0" y="0"/>
          <a:ext cx="0" cy="0"/>
          <a:chOff x="0" y="0"/>
          <a:chExt cx="0" cy="0"/>
        </a:xfrm>
      </p:grpSpPr>
      <p:sp>
        <p:nvSpPr>
          <p:cNvPr id="794" name="Google Shape;794;p42">
            <a:extLst>
              <a:ext uri="{FF2B5EF4-FFF2-40B4-BE49-F238E27FC236}">
                <a16:creationId xmlns:a16="http://schemas.microsoft.com/office/drawing/2014/main" id="{2A1B08A2-31C3-56B8-F491-E6DD2657D5E4}"/>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a:extLst>
              <a:ext uri="{FF2B5EF4-FFF2-40B4-BE49-F238E27FC236}">
                <a16:creationId xmlns:a16="http://schemas.microsoft.com/office/drawing/2014/main" id="{BC1AC5AB-D9A5-5E94-B9AC-98DBF575EA74}"/>
              </a:ext>
            </a:extLst>
          </p:cNvPr>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lvl="0"/>
            <a:r>
              <a:rPr lang="en" b="1" dirty="0">
                <a:latin typeface="+mj-lt"/>
              </a:rPr>
              <a:t>CHƯƠNG 7: </a:t>
            </a:r>
            <a:r>
              <a:rPr lang="en-US" sz="2400" b="1" dirty="0">
                <a:latin typeface="+mj-lt"/>
              </a:rPr>
              <a:t>YẾU TỐ ĐẠO ĐỨC VÀ BẢO MẬT</a:t>
            </a:r>
            <a:endParaRPr b="1" dirty="0">
              <a:latin typeface="+mj-lt"/>
            </a:endParaRPr>
          </a:p>
        </p:txBody>
      </p:sp>
      <p:grpSp>
        <p:nvGrpSpPr>
          <p:cNvPr id="797" name="Google Shape;797;p42">
            <a:extLst>
              <a:ext uri="{FF2B5EF4-FFF2-40B4-BE49-F238E27FC236}">
                <a16:creationId xmlns:a16="http://schemas.microsoft.com/office/drawing/2014/main" id="{70C24A2C-2A35-FE65-F803-7B002331A4FC}"/>
              </a:ext>
            </a:extLst>
          </p:cNvPr>
          <p:cNvGrpSpPr/>
          <p:nvPr/>
        </p:nvGrpSpPr>
        <p:grpSpPr>
          <a:xfrm rot="10800000">
            <a:off x="206982" y="423196"/>
            <a:ext cx="288601" cy="1096693"/>
            <a:chOff x="1006700" y="2603975"/>
            <a:chExt cx="55450" cy="210700"/>
          </a:xfrm>
        </p:grpSpPr>
        <p:sp>
          <p:nvSpPr>
            <p:cNvPr id="798" name="Google Shape;798;p42">
              <a:extLst>
                <a:ext uri="{FF2B5EF4-FFF2-40B4-BE49-F238E27FC236}">
                  <a16:creationId xmlns:a16="http://schemas.microsoft.com/office/drawing/2014/main" id="{B0CED034-FCF3-5073-FBF9-4B89BDAA3ED7}"/>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a:extLst>
                <a:ext uri="{FF2B5EF4-FFF2-40B4-BE49-F238E27FC236}">
                  <a16:creationId xmlns:a16="http://schemas.microsoft.com/office/drawing/2014/main" id="{131498AF-2D31-12C3-6D5B-618BFD594CD3}"/>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a:extLst>
                <a:ext uri="{FF2B5EF4-FFF2-40B4-BE49-F238E27FC236}">
                  <a16:creationId xmlns:a16="http://schemas.microsoft.com/office/drawing/2014/main" id="{CE6C449B-C362-3D98-FA3A-57B321D3004D}"/>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a:extLst>
                <a:ext uri="{FF2B5EF4-FFF2-40B4-BE49-F238E27FC236}">
                  <a16:creationId xmlns:a16="http://schemas.microsoft.com/office/drawing/2014/main" id="{C79C0383-FF42-2838-5FCF-3FD667BDF4D6}"/>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a:extLst>
                <a:ext uri="{FF2B5EF4-FFF2-40B4-BE49-F238E27FC236}">
                  <a16:creationId xmlns:a16="http://schemas.microsoft.com/office/drawing/2014/main" id="{603223CB-0131-264F-C238-5E7D35E3A73A}"/>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a:extLst>
                <a:ext uri="{FF2B5EF4-FFF2-40B4-BE49-F238E27FC236}">
                  <a16:creationId xmlns:a16="http://schemas.microsoft.com/office/drawing/2014/main" id="{706022D4-9090-1222-A406-529752558212}"/>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a:extLst>
              <a:ext uri="{FF2B5EF4-FFF2-40B4-BE49-F238E27FC236}">
                <a16:creationId xmlns:a16="http://schemas.microsoft.com/office/drawing/2014/main" id="{73C3C683-46FC-655B-01E7-CC390B930A45}"/>
              </a:ext>
            </a:extLst>
          </p:cNvPr>
          <p:cNvGrpSpPr/>
          <p:nvPr/>
        </p:nvGrpSpPr>
        <p:grpSpPr>
          <a:xfrm>
            <a:off x="7882402" y="3927185"/>
            <a:ext cx="1096749" cy="1020364"/>
            <a:chOff x="827350" y="3629733"/>
            <a:chExt cx="1431600" cy="1332067"/>
          </a:xfrm>
        </p:grpSpPr>
        <p:sp>
          <p:nvSpPr>
            <p:cNvPr id="805" name="Google Shape;805;p42">
              <a:extLst>
                <a:ext uri="{FF2B5EF4-FFF2-40B4-BE49-F238E27FC236}">
                  <a16:creationId xmlns:a16="http://schemas.microsoft.com/office/drawing/2014/main" id="{B68141A7-2CF2-9871-1CF3-ECA9BACA7E2C}"/>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a:extLst>
                <a:ext uri="{FF2B5EF4-FFF2-40B4-BE49-F238E27FC236}">
                  <a16:creationId xmlns:a16="http://schemas.microsoft.com/office/drawing/2014/main" id="{F074DE99-5053-A552-F12C-47458DFC789D}"/>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a:extLst>
                <a:ext uri="{FF2B5EF4-FFF2-40B4-BE49-F238E27FC236}">
                  <a16:creationId xmlns:a16="http://schemas.microsoft.com/office/drawing/2014/main" id="{CD4C7056-AF3A-8659-7723-EBF76223591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a:extLst>
              <a:ext uri="{FF2B5EF4-FFF2-40B4-BE49-F238E27FC236}">
                <a16:creationId xmlns:a16="http://schemas.microsoft.com/office/drawing/2014/main" id="{08B99F49-C0A1-6C8A-B073-C3A06DE90A7B}"/>
              </a:ext>
            </a:extLst>
          </p:cNvPr>
          <p:cNvGrpSpPr/>
          <p:nvPr/>
        </p:nvGrpSpPr>
        <p:grpSpPr>
          <a:xfrm>
            <a:off x="7968182" y="3280453"/>
            <a:ext cx="510366" cy="474882"/>
            <a:chOff x="827350" y="3629733"/>
            <a:chExt cx="1431600" cy="1332067"/>
          </a:xfrm>
        </p:grpSpPr>
        <p:sp>
          <p:nvSpPr>
            <p:cNvPr id="809" name="Google Shape;809;p42">
              <a:extLst>
                <a:ext uri="{FF2B5EF4-FFF2-40B4-BE49-F238E27FC236}">
                  <a16:creationId xmlns:a16="http://schemas.microsoft.com/office/drawing/2014/main" id="{2DEB4E1F-1FCA-ABBF-238A-BF4E1DCB17EC}"/>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a:extLst>
                <a:ext uri="{FF2B5EF4-FFF2-40B4-BE49-F238E27FC236}">
                  <a16:creationId xmlns:a16="http://schemas.microsoft.com/office/drawing/2014/main" id="{5C15935F-1A1C-FCD4-71F7-DC1CBD711BC2}"/>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a:extLst>
                <a:ext uri="{FF2B5EF4-FFF2-40B4-BE49-F238E27FC236}">
                  <a16:creationId xmlns:a16="http://schemas.microsoft.com/office/drawing/2014/main" id="{F665CA18-6677-D8C1-B782-685D77AA9C26}"/>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a:extLst>
              <a:ext uri="{FF2B5EF4-FFF2-40B4-BE49-F238E27FC236}">
                <a16:creationId xmlns:a16="http://schemas.microsoft.com/office/drawing/2014/main" id="{253DE67B-A3B1-0D7B-76DC-2E49FB421EB7}"/>
              </a:ext>
            </a:extLst>
          </p:cNvPr>
          <p:cNvGrpSpPr/>
          <p:nvPr/>
        </p:nvGrpSpPr>
        <p:grpSpPr>
          <a:xfrm>
            <a:off x="7247377" y="4412793"/>
            <a:ext cx="401134" cy="373245"/>
            <a:chOff x="827350" y="3629733"/>
            <a:chExt cx="1431600" cy="1332067"/>
          </a:xfrm>
        </p:grpSpPr>
        <p:sp>
          <p:nvSpPr>
            <p:cNvPr id="813" name="Google Shape;813;p42">
              <a:extLst>
                <a:ext uri="{FF2B5EF4-FFF2-40B4-BE49-F238E27FC236}">
                  <a16:creationId xmlns:a16="http://schemas.microsoft.com/office/drawing/2014/main" id="{9C7B1B02-400D-EEBD-35A0-739390A27C09}"/>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a:extLst>
                <a:ext uri="{FF2B5EF4-FFF2-40B4-BE49-F238E27FC236}">
                  <a16:creationId xmlns:a16="http://schemas.microsoft.com/office/drawing/2014/main" id="{CA283408-FB6F-4F8F-2234-E3CB564268E0}"/>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a:extLst>
                <a:ext uri="{FF2B5EF4-FFF2-40B4-BE49-F238E27FC236}">
                  <a16:creationId xmlns:a16="http://schemas.microsoft.com/office/drawing/2014/main" id="{8CEA8A71-02B4-F0F1-22CE-87D61FC4E79E}"/>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6" name="Google Shape;796;p42">
            <a:extLst>
              <a:ext uri="{FF2B5EF4-FFF2-40B4-BE49-F238E27FC236}">
                <a16:creationId xmlns:a16="http://schemas.microsoft.com/office/drawing/2014/main" id="{C3C109E1-688E-C178-A4D9-8C11AF885EA0}"/>
              </a:ext>
            </a:extLst>
          </p:cNvPr>
          <p:cNvSpPr txBox="1">
            <a:spLocks noGrp="1"/>
          </p:cNvSpPr>
          <p:nvPr>
            <p:ph type="body" idx="1"/>
          </p:nvPr>
        </p:nvSpPr>
        <p:spPr>
          <a:xfrm>
            <a:off x="713225" y="1246560"/>
            <a:ext cx="7704000" cy="2594700"/>
          </a:xfrm>
          <a:prstGeom prst="rect">
            <a:avLst/>
          </a:prstGeom>
        </p:spPr>
        <p:txBody>
          <a:bodyPr spcFirstLastPara="1" wrap="square" lIns="91425" tIns="91425" rIns="91425" bIns="91425" anchor="t" anchorCtr="0">
            <a:noAutofit/>
          </a:bodyPr>
          <a:lstStyle/>
          <a:p>
            <a:pPr lvl="1"/>
            <a:r>
              <a:rPr lang="vi-VN" b="1" dirty="0"/>
              <a:t>Hướng phát triển bền vững</a:t>
            </a:r>
          </a:p>
          <a:p>
            <a:r>
              <a:rPr lang="vi-VN" dirty="0"/>
              <a:t>Phát triển bền vững trong lĩnh vực AI bao gồm việc điều chỉnh tiến bộ công nghệ với các mục tiêu môi trường, xã hội và kinh tế để đảm bảo tính khả thi dài hạn. Việc huấn luyện các mô hình nặng như Deepseek tiêu tốn nhiều năng lượng, gợi lên mối lo về dấu chân carbon. Điều này đòi hỏi các sáng kiến “AI xanh” — như tối ưu thuật toán để tiết kiệm năng lượng — như một số nghiên cứu hướng tới “AI đáng tin cậy” đề xuất. Về mặt xã hội, AI bền vững thúc đẩy tiếp cận công bằng, chống lại khoảng cách số đang bị khuếch đại bởi bất bình đẳng về cơ hội tiếp cận công nghệ tại các vùng phát triển kém. Các Mục tiêu Phát triển Bền vững (SDGs) của Liên Hợp Quốc cung cấp khung tham chiếu, nhấn mạnh vai trò của AI trong đạt được các mục tiêu như giáo dục chất lượng và hành động khí hậu (ví dụ thông qua ứng dụng AI trong giáo dục và môi trường). Tuy nhiên, vẫn có nhiều thách thức, bao gồm phân bổ nguồn lực ở những khu vực thu nhập thấp. Việc áp dụng các chính sách như luật AI antoàn và tin cậy (ví dụ của EU) có thể giúp định hướng AI theo quỹ đạo bền vững — cân bằng giữa đổi mới, sức khỏe hành tinh và phúc lợi con người.</a:t>
            </a:r>
            <a:endParaRPr lang="vi-VN" sz="1100" dirty="0"/>
          </a:p>
        </p:txBody>
      </p:sp>
      <p:grpSp>
        <p:nvGrpSpPr>
          <p:cNvPr id="2" name="Google Shape;804;p42">
            <a:extLst>
              <a:ext uri="{FF2B5EF4-FFF2-40B4-BE49-F238E27FC236}">
                <a16:creationId xmlns:a16="http://schemas.microsoft.com/office/drawing/2014/main" id="{319CE4F0-16E4-5BE3-B2AB-39B531E67DCA}"/>
              </a:ext>
            </a:extLst>
          </p:cNvPr>
          <p:cNvGrpSpPr/>
          <p:nvPr/>
        </p:nvGrpSpPr>
        <p:grpSpPr>
          <a:xfrm>
            <a:off x="8034802" y="4079585"/>
            <a:ext cx="1096749" cy="1020364"/>
            <a:chOff x="827350" y="3629733"/>
            <a:chExt cx="1431600" cy="1332067"/>
          </a:xfrm>
        </p:grpSpPr>
        <p:sp>
          <p:nvSpPr>
            <p:cNvPr id="3" name="Google Shape;805;p42">
              <a:extLst>
                <a:ext uri="{FF2B5EF4-FFF2-40B4-BE49-F238E27FC236}">
                  <a16:creationId xmlns:a16="http://schemas.microsoft.com/office/drawing/2014/main" id="{30D69D59-05FD-8EE6-EA3C-75E3D1FD8DE9}"/>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06;p42">
              <a:extLst>
                <a:ext uri="{FF2B5EF4-FFF2-40B4-BE49-F238E27FC236}">
                  <a16:creationId xmlns:a16="http://schemas.microsoft.com/office/drawing/2014/main" id="{07CA6741-BC94-4E20-4ED4-F0438612D317}"/>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07;p42">
              <a:extLst>
                <a:ext uri="{FF2B5EF4-FFF2-40B4-BE49-F238E27FC236}">
                  <a16:creationId xmlns:a16="http://schemas.microsoft.com/office/drawing/2014/main" id="{5B3E4AB6-69AE-E446-9A7A-224192055B96}"/>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804;p42">
            <a:extLst>
              <a:ext uri="{FF2B5EF4-FFF2-40B4-BE49-F238E27FC236}">
                <a16:creationId xmlns:a16="http://schemas.microsoft.com/office/drawing/2014/main" id="{22718DF9-3B36-A24A-0D55-D67E422EA9F3}"/>
              </a:ext>
            </a:extLst>
          </p:cNvPr>
          <p:cNvGrpSpPr/>
          <p:nvPr/>
        </p:nvGrpSpPr>
        <p:grpSpPr>
          <a:xfrm>
            <a:off x="8187202" y="4231985"/>
            <a:ext cx="1096749" cy="1020364"/>
            <a:chOff x="827350" y="3629733"/>
            <a:chExt cx="1431600" cy="1332067"/>
          </a:xfrm>
        </p:grpSpPr>
        <p:sp>
          <p:nvSpPr>
            <p:cNvPr id="7" name="Google Shape;805;p42">
              <a:extLst>
                <a:ext uri="{FF2B5EF4-FFF2-40B4-BE49-F238E27FC236}">
                  <a16:creationId xmlns:a16="http://schemas.microsoft.com/office/drawing/2014/main" id="{475BDE18-7B14-4C9F-1D32-D6040BA3127A}"/>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06;p42">
              <a:extLst>
                <a:ext uri="{FF2B5EF4-FFF2-40B4-BE49-F238E27FC236}">
                  <a16:creationId xmlns:a16="http://schemas.microsoft.com/office/drawing/2014/main" id="{6DD4B023-1F59-EA1F-54E6-D1FFE560596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07;p42">
              <a:extLst>
                <a:ext uri="{FF2B5EF4-FFF2-40B4-BE49-F238E27FC236}">
                  <a16:creationId xmlns:a16="http://schemas.microsoft.com/office/drawing/2014/main" id="{85C1DE57-5B9E-F94A-8737-23C8E492E4A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434294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sp>
        <p:nvSpPr>
          <p:cNvPr id="1268" name="Google Shape;1268;p53"/>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53"/>
          <p:cNvSpPr txBox="1">
            <a:spLocks noGrp="1"/>
          </p:cNvSpPr>
          <p:nvPr>
            <p:ph type="title" idx="15"/>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mj-lt"/>
              </a:rPr>
              <a:t>KẾT LUẬN</a:t>
            </a:r>
            <a:endParaRPr b="1" dirty="0">
              <a:latin typeface="+mj-lt"/>
            </a:endParaRPr>
          </a:p>
        </p:txBody>
      </p:sp>
      <p:sp>
        <p:nvSpPr>
          <p:cNvPr id="1270" name="Google Shape;1270;p53"/>
          <p:cNvSpPr txBox="1">
            <a:spLocks noGrp="1"/>
          </p:cNvSpPr>
          <p:nvPr>
            <p:ph type="title"/>
          </p:nvPr>
        </p:nvSpPr>
        <p:spPr>
          <a:xfrm>
            <a:off x="702172" y="1201020"/>
            <a:ext cx="4326388" cy="426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dirty="0">
                <a:latin typeface="+mj-lt"/>
              </a:rPr>
              <a:t>ĐÁNH GIÁ TỔNG QUAN</a:t>
            </a:r>
            <a:endParaRPr b="1" dirty="0">
              <a:latin typeface="+mj-lt"/>
            </a:endParaRPr>
          </a:p>
        </p:txBody>
      </p:sp>
      <p:sp>
        <p:nvSpPr>
          <p:cNvPr id="1271" name="Google Shape;1271;p53"/>
          <p:cNvSpPr txBox="1">
            <a:spLocks noGrp="1"/>
          </p:cNvSpPr>
          <p:nvPr>
            <p:ph type="subTitle" idx="1"/>
          </p:nvPr>
        </p:nvSpPr>
        <p:spPr>
          <a:xfrm>
            <a:off x="11408" y="1489117"/>
            <a:ext cx="9084466" cy="484800"/>
          </a:xfrm>
          <a:prstGeom prst="rect">
            <a:avLst/>
          </a:prstGeom>
        </p:spPr>
        <p:txBody>
          <a:bodyPr spcFirstLastPara="1" wrap="square" lIns="274300" tIns="91425" rIns="274300" bIns="91425" anchor="t" anchorCtr="0">
            <a:noAutofit/>
          </a:bodyPr>
          <a:lstStyle/>
          <a:p>
            <a:pPr lvl="0" algn="l"/>
            <a:r>
              <a:rPr lang="vi-VN" b="1" dirty="0">
                <a:latin typeface="+mj-lt"/>
              </a:rPr>
              <a:t>Chat GPT</a:t>
            </a:r>
            <a:r>
              <a:rPr lang="vi-VN" dirty="0">
                <a:latin typeface="+mj-lt"/>
              </a:rPr>
              <a:t> vẫn giữ vị thế dẫn đầu về hiệu suất ngôn ngữ và tính năng tổng quát</a:t>
            </a:r>
          </a:p>
          <a:p>
            <a:pPr lvl="0" algn="l"/>
            <a:r>
              <a:rPr lang="vi-VN" b="1" dirty="0">
                <a:latin typeface="+mj-lt"/>
              </a:rPr>
              <a:t>Gemini</a:t>
            </a:r>
            <a:r>
              <a:rPr lang="vi-VN" dirty="0">
                <a:latin typeface="+mj-lt"/>
              </a:rPr>
              <a:t> nổi bật với khả năng đa phương thức</a:t>
            </a:r>
          </a:p>
          <a:p>
            <a:pPr lvl="0" algn="l"/>
            <a:r>
              <a:rPr lang="vi-VN" b="1" dirty="0">
                <a:latin typeface="+mj-lt"/>
              </a:rPr>
              <a:t>Grok </a:t>
            </a:r>
            <a:r>
              <a:rPr lang="vi-VN" dirty="0">
                <a:latin typeface="+mj-lt"/>
              </a:rPr>
              <a:t>tạo ra sự khác biệt về tốc độ và khả năng truy cập thông tin cùng phong cách giao tiếp độc</a:t>
            </a:r>
            <a:r>
              <a:rPr lang="en-US" dirty="0">
                <a:latin typeface="+mj-lt"/>
              </a:rPr>
              <a:t> </a:t>
            </a:r>
            <a:r>
              <a:rPr lang="vi-VN" dirty="0">
                <a:latin typeface="+mj-lt"/>
              </a:rPr>
              <a:t>đáo</a:t>
            </a:r>
          </a:p>
          <a:p>
            <a:pPr lvl="0" algn="l"/>
            <a:r>
              <a:rPr lang="vi-VN" b="1" dirty="0">
                <a:latin typeface="+mj-lt"/>
              </a:rPr>
              <a:t>Deepseek</a:t>
            </a:r>
            <a:r>
              <a:rPr lang="vi-VN" dirty="0">
                <a:latin typeface="+mj-lt"/>
              </a:rPr>
              <a:t> thể hiện sự cạnh tranh về hiệu suất, đặc biệt trong các lĩnh vực như lập trình và ngôn ngữ châu Á</a:t>
            </a:r>
          </a:p>
          <a:p>
            <a:pPr algn="l"/>
            <a:r>
              <a:rPr lang="vi-VN" dirty="0">
                <a:latin typeface="+mj-lt"/>
              </a:rPr>
              <a:t>Dù sở hữu các tính năng nổi bật khác nhau những những hệ thống AI đều phải đối mặt với những hạn chế chung như</a:t>
            </a:r>
            <a:r>
              <a:rPr lang="en-US" dirty="0">
                <a:latin typeface="+mj-lt"/>
              </a:rPr>
              <a:t> </a:t>
            </a:r>
            <a:r>
              <a:rPr lang="vi-VN" dirty="0">
                <a:latin typeface="+mj-lt"/>
              </a:rPr>
              <a:t>thông tin sai lệch, rào cản bảo mật và quyền riêng tư.</a:t>
            </a:r>
          </a:p>
        </p:txBody>
      </p:sp>
      <p:sp>
        <p:nvSpPr>
          <p:cNvPr id="1274" name="Google Shape;1274;p53"/>
          <p:cNvSpPr txBox="1">
            <a:spLocks noGrp="1"/>
          </p:cNvSpPr>
          <p:nvPr>
            <p:ph type="title" idx="4"/>
          </p:nvPr>
        </p:nvSpPr>
        <p:spPr>
          <a:xfrm>
            <a:off x="300216" y="3053241"/>
            <a:ext cx="5948728" cy="426900"/>
          </a:xfrm>
          <a:prstGeom prst="rect">
            <a:avLst/>
          </a:prstGeom>
        </p:spPr>
        <p:txBody>
          <a:bodyPr spcFirstLastPara="1" wrap="square" lIns="0" tIns="91425" rIns="0" bIns="91425" anchor="b" anchorCtr="0">
            <a:noAutofit/>
          </a:bodyPr>
          <a:lstStyle/>
          <a:p>
            <a:pPr>
              <a:spcAft>
                <a:spcPts val="600"/>
              </a:spcAft>
            </a:pPr>
            <a:r>
              <a:rPr lang="vi-VN" b="1" dirty="0">
                <a:latin typeface="+mn-lt"/>
              </a:rPr>
              <a:t>Hướng ứng dụng cho tương lai</a:t>
            </a:r>
            <a:endParaRPr dirty="0">
              <a:latin typeface="+mn-lt"/>
            </a:endParaRPr>
          </a:p>
        </p:txBody>
      </p:sp>
      <p:sp>
        <p:nvSpPr>
          <p:cNvPr id="1275" name="Google Shape;1275;p53"/>
          <p:cNvSpPr txBox="1">
            <a:spLocks noGrp="1"/>
          </p:cNvSpPr>
          <p:nvPr>
            <p:ph type="subTitle" idx="5"/>
          </p:nvPr>
        </p:nvSpPr>
        <p:spPr>
          <a:xfrm>
            <a:off x="-71940" y="3307473"/>
            <a:ext cx="8915724" cy="484800"/>
          </a:xfrm>
          <a:prstGeom prst="rect">
            <a:avLst/>
          </a:prstGeom>
        </p:spPr>
        <p:txBody>
          <a:bodyPr spcFirstLastPara="1" wrap="square" lIns="274300" tIns="91425" rIns="274300" bIns="91425" anchor="t" anchorCtr="0">
            <a:noAutofit/>
          </a:bodyPr>
          <a:lstStyle/>
          <a:p>
            <a:pPr lvl="0" algn="l"/>
            <a:r>
              <a:rPr lang="vi-VN" b="1" dirty="0">
                <a:latin typeface="+mj-lt"/>
              </a:rPr>
              <a:t>Tăng cường khả năng đa phương thức: </a:t>
            </a:r>
            <a:r>
              <a:rPr lang="vi-VN" dirty="0">
                <a:latin typeface="+mj-lt"/>
              </a:rPr>
              <a:t>Xu hướng tương lai việc mà các AI ngày càng xử lý nhiều thông tin hơn, tổng hợp thông tin nhiều hơn     ( văn bản, giọng nói, hình ảnh….)</a:t>
            </a:r>
          </a:p>
          <a:p>
            <a:pPr lvl="0" algn="l"/>
            <a:r>
              <a:rPr lang="vi-VN" b="1" dirty="0">
                <a:latin typeface="+mj-lt"/>
              </a:rPr>
              <a:t>Cá nhân hóa sâu sắc hơn:</a:t>
            </a:r>
            <a:r>
              <a:rPr lang="vi-VN" dirty="0">
                <a:latin typeface="+mj-lt"/>
              </a:rPr>
              <a:t> Các AI sẽ phát triển thành theo hướng trợ lý cá nhân chuyên biệt, có khả năng học hỏi và hiểu sâu hơn về ngữ cảnh.</a:t>
            </a:r>
          </a:p>
          <a:p>
            <a:pPr lvl="0" algn="l"/>
            <a:r>
              <a:rPr lang="vi-VN" b="1" dirty="0">
                <a:latin typeface="+mj-lt"/>
              </a:rPr>
              <a:t>Phát triển bền vững và đạo đức AI:</a:t>
            </a:r>
            <a:r>
              <a:rPr lang="vi-VN" dirty="0">
                <a:latin typeface="+mj-lt"/>
              </a:rPr>
              <a:t> Các công ty sẽ phải đầu tư nghiêm túc hơn vào việc xây dựng mô hình tính nhân văn cao, minh bạch của hệ thống AI.</a:t>
            </a:r>
          </a:p>
          <a:p>
            <a:pPr lvl="0" algn="l"/>
            <a:r>
              <a:rPr lang="vi-VN" b="1" dirty="0">
                <a:latin typeface="+mj-lt"/>
              </a:rPr>
              <a:t>Tích hợp vào các ngành nghề:</a:t>
            </a:r>
            <a:r>
              <a:rPr lang="vi-VN" dirty="0">
                <a:latin typeface="+mj-lt"/>
              </a:rPr>
              <a:t> AI sẽ không chỉ là công cụ tạo nội dung hay lập trình, mà còn là hỗ trợ doanh nghiệp cốt lõi, được tích hợp sâu vào quy trình ra quyết định.</a:t>
            </a:r>
          </a:p>
          <a:p>
            <a:pPr algn="l"/>
            <a:r>
              <a:rPr lang="vi-VN" dirty="0">
                <a:latin typeface="+mj-lt"/>
              </a:rPr>
              <a:t> </a:t>
            </a:r>
          </a:p>
        </p:txBody>
      </p:sp>
      <p:grpSp>
        <p:nvGrpSpPr>
          <p:cNvPr id="1282" name="Google Shape;1282;p53"/>
          <p:cNvGrpSpPr/>
          <p:nvPr/>
        </p:nvGrpSpPr>
        <p:grpSpPr>
          <a:xfrm rot="-5400000">
            <a:off x="568932" y="-282854"/>
            <a:ext cx="288601" cy="1096693"/>
            <a:chOff x="1006700" y="2603975"/>
            <a:chExt cx="55450" cy="210700"/>
          </a:xfrm>
        </p:grpSpPr>
        <p:sp>
          <p:nvSpPr>
            <p:cNvPr id="1283" name="Google Shape;1283;p53"/>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53"/>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53"/>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53"/>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53"/>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53"/>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9" name="Google Shape;1289;p53"/>
          <p:cNvGrpSpPr/>
          <p:nvPr/>
        </p:nvGrpSpPr>
        <p:grpSpPr>
          <a:xfrm>
            <a:off x="8172656" y="4222180"/>
            <a:ext cx="811145" cy="754483"/>
            <a:chOff x="827350" y="3629733"/>
            <a:chExt cx="1431600" cy="1332067"/>
          </a:xfrm>
        </p:grpSpPr>
        <p:sp>
          <p:nvSpPr>
            <p:cNvPr id="1290" name="Google Shape;1290;p5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5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5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3" name="Google Shape;1293;p53"/>
          <p:cNvGrpSpPr/>
          <p:nvPr/>
        </p:nvGrpSpPr>
        <p:grpSpPr>
          <a:xfrm>
            <a:off x="8430765" y="3778632"/>
            <a:ext cx="326119" cy="303312"/>
            <a:chOff x="827350" y="3629733"/>
            <a:chExt cx="1431600" cy="1332067"/>
          </a:xfrm>
        </p:grpSpPr>
        <p:sp>
          <p:nvSpPr>
            <p:cNvPr id="1294" name="Google Shape;1294;p5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5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5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7" name="Google Shape;1297;p53"/>
          <p:cNvGrpSpPr/>
          <p:nvPr/>
        </p:nvGrpSpPr>
        <p:grpSpPr>
          <a:xfrm>
            <a:off x="7631179" y="4568552"/>
            <a:ext cx="458971" cy="426928"/>
            <a:chOff x="827350" y="3629733"/>
            <a:chExt cx="1431600" cy="1332067"/>
          </a:xfrm>
        </p:grpSpPr>
        <p:sp>
          <p:nvSpPr>
            <p:cNvPr id="1298" name="Google Shape;1298;p5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5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5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36"/>
          <p:cNvSpPr/>
          <p:nvPr/>
        </p:nvSpPr>
        <p:spPr>
          <a:xfrm>
            <a:off x="971400" y="975300"/>
            <a:ext cx="7201200" cy="31929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1" name="Google Shape;541;p36"/>
          <p:cNvGrpSpPr/>
          <p:nvPr/>
        </p:nvGrpSpPr>
        <p:grpSpPr>
          <a:xfrm>
            <a:off x="424632" y="3695521"/>
            <a:ext cx="288601" cy="1096693"/>
            <a:chOff x="1006700" y="2603975"/>
            <a:chExt cx="55450" cy="210700"/>
          </a:xfrm>
        </p:grpSpPr>
        <p:sp>
          <p:nvSpPr>
            <p:cNvPr id="542" name="Google Shape;542;p36"/>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6"/>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6"/>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6"/>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6"/>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6"/>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8" name="Google Shape;548;p36"/>
          <p:cNvGrpSpPr/>
          <p:nvPr/>
        </p:nvGrpSpPr>
        <p:grpSpPr>
          <a:xfrm>
            <a:off x="7351974" y="351277"/>
            <a:ext cx="1178637" cy="1096691"/>
            <a:chOff x="827350" y="3629733"/>
            <a:chExt cx="1431600" cy="1332067"/>
          </a:xfrm>
        </p:grpSpPr>
        <p:sp>
          <p:nvSpPr>
            <p:cNvPr id="549" name="Google Shape;549;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 name="Google Shape;552;p36"/>
          <p:cNvGrpSpPr/>
          <p:nvPr/>
        </p:nvGrpSpPr>
        <p:grpSpPr>
          <a:xfrm>
            <a:off x="7916327" y="1616596"/>
            <a:ext cx="781224" cy="726909"/>
            <a:chOff x="827350" y="3629733"/>
            <a:chExt cx="1431600" cy="1332067"/>
          </a:xfrm>
        </p:grpSpPr>
        <p:sp>
          <p:nvSpPr>
            <p:cNvPr id="553" name="Google Shape;553;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 name="Google Shape;556;p36"/>
          <p:cNvGrpSpPr/>
          <p:nvPr/>
        </p:nvGrpSpPr>
        <p:grpSpPr>
          <a:xfrm>
            <a:off x="6235139" y="539499"/>
            <a:ext cx="637062" cy="592770"/>
            <a:chOff x="827350" y="3629733"/>
            <a:chExt cx="1431600" cy="1332067"/>
          </a:xfrm>
        </p:grpSpPr>
        <p:sp>
          <p:nvSpPr>
            <p:cNvPr id="557" name="Google Shape;557;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0" name="Google Shape;560;p36"/>
          <p:cNvGrpSpPr/>
          <p:nvPr/>
        </p:nvGrpSpPr>
        <p:grpSpPr>
          <a:xfrm>
            <a:off x="6886468" y="329561"/>
            <a:ext cx="451240" cy="419868"/>
            <a:chOff x="827350" y="3629733"/>
            <a:chExt cx="1431600" cy="1332067"/>
          </a:xfrm>
        </p:grpSpPr>
        <p:sp>
          <p:nvSpPr>
            <p:cNvPr id="561" name="Google Shape;561;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0" name="Google Shape;540;p36"/>
          <p:cNvSpPr txBox="1">
            <a:spLocks noGrp="1"/>
          </p:cNvSpPr>
          <p:nvPr>
            <p:ph type="subTitle" idx="1"/>
          </p:nvPr>
        </p:nvSpPr>
        <p:spPr>
          <a:xfrm>
            <a:off x="1055584" y="2050896"/>
            <a:ext cx="7201199" cy="1498200"/>
          </a:xfrm>
          <a:prstGeom prst="rect">
            <a:avLst/>
          </a:prstGeom>
        </p:spPr>
        <p:txBody>
          <a:bodyPr spcFirstLastPara="1" wrap="square" lIns="91425" tIns="91425" rIns="91425" bIns="91425" anchor="b" anchorCtr="0">
            <a:noAutofit/>
          </a:bodyPr>
          <a:lstStyle/>
          <a:p>
            <a:pPr marL="0" lvl="0" indent="0" algn="l"/>
            <a:r>
              <a:rPr lang="en-US" sz="2000" dirty="0">
                <a:latin typeface="Times New Roman" panose="02020603050405020304" pitchFamily="18" charset="0"/>
                <a:cs typeface="Times New Roman" panose="02020603050405020304" pitchFamily="18" charset="0"/>
              </a:rPr>
              <a:t>“</a:t>
            </a:r>
            <a:r>
              <a:rPr lang="vi-VN" sz="2000" dirty="0">
                <a:latin typeface="Times New Roman" panose="02020603050405020304" pitchFamily="18" charset="0"/>
                <a:cs typeface="Times New Roman" panose="02020603050405020304" pitchFamily="18" charset="0"/>
              </a:rPr>
              <a:t>Sau cùng, dù chúng ta đang nói về mô hình ngôn ngữ lớn, mô hình tạo sinh hình ảnh, hay bất kỳ AI tiên tiến nào khác, thì chúng ta phải nhớ rằng: </a:t>
            </a:r>
            <a:r>
              <a:rPr lang="vi-VN" sz="2000" b="1" dirty="0">
                <a:latin typeface="Times New Roman" panose="02020603050405020304" pitchFamily="18" charset="0"/>
                <a:cs typeface="Times New Roman" panose="02020603050405020304" pitchFamily="18" charset="0"/>
              </a:rPr>
              <a:t>Sức mạnh thực sự của Trí tuệ Nhân tạo không nằm ở bản thân thuật toán, mà nằm ở bàn tay con người dẫn dắt và điều khiển nó.</a:t>
            </a:r>
            <a:r>
              <a:rPr lang="vi-VN" sz="2000" dirty="0">
                <a:latin typeface="Times New Roman" panose="02020603050405020304" pitchFamily="18" charset="0"/>
                <a:cs typeface="Times New Roman" panose="02020603050405020304" pitchFamily="18" charset="0"/>
              </a:rPr>
              <a:t> AI là bộ óc, và chúng ta là trái tim – cùng nhau, chúng ta sẽ viết nên những chương sử mới.</a:t>
            </a:r>
            <a:r>
              <a:rPr lang="en-US" sz="2000" dirty="0">
                <a:latin typeface="Times New Roman" panose="02020603050405020304" pitchFamily="18" charset="0"/>
                <a:cs typeface="Times New Roman" panose="02020603050405020304" pitchFamily="18" charset="0"/>
              </a:rPr>
              <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Google Shape;1402;p57">
            <a:extLst>
              <a:ext uri="{FF2B5EF4-FFF2-40B4-BE49-F238E27FC236}">
                <a16:creationId xmlns:a16="http://schemas.microsoft.com/office/drawing/2014/main" id="{7818E4D6-235B-27F9-2184-262875420CF2}"/>
              </a:ext>
            </a:extLst>
          </p:cNvPr>
          <p:cNvSpPr/>
          <p:nvPr/>
        </p:nvSpPr>
        <p:spPr>
          <a:xfrm>
            <a:off x="1727250" y="1034514"/>
            <a:ext cx="5689500" cy="24768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415;p57">
            <a:extLst>
              <a:ext uri="{FF2B5EF4-FFF2-40B4-BE49-F238E27FC236}">
                <a16:creationId xmlns:a16="http://schemas.microsoft.com/office/drawing/2014/main" id="{0949045D-EAC6-8A78-B499-9D061C73072B}"/>
              </a:ext>
            </a:extLst>
          </p:cNvPr>
          <p:cNvSpPr txBox="1">
            <a:spLocks/>
          </p:cNvSpPr>
          <p:nvPr/>
        </p:nvSpPr>
        <p:spPr>
          <a:xfrm>
            <a:off x="1806845" y="1354273"/>
            <a:ext cx="5609905" cy="1155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Audiowide"/>
              <a:buNone/>
              <a:defRPr sz="2200" b="0" i="0" u="none" strike="noStrike" cap="none">
                <a:solidFill>
                  <a:schemeClr val="accent1"/>
                </a:solidFill>
                <a:latin typeface="Audiowide"/>
                <a:ea typeface="Audiowide"/>
                <a:cs typeface="Audiowide"/>
                <a:sym typeface="Audiowide"/>
              </a:defRPr>
            </a:lvl1pPr>
            <a:lvl2pPr marR="0" lvl="1"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2pPr>
            <a:lvl3pPr marR="0" lvl="2"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3pPr>
            <a:lvl4pPr marR="0" lvl="3"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4pPr>
            <a:lvl5pPr marR="0" lvl="4"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5pPr>
            <a:lvl6pPr marR="0" lvl="5"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6pPr>
            <a:lvl7pPr marR="0" lvl="6"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7pPr>
            <a:lvl8pPr marR="0" lvl="7"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8pPr>
            <a:lvl9pPr marR="0" lvl="8"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9pPr>
          </a:lstStyle>
          <a:p>
            <a:r>
              <a:rPr lang="vi-VN" sz="3600" dirty="0"/>
              <a:t>Thanks for your attention!</a:t>
            </a:r>
          </a:p>
        </p:txBody>
      </p:sp>
      <p:sp>
        <p:nvSpPr>
          <p:cNvPr id="17" name="Google Shape;1416;p57">
            <a:extLst>
              <a:ext uri="{FF2B5EF4-FFF2-40B4-BE49-F238E27FC236}">
                <a16:creationId xmlns:a16="http://schemas.microsoft.com/office/drawing/2014/main" id="{73ABF2A0-52B5-C1D3-A9A8-1FF151764AA4}"/>
              </a:ext>
            </a:extLst>
          </p:cNvPr>
          <p:cNvSpPr txBox="1">
            <a:spLocks noGrp="1"/>
          </p:cNvSpPr>
          <p:nvPr>
            <p:ph type="subTitle" idx="1"/>
          </p:nvPr>
        </p:nvSpPr>
        <p:spPr>
          <a:xfrm>
            <a:off x="2239531" y="2091450"/>
            <a:ext cx="4661700" cy="141986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800" b="1" dirty="0">
                <a:solidFill>
                  <a:schemeClr val="lt1"/>
                </a:solidFill>
              </a:rPr>
              <a:t>Có câu hỏi nào được đặt ra không nhỉ?</a:t>
            </a:r>
            <a:endParaRPr sz="1800" b="1" dirty="0">
              <a:solidFill>
                <a:schemeClr val="lt1"/>
              </a:solidFill>
            </a:endParaRPr>
          </a:p>
        </p:txBody>
      </p:sp>
    </p:spTree>
    <p:extLst>
      <p:ext uri="{BB962C8B-B14F-4D97-AF65-F5344CB8AC3E}">
        <p14:creationId xmlns:p14="http://schemas.microsoft.com/office/powerpoint/2010/main" val="13497551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Cyber-Futuristic AI Technology Thesis Defense by Slidesgo">
  <a:themeElements>
    <a:clrScheme name="Simple Light">
      <a:dk1>
        <a:srgbClr val="031126"/>
      </a:dk1>
      <a:lt1>
        <a:srgbClr val="FFFFFF"/>
      </a:lt1>
      <a:dk2>
        <a:srgbClr val="10355F"/>
      </a:dk2>
      <a:lt2>
        <a:srgbClr val="3B8794"/>
      </a:lt2>
      <a:accent1>
        <a:srgbClr val="51AFDB"/>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TotalTime>
  <Words>6311</Words>
  <Application>Microsoft Office PowerPoint</Application>
  <PresentationFormat>On-screen Show (16:9)</PresentationFormat>
  <Paragraphs>377</Paragraphs>
  <Slides>37</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Times New Roman</vt:lpstr>
      <vt:lpstr>Arial</vt:lpstr>
      <vt:lpstr>Karla</vt:lpstr>
      <vt:lpstr>Audiowide</vt:lpstr>
      <vt:lpstr>Cyber-Futuristic AI Technology Thesis Defense by Slidesgo</vt:lpstr>
      <vt:lpstr>SO SÁNH  4 CHATBOT AI  PHỔ BIẾN</vt:lpstr>
      <vt:lpstr>GIỚI THIỆU THÀNH VIÊN</vt:lpstr>
      <vt:lpstr>NỘI DUNG</vt:lpstr>
      <vt:lpstr>NỘI DUNG</vt:lpstr>
      <vt:lpstr>GIỚI THIỆU</vt:lpstr>
      <vt:lpstr>CHƯƠNG 1</vt:lpstr>
      <vt:lpstr>Lịch sử phát triển</vt:lpstr>
      <vt:lpstr>CHƯƠNG 2 : Lịch sử phát triển</vt:lpstr>
      <vt:lpstr>CHƯƠNG 2 : Lịch sử phát triển</vt:lpstr>
      <vt:lpstr>CÁC KHÍA CẠNH CHÍNH</vt:lpstr>
      <vt:lpstr>CHƯƠNG 3 : CÁC KHÍA CẠNH CHÍNH</vt:lpstr>
      <vt:lpstr>CHƯƠNG 3 : CÁC KHÍA CẠNH CHÍNH</vt:lpstr>
      <vt:lpstr>CHƯƠNG 3: CÁC KHÍA CẠNH CHÍNH</vt:lpstr>
      <vt:lpstr>CHƯƠNG 3: CÁC KHÍA CẠNH CHÍNH</vt:lpstr>
      <vt:lpstr>CHƯƠNG 3: CÁC KHÍA CẠNH CHÍNH</vt:lpstr>
      <vt:lpstr>CHƯƠNG 3: CÁC KHÍA CẠNH CHÍNH</vt:lpstr>
      <vt:lpstr>ƯU ĐIỂM VÀ NHƯỢC ĐIỂM</vt:lpstr>
      <vt:lpstr>CHƯƠNG 4 : ƯU VÀ NHƯỢC ĐIỂM</vt:lpstr>
      <vt:lpstr>CHƯƠNG 4 : ƯU VÀ NHƯỢC ĐIỂM</vt:lpstr>
      <vt:lpstr>Ứng dụng thực tế</vt:lpstr>
      <vt:lpstr>CHƯƠNG 5: ỨNG DỤNG THỰC TẾ</vt:lpstr>
      <vt:lpstr>MỘT SỐ HÌNH ẢNH MINH HOẠ</vt:lpstr>
      <vt:lpstr>CHƯƠNG 5: ỨNG DỤNG THỰC TẾ</vt:lpstr>
      <vt:lpstr>MỘT SỐ HÌNH ẢNH MINH HOẠ</vt:lpstr>
      <vt:lpstr>CHƯƠNG 5: ỨNG DỤNG THỰC TẾ</vt:lpstr>
      <vt:lpstr>PowerPoint Presentation</vt:lpstr>
      <vt:lpstr>ĐÁNH GIÁ NGUỒN CRAAP</vt:lpstr>
      <vt:lpstr>CHƯƠNG 6: ĐÁNH GIÁ NGUỒN CRAAP</vt:lpstr>
      <vt:lpstr>CHƯƠNG 6: ĐÁNH GIÁ NGUỒN CRAAP</vt:lpstr>
      <vt:lpstr>YẾU TỐ ĐẠO ĐỨC VÀ BẢO MẬT</vt:lpstr>
      <vt:lpstr>CHƯƠNG 7: YẾU TỐ ĐẠO ĐỨC VÀ BẢO MẬT</vt:lpstr>
      <vt:lpstr>CHƯƠNG 7: YẾU TỐ ĐẠO ĐỨC VÀ BẢO MẬT</vt:lpstr>
      <vt:lpstr>CHƯƠNG 7: YẾU TỐ ĐẠO ĐỨC VÀ BẢO MẬT</vt:lpstr>
      <vt:lpstr>CHƯƠNG 7: YẾU TỐ ĐẠO ĐỨC VÀ BẢO MẬT</vt:lpstr>
      <vt:lpstr>KẾT LUẬN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Tran Ky Anh</cp:lastModifiedBy>
  <cp:revision>85</cp:revision>
  <dcterms:modified xsi:type="dcterms:W3CDTF">2025-12-01T05:53:00Z</dcterms:modified>
</cp:coreProperties>
</file>